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23.png"/><Relationship Id="rId4"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7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notesSlide" Target="../notesSlides/notesSlide7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notesSlide" Target="../notesSlides/notesSlide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7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7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notesSlide" Target="../notesSlides/notesSlide7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8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8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2331720"/>
            <a:ext cx="12191695"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10545775" cy="1280160"/>
          </a:xfrm>
          <a:prstGeom prst="rect">
            <a:avLst/>
          </a:prstGeom>
          <a:noFill/>
        </p:spPr>
        <p:txBody>
          <a:bodyPr wrap="square">
            <a:spAutoFit/>
          </a:bodyPr>
          <a:lstStyle/>
          <a:p>
            <a:pPr algn="ctr"/>
            <a:r>
              <a:rPr sz="4400" b="1" i="0">
                <a:solidFill>
                  <a:srgbClr val="FFFFFF"/>
                </a:solidFill>
                <a:latin typeface="Calibri"/>
              </a:rPr>
              <a:t>Beyond Interoperability</a:t>
            </a:r>
          </a:p>
        </p:txBody>
      </p:sp>
      <p:sp>
        <p:nvSpPr>
          <p:cNvPr id="4" name="TextBox 3"/>
          <p:cNvSpPr txBox="1"/>
          <p:nvPr/>
        </p:nvSpPr>
        <p:spPr>
          <a:xfrm>
            <a:off x="1097280" y="2606040"/>
            <a:ext cx="9997135" cy="1280160"/>
          </a:xfrm>
          <a:prstGeom prst="rect">
            <a:avLst/>
          </a:prstGeom>
          <a:noFill/>
        </p:spPr>
        <p:txBody>
          <a:bodyPr wrap="square">
            <a:spAutoFit/>
          </a:bodyPr>
          <a:lstStyle/>
          <a:p>
            <a:pPr algn="ctr"/>
            <a:r>
              <a:rPr sz="1800" b="0" i="0">
                <a:solidFill>
                  <a:srgbClr val="D8E4F3"/>
                </a:solidFill>
                <a:latin typeface="Calibri"/>
              </a:rPr>
              <a:t>Hands-On Federated ML for Research Data Curation Infrastructure</a:t>
            </a:r>
          </a:p>
          <a:p>
            <a:pPr algn="ctr"/>
            <a:r>
              <a:rPr sz="1800" b="0" i="0">
                <a:solidFill>
                  <a:srgbClr val="D8E4F3"/>
                </a:solidFill>
                <a:latin typeface="Calibri"/>
              </a:rPr>
              <a:t>Technical Companion: Conformal Prediction for Site-Level Heterogeneity in Federated Clinical Data</a:t>
            </a:r>
          </a:p>
        </p:txBody>
      </p:sp>
      <p:sp>
        <p:nvSpPr>
          <p:cNvPr id="5" name="TextBox 4"/>
          <p:cNvSpPr txBox="1"/>
          <p:nvPr/>
        </p:nvSpPr>
        <p:spPr>
          <a:xfrm>
            <a:off x="1097280" y="3794760"/>
            <a:ext cx="9997135" cy="457200"/>
          </a:xfrm>
          <a:prstGeom prst="rect">
            <a:avLst/>
          </a:prstGeom>
          <a:noFill/>
        </p:spPr>
        <p:txBody>
          <a:bodyPr wrap="square">
            <a:spAutoFit/>
          </a:bodyPr>
          <a:lstStyle/>
          <a:p>
            <a:pPr algn="ctr"/>
            <a:r>
              <a:rPr sz="1300" b="0" i="1">
                <a:solidFill>
                  <a:srgbClr val="9FB7D6"/>
                </a:solidFill>
                <a:latin typeface="Calibri"/>
              </a:rPr>
              <a:t>UCI Heart Disease federation  ·  4 hospitals  ·  920 patients</a:t>
            </a:r>
          </a:p>
        </p:txBody>
      </p:sp>
      <p:sp>
        <p:nvSpPr>
          <p:cNvPr id="6" name="TextBox 5"/>
          <p:cNvSpPr txBox="1"/>
          <p:nvPr/>
        </p:nvSpPr>
        <p:spPr>
          <a:xfrm>
            <a:off x="1097280" y="4846320"/>
            <a:ext cx="9997135" cy="914400"/>
          </a:xfrm>
          <a:prstGeom prst="rect">
            <a:avLst/>
          </a:prstGeom>
          <a:noFill/>
        </p:spPr>
        <p:txBody>
          <a:bodyPr wrap="square">
            <a:spAutoFit/>
          </a:bodyPr>
          <a:lstStyle/>
          <a:p>
            <a:pPr algn="ctr"/>
            <a:r>
              <a:rPr sz="1500" b="1" i="0">
                <a:solidFill>
                  <a:srgbClr val="FFFFFF"/>
                </a:solidFill>
                <a:latin typeface="Calibri"/>
              </a:rPr>
              <a:t>Arnab Mukherjee</a:t>
            </a:r>
          </a:p>
          <a:p>
            <a:pPr algn="ctr"/>
            <a:r>
              <a:rPr sz="1250" b="0" i="0">
                <a:solidFill>
                  <a:srgbClr val="FFFFFF"/>
                </a:solidFill>
                <a:latin typeface="Calibri"/>
              </a:rPr>
              <a:t>Oklahoma State University — Center for Health Science, Tulsa</a:t>
            </a:r>
          </a:p>
        </p:txBody>
      </p:sp>
      <p:sp>
        <p:nvSpPr>
          <p:cNvPr id="7" name="TextBox 6"/>
          <p:cNvSpPr txBox="1"/>
          <p:nvPr/>
        </p:nvSpPr>
        <p:spPr>
          <a:xfrm>
            <a:off x="1097280" y="5943600"/>
            <a:ext cx="9997135" cy="457200"/>
          </a:xfrm>
          <a:prstGeom prst="rect">
            <a:avLst/>
          </a:prstGeom>
          <a:noFill/>
        </p:spPr>
        <p:txBody>
          <a:bodyPr wrap="square">
            <a:spAutoFit/>
          </a:bodyPr>
          <a:lstStyle/>
          <a:p>
            <a:pPr algn="ctr"/>
            <a:r>
              <a:rPr sz="1200" b="0" i="1">
                <a:solidFill>
                  <a:srgbClr val="C03A2B"/>
                </a:solidFill>
                <a:latin typeface="Calibri"/>
              </a:rPr>
              <a:t>[Workshop / venue name and date — add here]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ABSTRACT</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The one idea to remember from today</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Getting data to move between hospitals is a solved problem. Getting that data to mean the same thing once it arrives is not — and that gap is what this whole workshop is about.</a:t>
            </a:r>
          </a:p>
          <a:p>
            <a:pPr>
              <a:spcAft>
                <a:spcPts val="1200"/>
              </a:spcAft>
            </a:pPr>
            <a:r>
              <a:rPr sz="1800" b="1" i="0">
                <a:solidFill>
                  <a:srgbClr val="2A78D6"/>
                </a:solidFill>
                <a:latin typeface="Calibri"/>
              </a:rPr>
              <a:t>▪  </a:t>
            </a:r>
            <a:r>
              <a:rPr sz="1800" b="0" i="0">
                <a:solidFill>
                  <a:srgbClr val="1A1A1A"/>
                </a:solidFill>
                <a:latin typeface="Calibri"/>
              </a:rPr>
              <a:t>The worst kind of failure is a model that looks perfectly healthy on average while quietly getting one hospital's patients wrong — with nothing in its own output warning you it happened.</a:t>
            </a:r>
          </a:p>
          <a:p>
            <a:pPr>
              <a:spcAft>
                <a:spcPts val="1200"/>
              </a:spcAft>
            </a:pPr>
            <a:r>
              <a:rPr sz="1800" b="1" i="0">
                <a:solidFill>
                  <a:srgbClr val="2A78D6"/>
                </a:solidFill>
                <a:latin typeface="Calibri"/>
              </a:rPr>
              <a:t>▪  </a:t>
            </a:r>
            <a:r>
              <a:rPr sz="1800" b="0" i="0">
                <a:solidFill>
                  <a:srgbClr val="1A1A1A"/>
                </a:solidFill>
                <a:latin typeface="Calibri"/>
              </a:rPr>
              <a:t>This workshop uses a tool called conformal prediction to catch that kind of silent failure, and to measure exactly how much two hospitals' data actually differ, before anyone trusts a shared model on both.</a:t>
            </a:r>
          </a:p>
          <a:p>
            <a:pPr>
              <a:spcAft>
                <a:spcPts val="1200"/>
              </a:spcAft>
            </a:pPr>
            <a:r>
              <a:rPr sz="1800" b="1" i="0">
                <a:solidFill>
                  <a:srgbClr val="2A78D6"/>
                </a:solidFill>
                <a:latin typeface="Calibri"/>
              </a:rPr>
              <a:t>▪  </a:t>
            </a:r>
            <a:r>
              <a:rPr sz="1800" b="0" i="0">
                <a:solidFill>
                  <a:srgbClr val="1A1A1A"/>
                </a:solidFill>
                <a:latin typeface="Calibri"/>
              </a:rPr>
              <a:t>The goal: tell apart genuine differences between patient populations from differences that are really just measurement habits — and give a curation team a concrete number they can act on, not a vague worry.</a:t>
            </a:r>
          </a:p>
          <a:p>
            <a:pPr>
              <a:spcAft>
                <a:spcPts val="1200"/>
              </a:spcAft>
            </a:pPr>
            <a:r>
              <a:rPr sz="1800" b="1" i="0">
                <a:solidFill>
                  <a:srgbClr val="2A78D6"/>
                </a:solidFill>
                <a:latin typeface="Calibri"/>
              </a:rPr>
              <a:t>▪  </a:t>
            </a:r>
            <a:r>
              <a:rPr sz="1800" b="0" i="0">
                <a:solidFill>
                  <a:srgbClr val="1A1A1A"/>
                </a:solidFill>
                <a:latin typeface="Calibri"/>
              </a:rPr>
              <a:t>It's hands-on throughout: real Python exercises, code you can reuse, and diagnostics you can point at your own data after today.</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Abstract</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AGENDA</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What this deck covers</a:t>
            </a:r>
          </a:p>
        </p:txBody>
      </p:sp>
      <p:sp>
        <p:nvSpPr>
          <p:cNvPr id="5" name="TextBox 4"/>
          <p:cNvSpPr txBox="1"/>
          <p:nvPr/>
        </p:nvSpPr>
        <p:spPr>
          <a:xfrm>
            <a:off x="640080" y="1508760"/>
            <a:ext cx="5181447" cy="4526280"/>
          </a:xfrm>
          <a:prstGeom prst="rect">
            <a:avLst/>
          </a:prstGeom>
          <a:noFill/>
        </p:spPr>
        <p:txBody>
          <a:bodyPr wrap="square">
            <a:spAutoFit/>
          </a:bodyPr>
          <a:lstStyle/>
          <a:p>
            <a:r>
              <a:rPr sz="1700" b="1" i="0">
                <a:solidFill>
                  <a:srgbClr val="1C5CAB"/>
                </a:solidFill>
                <a:latin typeface="Calibri"/>
              </a:rPr>
              <a:t/>
            </a:r>
          </a:p>
          <a:p>
            <a:pPr>
              <a:spcBef>
                <a:spcPts val="800"/>
              </a:spcBef>
            </a:pPr>
            <a:r>
              <a:rPr sz="1800" b="1" i="0">
                <a:solidFill>
                  <a:srgbClr val="2A78D6"/>
                </a:solidFill>
                <a:latin typeface="Calibri"/>
              </a:rPr>
              <a:t>▪  </a:t>
            </a:r>
            <a:r>
              <a:rPr sz="1800" b="0" i="0">
                <a:solidFill>
                  <a:srgbClr val="1A1A1A"/>
                </a:solidFill>
                <a:latin typeface="Calibri"/>
              </a:rPr>
              <a:t>1. Introduction</a:t>
            </a:r>
          </a:p>
          <a:p>
            <a:pPr>
              <a:spcBef>
                <a:spcPts val="800"/>
              </a:spcBef>
            </a:pPr>
            <a:r>
              <a:rPr sz="1800" b="1" i="0">
                <a:solidFill>
                  <a:srgbClr val="2A78D6"/>
                </a:solidFill>
                <a:latin typeface="Calibri"/>
              </a:rPr>
              <a:t>▪  </a:t>
            </a:r>
            <a:r>
              <a:rPr sz="1800" b="0" i="0">
                <a:solidFill>
                  <a:srgbClr val="1A1A1A"/>
                </a:solidFill>
                <a:latin typeface="Calibri"/>
              </a:rPr>
              <a:t>2. Challenges</a:t>
            </a:r>
          </a:p>
          <a:p>
            <a:pPr>
              <a:spcBef>
                <a:spcPts val="800"/>
              </a:spcBef>
            </a:pPr>
            <a:r>
              <a:rPr sz="1800" b="1" i="0">
                <a:solidFill>
                  <a:srgbClr val="2A78D6"/>
                </a:solidFill>
                <a:latin typeface="Calibri"/>
              </a:rPr>
              <a:t>▪  </a:t>
            </a:r>
            <a:r>
              <a:rPr sz="1800" b="0" i="0">
                <a:solidFill>
                  <a:srgbClr val="1A1A1A"/>
                </a:solidFill>
                <a:latin typeface="Calibri"/>
              </a:rPr>
              <a:t>3. Motivation</a:t>
            </a:r>
          </a:p>
          <a:p>
            <a:pPr>
              <a:spcBef>
                <a:spcPts val="800"/>
              </a:spcBef>
            </a:pPr>
            <a:r>
              <a:rPr sz="1800" b="1" i="0">
                <a:solidFill>
                  <a:srgbClr val="2A78D6"/>
                </a:solidFill>
                <a:latin typeface="Calibri"/>
              </a:rPr>
              <a:t>▪  </a:t>
            </a:r>
            <a:r>
              <a:rPr sz="1800" b="0" i="0">
                <a:solidFill>
                  <a:srgbClr val="1A1A1A"/>
                </a:solidFill>
                <a:latin typeface="Calibri"/>
              </a:rPr>
              <a:t>4. The Difficulty of Working With Real Clinical Data</a:t>
            </a:r>
          </a:p>
          <a:p>
            <a:pPr>
              <a:spcBef>
                <a:spcPts val="800"/>
              </a:spcBef>
            </a:pPr>
            <a:r>
              <a:rPr sz="1800" b="1" i="0">
                <a:solidFill>
                  <a:srgbClr val="2A78D6"/>
                </a:solidFill>
                <a:latin typeface="Calibri"/>
              </a:rPr>
              <a:t>▪  </a:t>
            </a:r>
            <a:r>
              <a:rPr sz="1800" b="0" i="0">
                <a:solidFill>
                  <a:srgbClr val="1A1A1A"/>
                </a:solidFill>
                <a:latin typeface="Calibri"/>
              </a:rPr>
              <a:t>5. Our Dataset: The UCI Heart Disease Federation</a:t>
            </a:r>
          </a:p>
        </p:txBody>
      </p:sp>
      <p:sp>
        <p:nvSpPr>
          <p:cNvPr id="6" name="TextBox 5"/>
          <p:cNvSpPr txBox="1"/>
          <p:nvPr/>
        </p:nvSpPr>
        <p:spPr>
          <a:xfrm>
            <a:off x="6370167" y="1508760"/>
            <a:ext cx="5181447" cy="4526280"/>
          </a:xfrm>
          <a:prstGeom prst="rect">
            <a:avLst/>
          </a:prstGeom>
          <a:noFill/>
        </p:spPr>
        <p:txBody>
          <a:bodyPr wrap="square">
            <a:spAutoFit/>
          </a:bodyPr>
          <a:lstStyle/>
          <a:p>
            <a:r>
              <a:rPr sz="1700" b="1" i="0">
                <a:solidFill>
                  <a:srgbClr val="1C5CAB"/>
                </a:solidFill>
                <a:latin typeface="Calibri"/>
              </a:rPr>
              <a:t/>
            </a:r>
          </a:p>
          <a:p>
            <a:pPr>
              <a:spcBef>
                <a:spcPts val="800"/>
              </a:spcBef>
            </a:pPr>
            <a:r>
              <a:rPr sz="1800" b="1" i="0">
                <a:solidFill>
                  <a:srgbClr val="2A78D6"/>
                </a:solidFill>
                <a:latin typeface="Calibri"/>
              </a:rPr>
              <a:t>▪  </a:t>
            </a:r>
            <a:r>
              <a:rPr sz="1800" b="0" i="0">
                <a:solidFill>
                  <a:srgbClr val="1A1A1A"/>
                </a:solidFill>
                <a:latin typeface="Calibri"/>
              </a:rPr>
              <a:t>6. Methods of Interoperability</a:t>
            </a:r>
          </a:p>
          <a:p>
            <a:pPr>
              <a:spcBef>
                <a:spcPts val="800"/>
              </a:spcBef>
            </a:pPr>
            <a:r>
              <a:rPr sz="1800" b="1" i="0">
                <a:solidFill>
                  <a:srgbClr val="2A78D6"/>
                </a:solidFill>
                <a:latin typeface="Calibri"/>
              </a:rPr>
              <a:t>▪  </a:t>
            </a:r>
            <a:r>
              <a:rPr sz="1800" b="0" i="0">
                <a:solidFill>
                  <a:srgbClr val="1A1A1A"/>
                </a:solidFill>
                <a:latin typeface="Calibri"/>
              </a:rPr>
              <a:t>7. Why Conformal Prediction Helps</a:t>
            </a:r>
          </a:p>
          <a:p>
            <a:pPr>
              <a:spcBef>
                <a:spcPts val="800"/>
              </a:spcBef>
            </a:pPr>
            <a:r>
              <a:rPr sz="1800" b="1" i="0">
                <a:solidFill>
                  <a:srgbClr val="2A78D6"/>
                </a:solidFill>
                <a:latin typeface="Calibri"/>
              </a:rPr>
              <a:t>▪  </a:t>
            </a:r>
            <a:r>
              <a:rPr sz="1800" b="0" i="0">
                <a:solidFill>
                  <a:srgbClr val="1A1A1A"/>
                </a:solidFill>
                <a:latin typeface="Calibri"/>
              </a:rPr>
              <a:t>8. The Mathematics</a:t>
            </a:r>
          </a:p>
          <a:p>
            <a:pPr>
              <a:spcBef>
                <a:spcPts val="800"/>
              </a:spcBef>
            </a:pPr>
            <a:r>
              <a:rPr sz="1800" b="1" i="0">
                <a:solidFill>
                  <a:srgbClr val="2A78D6"/>
                </a:solidFill>
                <a:latin typeface="Calibri"/>
              </a:rPr>
              <a:t>▪  </a:t>
            </a:r>
            <a:r>
              <a:rPr sz="1800" b="0" i="0">
                <a:solidFill>
                  <a:srgbClr val="1A1A1A"/>
                </a:solidFill>
                <a:latin typeface="Calibri"/>
              </a:rPr>
              <a:t>9. Pipeline Walkthrough</a:t>
            </a:r>
          </a:p>
          <a:p>
            <a:pPr>
              <a:spcBef>
                <a:spcPts val="800"/>
              </a:spcBef>
            </a:pPr>
            <a:r>
              <a:rPr sz="1800" b="1" i="0">
                <a:solidFill>
                  <a:srgbClr val="2A78D6"/>
                </a:solidFill>
                <a:latin typeface="Calibri"/>
              </a:rPr>
              <a:t>▪  </a:t>
            </a:r>
            <a:r>
              <a:rPr sz="1800" b="0" i="0">
                <a:solidFill>
                  <a:srgbClr val="1A1A1A"/>
                </a:solidFill>
                <a:latin typeface="Calibri"/>
              </a:rPr>
              <a:t>References &amp; Appendix</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Agenda</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AGENDA</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Workshop notebook sequence</a:t>
            </a:r>
          </a:p>
        </p:txBody>
      </p:sp>
      <p:graphicFrame>
        <p:nvGraphicFramePr>
          <p:cNvPr id="5" name="Table 4"/>
          <p:cNvGraphicFramePr>
            <a:graphicFrameLocks noGrp="1"/>
          </p:cNvGraphicFramePr>
          <p:nvPr/>
        </p:nvGraphicFramePr>
        <p:xfrm>
          <a:off x="640080" y="1508760"/>
          <a:ext cx="10911533" cy="3831337"/>
        </p:xfrm>
        <a:graphic>
          <a:graphicData uri="http://schemas.openxmlformats.org/drawingml/2006/table">
            <a:tbl>
              <a:tblPr firstRow="1" bandRow="1">
                <a:tableStyleId>{5C22544A-7EE6-4342-B048-85BDC9FD1C3A}</a:tableStyleId>
              </a:tblPr>
              <a:tblGrid>
                <a:gridCol w="495978"/>
                <a:gridCol w="2579090"/>
                <a:gridCol w="4959788"/>
                <a:gridCol w="2876677"/>
              </a:tblGrid>
              <a:tr h="425704">
                <a:tc>
                  <a:txBody>
                    <a:bodyPr wrap="square"/>
                    <a:lstStyle/>
                    <a:p>
                      <a:r>
                        <a:rPr sz="1300" b="1" i="0">
                          <a:solidFill>
                            <a:srgbClr val="FFFFFF"/>
                          </a:solidFill>
                          <a:latin typeface="Calibri"/>
                        </a:rPr>
                        <a:t>#</a:t>
                      </a:r>
                    </a:p>
                  </a:txBody>
                  <a:tcPr anchor="ctr">
                    <a:solidFill>
                      <a:srgbClr val="2A78D6"/>
                    </a:solidFill>
                  </a:tcPr>
                </a:tc>
                <a:tc>
                  <a:txBody>
                    <a:bodyPr wrap="square"/>
                    <a:lstStyle/>
                    <a:p>
                      <a:r>
                        <a:rPr sz="1300" b="1" i="0">
                          <a:solidFill>
                            <a:srgbClr val="FFFFFF"/>
                          </a:solidFill>
                          <a:latin typeface="Calibri"/>
                        </a:rPr>
                        <a:t>Notebook</a:t>
                      </a:r>
                    </a:p>
                  </a:txBody>
                  <a:tcPr anchor="ctr">
                    <a:solidFill>
                      <a:srgbClr val="2A78D6"/>
                    </a:solidFill>
                  </a:tcPr>
                </a:tc>
                <a:tc>
                  <a:txBody>
                    <a:bodyPr wrap="square"/>
                    <a:lstStyle/>
                    <a:p>
                      <a:r>
                        <a:rPr sz="1300" b="1" i="0">
                          <a:solidFill>
                            <a:srgbClr val="FFFFFF"/>
                          </a:solidFill>
                          <a:latin typeface="Calibri"/>
                        </a:rPr>
                        <a:t>What it does</a:t>
                      </a:r>
                    </a:p>
                  </a:txBody>
                  <a:tcPr anchor="ctr">
                    <a:solidFill>
                      <a:srgbClr val="2A78D6"/>
                    </a:solidFill>
                  </a:tcPr>
                </a:tc>
                <a:tc>
                  <a:txBody>
                    <a:bodyPr wrap="square"/>
                    <a:lstStyle/>
                    <a:p>
                      <a:r>
                        <a:rPr sz="1300" b="1" i="0">
                          <a:solidFill>
                            <a:srgbClr val="FFFFFF"/>
                          </a:solidFill>
                          <a:latin typeface="Calibri"/>
                        </a:rPr>
                        <a:t>Runs during</a:t>
                      </a:r>
                    </a:p>
                  </a:txBody>
                  <a:tcPr anchor="ctr">
                    <a:solidFill>
                      <a:srgbClr val="2A78D6"/>
                    </a:solidFill>
                  </a:tcPr>
                </a:tc>
              </a:tr>
              <a:tr h="425704">
                <a:tc>
                  <a:txBody>
                    <a:bodyPr wrap="square"/>
                    <a:lstStyle/>
                    <a:p>
                      <a:r>
                        <a:rPr sz="1250" b="0" i="0">
                          <a:solidFill>
                            <a:srgbClr val="1A1A1A"/>
                          </a:solidFill>
                          <a:latin typeface="Calibri"/>
                        </a:rPr>
                        <a:t>00</a:t>
                      </a:r>
                    </a:p>
                  </a:txBody>
                  <a:tcPr anchor="ctr">
                    <a:solidFill>
                      <a:srgbClr val="FFFFFF"/>
                    </a:solidFill>
                  </a:tcPr>
                </a:tc>
                <a:tc>
                  <a:txBody>
                    <a:bodyPr wrap="square"/>
                    <a:lstStyle/>
                    <a:p>
                      <a:r>
                        <a:rPr sz="1250" b="0" i="0">
                          <a:solidFill>
                            <a:srgbClr val="1A1A1A"/>
                          </a:solidFill>
                          <a:latin typeface="Calibri"/>
                        </a:rPr>
                        <a:t>input_data_exploration.ipynb</a:t>
                      </a:r>
                    </a:p>
                  </a:txBody>
                  <a:tcPr anchor="ctr">
                    <a:solidFill>
                      <a:srgbClr val="FFFFFF"/>
                    </a:solidFill>
                  </a:tcPr>
                </a:tc>
                <a:tc>
                  <a:txBody>
                    <a:bodyPr wrap="square"/>
                    <a:lstStyle/>
                    <a:p>
                      <a:r>
                        <a:rPr sz="1250" b="0" i="0">
                          <a:solidFill>
                            <a:srgbClr val="1A1A1A"/>
                          </a:solidFill>
                          <a:latin typeface="Calibri"/>
                        </a:rPr>
                        <a:t>Load the 4 raw hospital files, inspect columns, first-look plots</a:t>
                      </a:r>
                    </a:p>
                  </a:txBody>
                  <a:tcPr anchor="ctr">
                    <a:solidFill>
                      <a:srgbClr val="FFFFFF"/>
                    </a:solidFill>
                  </a:tcPr>
                </a:tc>
                <a:tc>
                  <a:txBody>
                    <a:bodyPr wrap="square"/>
                    <a:lstStyle/>
                    <a:p>
                      <a:r>
                        <a:rPr sz="1250" b="0" i="0">
                          <a:solidFill>
                            <a:srgbClr val="1A1A1A"/>
                          </a:solidFill>
                          <a:latin typeface="Calibri"/>
                        </a:rPr>
                        <a:t>Section 5 — Our Dataset</a:t>
                      </a:r>
                    </a:p>
                  </a:txBody>
                  <a:tcPr anchor="ctr">
                    <a:solidFill>
                      <a:srgbClr val="FFFFFF"/>
                    </a:solidFill>
                  </a:tcPr>
                </a:tc>
              </a:tr>
              <a:tr h="425704">
                <a:tc>
                  <a:txBody>
                    <a:bodyPr wrap="square"/>
                    <a:lstStyle/>
                    <a:p>
                      <a:r>
                        <a:rPr sz="1250" b="0" i="0">
                          <a:solidFill>
                            <a:srgbClr val="1A1A1A"/>
                          </a:solidFill>
                          <a:latin typeface="Calibri"/>
                        </a:rPr>
                        <a:t>01</a:t>
                      </a:r>
                    </a:p>
                  </a:txBody>
                  <a:tcPr anchor="ctr">
                    <a:solidFill>
                      <a:srgbClr val="F0F4FA"/>
                    </a:solidFill>
                  </a:tcPr>
                </a:tc>
                <a:tc>
                  <a:txBody>
                    <a:bodyPr wrap="square"/>
                    <a:lstStyle/>
                    <a:p>
                      <a:r>
                        <a:rPr sz="1250" b="0" i="0">
                          <a:solidFill>
                            <a:srgbClr val="1A1A1A"/>
                          </a:solidFill>
                          <a:latin typeface="Calibri"/>
                        </a:rPr>
                        <a:t>site_heterogeneity.ipynb</a:t>
                      </a:r>
                    </a:p>
                  </a:txBody>
                  <a:tcPr anchor="ctr">
                    <a:solidFill>
                      <a:srgbClr val="F0F4FA"/>
                    </a:solidFill>
                  </a:tcPr>
                </a:tc>
                <a:tc>
                  <a:txBody>
                    <a:bodyPr wrap="square"/>
                    <a:lstStyle/>
                    <a:p>
                      <a:r>
                        <a:rPr sz="1250" b="0" i="0">
                          <a:solidFill>
                            <a:srgbClr val="1A1A1A"/>
                          </a:solidFill>
                          <a:latin typeface="Calibri"/>
                        </a:rPr>
                        <a:t>Missingness, label shift, covariate shift, domain-classifier alarm</a:t>
                      </a:r>
                    </a:p>
                  </a:txBody>
                  <a:tcPr anchor="ctr">
                    <a:solidFill>
                      <a:srgbClr val="F0F4FA"/>
                    </a:solidFill>
                  </a:tcPr>
                </a:tc>
                <a:tc>
                  <a:txBody>
                    <a:bodyPr wrap="square"/>
                    <a:lstStyle/>
                    <a:p>
                      <a:r>
                        <a:rPr sz="1250" b="0" i="0">
                          <a:solidFill>
                            <a:srgbClr val="1A1A1A"/>
                          </a:solidFill>
                          <a:latin typeface="Calibri"/>
                        </a:rPr>
                        <a:t>Section 5 — Our Dataset</a:t>
                      </a:r>
                    </a:p>
                  </a:txBody>
                  <a:tcPr anchor="ctr">
                    <a:solidFill>
                      <a:srgbClr val="F0F4FA"/>
                    </a:solidFill>
                  </a:tcPr>
                </a:tc>
              </a:tr>
              <a:tr h="425704">
                <a:tc>
                  <a:txBody>
                    <a:bodyPr wrap="square"/>
                    <a:lstStyle/>
                    <a:p>
                      <a:r>
                        <a:rPr sz="1250" b="0" i="0">
                          <a:solidFill>
                            <a:srgbClr val="1A1A1A"/>
                          </a:solidFill>
                          <a:latin typeface="Calibri"/>
                        </a:rPr>
                        <a:t>02</a:t>
                      </a:r>
                    </a:p>
                  </a:txBody>
                  <a:tcPr anchor="ctr">
                    <a:solidFill>
                      <a:srgbClr val="FFFFFF"/>
                    </a:solidFill>
                  </a:tcPr>
                </a:tc>
                <a:tc>
                  <a:txBody>
                    <a:bodyPr wrap="square"/>
                    <a:lstStyle/>
                    <a:p>
                      <a:r>
                        <a:rPr sz="1250" b="0" i="0">
                          <a:solidFill>
                            <a:srgbClr val="1A1A1A"/>
                          </a:solidFill>
                          <a:latin typeface="Calibri"/>
                        </a:rPr>
                        <a:t>conformal_basics.ipynb</a:t>
                      </a:r>
                    </a:p>
                  </a:txBody>
                  <a:tcPr anchor="ctr">
                    <a:solidFill>
                      <a:srgbClr val="FFFFFF"/>
                    </a:solidFill>
                  </a:tcPr>
                </a:tc>
                <a:tc>
                  <a:txBody>
                    <a:bodyPr wrap="square"/>
                    <a:lstStyle/>
                    <a:p>
                      <a:r>
                        <a:rPr sz="1250" b="0" i="0">
                          <a:solidFill>
                            <a:srgbClr val="1A1A1A"/>
                          </a:solidFill>
                          <a:latin typeface="Calibri"/>
                        </a:rPr>
                        <a:t>Build a LAC conformal predictor from scratch in ~5 lines of NumPy</a:t>
                      </a:r>
                    </a:p>
                  </a:txBody>
                  <a:tcPr anchor="ctr">
                    <a:solidFill>
                      <a:srgbClr val="FFFFFF"/>
                    </a:solidFill>
                  </a:tcPr>
                </a:tc>
                <a:tc>
                  <a:txBody>
                    <a:bodyPr wrap="square"/>
                    <a:lstStyle/>
                    <a:p>
                      <a:r>
                        <a:rPr sz="1250" b="0" i="0">
                          <a:solidFill>
                            <a:srgbClr val="1A1A1A"/>
                          </a:solidFill>
                          <a:latin typeface="Calibri"/>
                        </a:rPr>
                        <a:t>Section 7 / 8 — Conformal Prediction &amp; the Math</a:t>
                      </a:r>
                    </a:p>
                  </a:txBody>
                  <a:tcPr anchor="ctr">
                    <a:solidFill>
                      <a:srgbClr val="FFFFFF"/>
                    </a:solidFill>
                  </a:tcPr>
                </a:tc>
              </a:tr>
              <a:tr h="425704">
                <a:tc>
                  <a:txBody>
                    <a:bodyPr wrap="square"/>
                    <a:lstStyle/>
                    <a:p>
                      <a:r>
                        <a:rPr sz="1250" b="0" i="0">
                          <a:solidFill>
                            <a:srgbClr val="1A1A1A"/>
                          </a:solidFill>
                          <a:latin typeface="Calibri"/>
                        </a:rPr>
                        <a:t>03</a:t>
                      </a:r>
                    </a:p>
                  </a:txBody>
                  <a:tcPr anchor="ctr">
                    <a:solidFill>
                      <a:srgbClr val="F0F4FA"/>
                    </a:solidFill>
                  </a:tcPr>
                </a:tc>
                <a:tc>
                  <a:txBody>
                    <a:bodyPr wrap="square"/>
                    <a:lstStyle/>
                    <a:p>
                      <a:r>
                        <a:rPr sz="1250" b="0" i="0">
                          <a:solidFill>
                            <a:srgbClr val="1A1A1A"/>
                          </a:solidFill>
                          <a:latin typeface="Calibri"/>
                        </a:rPr>
                        <a:t>federated_training.ipynb</a:t>
                      </a:r>
                    </a:p>
                  </a:txBody>
                  <a:tcPr anchor="ctr">
                    <a:solidFill>
                      <a:srgbClr val="F0F4FA"/>
                    </a:solidFill>
                  </a:tcPr>
                </a:tc>
                <a:tc>
                  <a:txBody>
                    <a:bodyPr wrap="square"/>
                    <a:lstStyle/>
                    <a:p>
                      <a:r>
                        <a:rPr sz="1250" b="0" i="0">
                          <a:solidFill>
                            <a:srgbClr val="1A1A1A"/>
                          </a:solidFill>
                          <a:latin typeface="Calibri"/>
                        </a:rPr>
                        <a:t>Implement FedAvg from scratch; train the shared model across 3 sites</a:t>
                      </a:r>
                    </a:p>
                  </a:txBody>
                  <a:tcPr anchor="ctr">
                    <a:solidFill>
                      <a:srgbClr val="F0F4FA"/>
                    </a:solidFill>
                  </a:tcPr>
                </a:tc>
                <a:tc>
                  <a:txBody>
                    <a:bodyPr wrap="square"/>
                    <a:lstStyle/>
                    <a:p>
                      <a:r>
                        <a:rPr sz="1250" b="0" i="0">
                          <a:solidFill>
                            <a:srgbClr val="1A1A1A"/>
                          </a:solidFill>
                          <a:latin typeface="Calibri"/>
                        </a:rPr>
                        <a:t>Section 9 — Pipeline (Training)</a:t>
                      </a:r>
                    </a:p>
                  </a:txBody>
                  <a:tcPr anchor="ctr">
                    <a:solidFill>
                      <a:srgbClr val="F0F4FA"/>
                    </a:solidFill>
                  </a:tcPr>
                </a:tc>
              </a:tr>
              <a:tr h="425704">
                <a:tc>
                  <a:txBody>
                    <a:bodyPr wrap="square"/>
                    <a:lstStyle/>
                    <a:p>
                      <a:r>
                        <a:rPr sz="1250" b="0" i="0">
                          <a:solidFill>
                            <a:srgbClr val="1A1A1A"/>
                          </a:solidFill>
                          <a:latin typeface="Calibri"/>
                        </a:rPr>
                        <a:t>04</a:t>
                      </a:r>
                    </a:p>
                  </a:txBody>
                  <a:tcPr anchor="ctr">
                    <a:solidFill>
                      <a:srgbClr val="FFFFFF"/>
                    </a:solidFill>
                  </a:tcPr>
                </a:tc>
                <a:tc>
                  <a:txBody>
                    <a:bodyPr wrap="square"/>
                    <a:lstStyle/>
                    <a:p>
                      <a:r>
                        <a:rPr sz="1250" b="0" i="0">
                          <a:solidFill>
                            <a:srgbClr val="1A1A1A"/>
                          </a:solidFill>
                          <a:latin typeface="Calibri"/>
                        </a:rPr>
                        <a:t>conformal_under_site_shift.ipynb</a:t>
                      </a:r>
                    </a:p>
                  </a:txBody>
                  <a:tcPr anchor="ctr">
                    <a:solidFill>
                      <a:srgbClr val="FFFFFF"/>
                    </a:solidFill>
                  </a:tcPr>
                </a:tc>
                <a:tc>
                  <a:txBody>
                    <a:bodyPr wrap="square"/>
                    <a:lstStyle/>
                    <a:p>
                      <a:r>
                        <a:rPr sz="1250" b="0" i="0">
                          <a:solidFill>
                            <a:srgbClr val="1A1A1A"/>
                          </a:solidFill>
                          <a:latin typeface="Calibri"/>
                        </a:rPr>
                        <a:t>Calibrate on Cleveland only, deploy everywhere — the coverage break</a:t>
                      </a:r>
                    </a:p>
                  </a:txBody>
                  <a:tcPr anchor="ctr">
                    <a:solidFill>
                      <a:srgbClr val="FFFFFF"/>
                    </a:solidFill>
                  </a:tcPr>
                </a:tc>
                <a:tc>
                  <a:txBody>
                    <a:bodyPr wrap="square"/>
                    <a:lstStyle/>
                    <a:p>
                      <a:r>
                        <a:rPr sz="1250" b="0" i="0">
                          <a:solidFill>
                            <a:srgbClr val="1A1A1A"/>
                          </a:solidFill>
                          <a:latin typeface="Calibri"/>
                        </a:rPr>
                        <a:t>Section 7 &amp; 9 — Headline Result / Deployment</a:t>
                      </a:r>
                    </a:p>
                  </a:txBody>
                  <a:tcPr anchor="ctr">
                    <a:solidFill>
                      <a:srgbClr val="FFFFFF"/>
                    </a:solidFill>
                  </a:tcPr>
                </a:tc>
              </a:tr>
              <a:tr h="425704">
                <a:tc>
                  <a:txBody>
                    <a:bodyPr wrap="square"/>
                    <a:lstStyle/>
                    <a:p>
                      <a:r>
                        <a:rPr sz="1250" b="0" i="0">
                          <a:solidFill>
                            <a:srgbClr val="1A1A1A"/>
                          </a:solidFill>
                          <a:latin typeface="Calibri"/>
                        </a:rPr>
                        <a:t>05</a:t>
                      </a:r>
                    </a:p>
                  </a:txBody>
                  <a:tcPr anchor="ctr">
                    <a:solidFill>
                      <a:srgbClr val="F0F4FA"/>
                    </a:solidFill>
                  </a:tcPr>
                </a:tc>
                <a:tc>
                  <a:txBody>
                    <a:bodyPr wrap="square"/>
                    <a:lstStyle/>
                    <a:p>
                      <a:r>
                        <a:rPr sz="1250" b="0" i="0">
                          <a:solidFill>
                            <a:srgbClr val="1A1A1A"/>
                          </a:solidFill>
                          <a:latin typeface="Calibri"/>
                        </a:rPr>
                        <a:t>recreating_paper_figures.ipynb</a:t>
                      </a:r>
                    </a:p>
                  </a:txBody>
                  <a:tcPr anchor="ctr">
                    <a:solidFill>
                      <a:srgbClr val="F0F4FA"/>
                    </a:solidFill>
                  </a:tcPr>
                </a:tc>
                <a:tc>
                  <a:txBody>
                    <a:bodyPr wrap="square"/>
                    <a:lstStyle/>
                    <a:p>
                      <a:r>
                        <a:rPr sz="1250" b="0" i="0">
                          <a:solidFill>
                            <a:srgbClr val="1A1A1A"/>
                          </a:solidFill>
                          <a:latin typeface="Calibri"/>
                        </a:rPr>
                        <a:t>Recreate the Angelopoulos &amp; Bates illustrations on this project's data</a:t>
                      </a:r>
                    </a:p>
                  </a:txBody>
                  <a:tcPr anchor="ctr">
                    <a:solidFill>
                      <a:srgbClr val="F0F4FA"/>
                    </a:solidFill>
                  </a:tcPr>
                </a:tc>
                <a:tc>
                  <a:txBody>
                    <a:bodyPr wrap="square"/>
                    <a:lstStyle/>
                    <a:p>
                      <a:r>
                        <a:rPr sz="1250" b="0" i="0">
                          <a:solidFill>
                            <a:srgbClr val="1A1A1A"/>
                          </a:solidFill>
                          <a:latin typeface="Calibri"/>
                        </a:rPr>
                        <a:t>Section 8 — The Mathematics</a:t>
                      </a:r>
                    </a:p>
                  </a:txBody>
                  <a:tcPr anchor="ctr">
                    <a:solidFill>
                      <a:srgbClr val="F0F4FA"/>
                    </a:solidFill>
                  </a:tcPr>
                </a:tc>
              </a:tr>
              <a:tr h="425704">
                <a:tc>
                  <a:txBody>
                    <a:bodyPr wrap="square"/>
                    <a:lstStyle/>
                    <a:p>
                      <a:r>
                        <a:rPr sz="1250" b="0" i="0">
                          <a:solidFill>
                            <a:srgbClr val="1A1A1A"/>
                          </a:solidFill>
                          <a:latin typeface="Calibri"/>
                        </a:rPr>
                        <a:t>06</a:t>
                      </a:r>
                    </a:p>
                  </a:txBody>
                  <a:tcPr anchor="ctr">
                    <a:solidFill>
                      <a:srgbClr val="FFFFFF"/>
                    </a:solidFill>
                  </a:tcPr>
                </a:tc>
                <a:tc>
                  <a:txBody>
                    <a:bodyPr wrap="square"/>
                    <a:lstStyle/>
                    <a:p>
                      <a:r>
                        <a:rPr sz="1250" b="0" i="0">
                          <a:solidFill>
                            <a:srgbClr val="1A1A1A"/>
                          </a:solidFill>
                          <a:latin typeface="Calibri"/>
                        </a:rPr>
                        <a:t>chest_pain_multiclass.ipynb</a:t>
                      </a:r>
                    </a:p>
                  </a:txBody>
                  <a:tcPr anchor="ctr">
                    <a:solidFill>
                      <a:srgbClr val="FFFFFF"/>
                    </a:solidFill>
                  </a:tcPr>
                </a:tc>
                <a:tc>
                  <a:txBody>
                    <a:bodyPr wrap="square"/>
                    <a:lstStyle/>
                    <a:p>
                      <a:r>
                        <a:rPr sz="1250" b="0" i="0">
                          <a:solidFill>
                            <a:srgbClr val="1A1A1A"/>
                          </a:solidFill>
                          <a:latin typeface="Calibri"/>
                        </a:rPr>
                        <a:t>Repeat the full pipeline on a second, independent target</a:t>
                      </a:r>
                    </a:p>
                  </a:txBody>
                  <a:tcPr anchor="ctr">
                    <a:solidFill>
                      <a:srgbClr val="FFFFFF"/>
                    </a:solidFill>
                  </a:tcPr>
                </a:tc>
                <a:tc>
                  <a:txBody>
                    <a:bodyPr wrap="square"/>
                    <a:lstStyle/>
                    <a:p>
                      <a:r>
                        <a:rPr sz="1250" b="0" i="0">
                          <a:solidFill>
                            <a:srgbClr val="1A1A1A"/>
                          </a:solidFill>
                          <a:latin typeface="Calibri"/>
                        </a:rPr>
                        <a:t>Section 9 — Robustness (chest-pain task)</a:t>
                      </a:r>
                    </a:p>
                  </a:txBody>
                  <a:tcPr anchor="ctr">
                    <a:solidFill>
                      <a:srgbClr val="FFFFFF"/>
                    </a:solidFill>
                  </a:tcPr>
                </a:tc>
              </a:tr>
              <a:tr h="425705">
                <a:tc>
                  <a:txBody>
                    <a:bodyPr wrap="square"/>
                    <a:lstStyle/>
                    <a:p>
                      <a:r>
                        <a:rPr sz="1250" b="0" i="0">
                          <a:solidFill>
                            <a:srgbClr val="1A1A1A"/>
                          </a:solidFill>
                          <a:latin typeface="Calibri"/>
                        </a:rPr>
                        <a:t>07</a:t>
                      </a:r>
                    </a:p>
                  </a:txBody>
                  <a:tcPr anchor="ctr">
                    <a:solidFill>
                      <a:srgbClr val="F0F4FA"/>
                    </a:solidFill>
                  </a:tcPr>
                </a:tc>
                <a:tc>
                  <a:txBody>
                    <a:bodyPr wrap="square"/>
                    <a:lstStyle/>
                    <a:p>
                      <a:r>
                        <a:rPr sz="1250" b="0" i="0">
                          <a:solidFill>
                            <a:srgbClr val="1A1A1A"/>
                          </a:solidFill>
                          <a:latin typeface="Calibri"/>
                        </a:rPr>
                        <a:t>task_comparison.ipynb</a:t>
                      </a:r>
                    </a:p>
                  </a:txBody>
                  <a:tcPr anchor="ctr">
                    <a:solidFill>
                      <a:srgbClr val="F0F4FA"/>
                    </a:solidFill>
                  </a:tcPr>
                </a:tc>
                <a:tc>
                  <a:txBody>
                    <a:bodyPr wrap="square"/>
                    <a:lstStyle/>
                    <a:p>
                      <a:r>
                        <a:rPr sz="1250" b="0" i="0">
                          <a:solidFill>
                            <a:srgbClr val="1A1A1A"/>
                          </a:solidFill>
                          <a:latin typeface="Calibri"/>
                        </a:rPr>
                        <a:t>Compare heterogeneity and set sizes, disease vs. chest-pain, side by side</a:t>
                      </a:r>
                    </a:p>
                  </a:txBody>
                  <a:tcPr anchor="ctr">
                    <a:solidFill>
                      <a:srgbClr val="F0F4FA"/>
                    </a:solidFill>
                  </a:tcPr>
                </a:tc>
                <a:tc>
                  <a:txBody>
                    <a:bodyPr wrap="square"/>
                    <a:lstStyle/>
                    <a:p>
                      <a:r>
                        <a:rPr sz="1250" b="0" i="0">
                          <a:solidFill>
                            <a:srgbClr val="1A1A1A"/>
                          </a:solidFill>
                          <a:latin typeface="Calibri"/>
                        </a:rPr>
                        <a:t>Section 9 — Robustness</a:t>
                      </a:r>
                    </a:p>
                  </a:txBody>
                  <a:tcPr anchor="ctr">
                    <a:solidFill>
                      <a:srgbClr val="F0F4FA"/>
                    </a:solidFill>
                  </a:tcPr>
                </a:tc>
              </a:tr>
            </a:tbl>
          </a:graphicData>
        </a:graphic>
      </p:graphicFrame>
      <p:sp>
        <p:nvSpPr>
          <p:cNvPr id="6" name="TextBox 5"/>
          <p:cNvSpPr txBox="1"/>
          <p:nvPr/>
        </p:nvSpPr>
        <p:spPr>
          <a:xfrm>
            <a:off x="731520" y="5449825"/>
            <a:ext cx="10728655" cy="1014983"/>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Run these in order, 00 → 07 — each takes roughly 10-20 minutes and produces some of the figures shown later in this deck.</a:t>
            </a:r>
          </a:p>
          <a:p>
            <a:r>
              <a:rPr sz="1350" b="1" i="0">
                <a:solidFill>
                  <a:srgbClr val="2A78D6"/>
                </a:solidFill>
                <a:latin typeface="Calibri"/>
              </a:rPr>
              <a:t>▪  </a:t>
            </a:r>
            <a:r>
              <a:rPr sz="1350" b="0" i="0">
                <a:solidFill>
                  <a:srgbClr val="333333"/>
                </a:solidFill>
                <a:latin typeface="Calibri"/>
              </a:rPr>
              <a:t>Every notebook is a narrated walk-through of the same reusable code library — nothing is built twice, so what you see live is exactly what generated every slide.</a:t>
            </a:r>
          </a:p>
          <a:p>
            <a:r>
              <a:rPr sz="1350" b="1" i="0">
                <a:solidFill>
                  <a:srgbClr val="2A78D6"/>
                </a:solidFill>
                <a:latin typeface="Calibri"/>
              </a:rPr>
              <a:t>▪  </a:t>
            </a:r>
            <a:r>
              <a:rPr sz="1350" b="0" i="0">
                <a:solidFill>
                  <a:srgbClr val="333333"/>
                </a:solidFill>
                <a:latin typeface="Calibri"/>
              </a:rPr>
              <a:t>Two extra clinical questions (Section 9's resting-ECG and exercise-angina results) come from a standalone script rather than a dedicated notebook — flagged again when that part of the deck is reached.</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Agenda</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1</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Introduction</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INTRODUCTION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Moving data and trusting data are two different problems</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“Interoperability” means two computer systems can send and read each other's data without a person manually translating in between. That part is largely solved today.</a:t>
            </a:r>
          </a:p>
          <a:p>
            <a:pPr>
              <a:spcAft>
                <a:spcPts val="1200"/>
              </a:spcAft>
            </a:pPr>
            <a:r>
              <a:rPr sz="1800" b="1" i="0">
                <a:solidFill>
                  <a:srgbClr val="2A78D6"/>
                </a:solidFill>
                <a:latin typeface="Calibri"/>
              </a:rPr>
              <a:t>▪  </a:t>
            </a:r>
            <a:r>
              <a:rPr sz="1800" b="0" i="0">
                <a:solidFill>
                  <a:srgbClr val="1A1A1A"/>
                </a:solidFill>
                <a:latin typeface="Calibri"/>
              </a:rPr>
              <a:t>It says nothing about whether the data means the same thing once it lands somewhere new.</a:t>
            </a:r>
          </a:p>
          <a:p>
            <a:pPr>
              <a:spcAft>
                <a:spcPts val="1200"/>
              </a:spcAft>
            </a:pPr>
            <a:r>
              <a:rPr sz="1800" b="1" i="0">
                <a:solidFill>
                  <a:srgbClr val="2A78D6"/>
                </a:solidFill>
                <a:latin typeface="Calibri"/>
              </a:rPr>
              <a:t>▪  </a:t>
            </a:r>
            <a:r>
              <a:rPr sz="1800" b="0" i="0">
                <a:solidFill>
                  <a:srgbClr val="1A1A1A"/>
                </a:solidFill>
                <a:latin typeface="Calibri"/>
              </a:rPr>
              <a:t>A concrete example: two hospitals can both have a “cholesterol” field, in the exact same format, in the exact same spot — and still be describing a different measurement habit, if one hospital tests every patient and the other only tests when there's a specific reason to.</a:t>
            </a:r>
          </a:p>
          <a:p>
            <a:pPr>
              <a:spcAft>
                <a:spcPts val="1200"/>
              </a:spcAft>
            </a:pPr>
            <a:r>
              <a:rPr sz="1800" b="1" i="0">
                <a:solidFill>
                  <a:srgbClr val="2A78D6"/>
                </a:solidFill>
                <a:latin typeface="Calibri"/>
              </a:rPr>
              <a:t>▪  </a:t>
            </a:r>
            <a:r>
              <a:rPr sz="1800" b="0" i="0">
                <a:solidFill>
                  <a:srgbClr val="1A1A1A"/>
                </a:solidFill>
                <a:latin typeface="Calibri"/>
              </a:rPr>
              <a:t>That gap — data successfully arriving vs. data being safe to trust the same way everywhere — is the problem this entire project is built around.</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Introduction</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INTRODUCTION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Conformal prediction: a tool for catching that gap</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Think of it as a wrapper you can put around any existing model — it turns a single confident guess into a short, honest list of plausible answers.</a:t>
            </a:r>
          </a:p>
          <a:p>
            <a:pPr>
              <a:spcAft>
                <a:spcPts val="1200"/>
              </a:spcAft>
            </a:pPr>
            <a:r>
              <a:rPr sz="1800" b="1" i="0">
                <a:solidFill>
                  <a:srgbClr val="2A78D6"/>
                </a:solidFill>
                <a:latin typeface="Calibri"/>
              </a:rPr>
              <a:t>▪  </a:t>
            </a:r>
            <a:r>
              <a:rPr sz="1800" b="0" i="0">
                <a:solidFill>
                  <a:srgbClr val="1A1A1A"/>
                </a:solidFill>
                <a:latin typeface="Calibri"/>
              </a:rPr>
              <a:t>It comes with a promise: build enough of these lists, and the true answer will be somewhere on the list at least as often as you asked for (say, 90% of the time) — but only measured at the hospital the model was calibrated on.</a:t>
            </a:r>
          </a:p>
          <a:p>
            <a:pPr>
              <a:spcAft>
                <a:spcPts val="1200"/>
              </a:spcAft>
            </a:pPr>
            <a:r>
              <a:rPr sz="1800" b="1" i="0">
                <a:solidFill>
                  <a:srgbClr val="2A78D6"/>
                </a:solidFill>
                <a:latin typeface="Calibri"/>
              </a:rPr>
              <a:t>▪  </a:t>
            </a:r>
            <a:r>
              <a:rPr sz="1800" b="0" i="0">
                <a:solidFill>
                  <a:srgbClr val="1A1A1A"/>
                </a:solidFill>
                <a:latin typeface="Calibri"/>
              </a:rPr>
              <a:t>Take that same model and list-building recipe to a second hospital, and the promise is only as good as the assumption that the two hospitals' patients look statistically alike.</a:t>
            </a:r>
          </a:p>
          <a:p>
            <a:pPr>
              <a:spcAft>
                <a:spcPts val="1200"/>
              </a:spcAft>
            </a:pPr>
            <a:r>
              <a:rPr sz="1800" b="1" i="0">
                <a:solidFill>
                  <a:srgbClr val="2A78D6"/>
                </a:solidFill>
                <a:latin typeface="Calibri"/>
              </a:rPr>
              <a:t>▪  </a:t>
            </a:r>
            <a:r>
              <a:rPr sz="1800" b="0" i="0">
                <a:solidFill>
                  <a:srgbClr val="1A1A1A"/>
                </a:solidFill>
                <a:latin typeface="Calibri"/>
              </a:rPr>
              <a:t>When they don't look alike, the promise breaks — and, crucially, breaks in a way you can measure and point to, instead of failing silently the way a raw confidence score does.</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Introduction</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INTRODUCTION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What you'll actually build today</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The real UCI Heart Disease dataset, loaded from its four original hospitals: Cleveland, Hungary, Switzerland, and the V.A. Long Beach — not a cleaned-up, pre-packaged version.</a:t>
            </a:r>
          </a:p>
          <a:p>
            <a:pPr>
              <a:spcAft>
                <a:spcPts val="1200"/>
              </a:spcAft>
            </a:pPr>
            <a:r>
              <a:rPr sz="1800" b="1" i="0">
                <a:solidFill>
                  <a:srgbClr val="2A78D6"/>
                </a:solidFill>
                <a:latin typeface="Calibri"/>
              </a:rPr>
              <a:t>▪  </a:t>
            </a:r>
            <a:r>
              <a:rPr sz="1800" b="0" i="0">
                <a:solidFill>
                  <a:srgbClr val="1A1A1A"/>
                </a:solidFill>
                <a:latin typeface="Calibri"/>
              </a:rPr>
              <a:t>A federated-learning simulator, built from scratch, so you can see exactly how hospitals train one shared model without ever pooling their patients' records.</a:t>
            </a:r>
          </a:p>
          <a:p>
            <a:pPr>
              <a:spcAft>
                <a:spcPts val="1200"/>
              </a:spcAft>
            </a:pPr>
            <a:r>
              <a:rPr sz="1800" b="1" i="0">
                <a:solidFill>
                  <a:srgbClr val="2A78D6"/>
                </a:solidFill>
                <a:latin typeface="Calibri"/>
              </a:rPr>
              <a:t>▪  </a:t>
            </a:r>
            <a:r>
              <a:rPr sz="1800" b="0" i="0">
                <a:solidFill>
                  <a:srgbClr val="1A1A1A"/>
                </a:solidFill>
                <a:latin typeface="Calibri"/>
              </a:rPr>
              <a:t>A conformal-prediction library, also built from scratch, implementing the two list-building recipes used throughout the workshop.</a:t>
            </a:r>
          </a:p>
          <a:p>
            <a:pPr>
              <a:spcAft>
                <a:spcPts val="1200"/>
              </a:spcAft>
            </a:pPr>
            <a:r>
              <a:rPr sz="1800" b="1" i="0">
                <a:solidFill>
                  <a:srgbClr val="2A78D6"/>
                </a:solidFill>
                <a:latin typeface="Calibri"/>
              </a:rPr>
              <a:t>▪  </a:t>
            </a:r>
            <a:r>
              <a:rPr sz="1800" b="0" i="0">
                <a:solidFill>
                  <a:srgbClr val="1A1A1A"/>
                </a:solidFill>
                <a:latin typeface="Calibri"/>
              </a:rPr>
              <a:t>A full set of diagnostics for telling apart “these hospitals' patients are genuinely different” from “these hospitals just measure things differently.”</a:t>
            </a:r>
          </a:p>
          <a:p>
            <a:pPr>
              <a:spcAft>
                <a:spcPts val="1200"/>
              </a:spcAft>
            </a:pPr>
            <a:r>
              <a:rPr sz="1800" b="1" i="0">
                <a:solidFill>
                  <a:srgbClr val="2A78D6"/>
                </a:solidFill>
                <a:latin typeface="Calibri"/>
              </a:rPr>
              <a:t>▪  </a:t>
            </a:r>
            <a:r>
              <a:rPr sz="1800" b="0" i="0">
                <a:solidFill>
                  <a:srgbClr val="1A1A1A"/>
                </a:solidFill>
                <a:latin typeface="Calibri"/>
              </a:rPr>
              <a:t>Dozens of figures, each paired with a plain-language explanation, the math behind it for anyone who wants it, and an honest note on what's solid versus what would need more work.</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Introduction</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2</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Challenges</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CHALLENGES</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Five things that make this genuinely hard</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750" b="1" i="0">
                <a:solidFill>
                  <a:srgbClr val="2A78D6"/>
                </a:solidFill>
                <a:latin typeface="Calibri"/>
              </a:rPr>
              <a:t>▪  </a:t>
            </a:r>
            <a:r>
              <a:rPr sz="1750" b="0" i="0">
                <a:solidFill>
                  <a:srgbClr val="1A1A1A"/>
                </a:solidFill>
                <a:latin typeface="Calibri"/>
              </a:rPr>
              <a:t>Telling apart a real difference between patient populations from a difference that's just how carefully something was measured — with no outside answer key to check against.</a:t>
            </a:r>
          </a:p>
          <a:p>
            <a:pPr>
              <a:spcAft>
                <a:spcPts val="1200"/>
              </a:spcAft>
            </a:pPr>
            <a:r>
              <a:rPr sz="1750" b="1" i="0">
                <a:solidFill>
                  <a:srgbClr val="2A78D6"/>
                </a:solidFill>
                <a:latin typeface="Calibri"/>
              </a:rPr>
              <a:t>▪  </a:t>
            </a:r>
            <a:r>
              <a:rPr sz="1750" b="0" i="0">
                <a:solidFill>
                  <a:srgbClr val="1A1A1A"/>
                </a:solidFill>
                <a:latin typeface="Calibri"/>
              </a:rPr>
              <a:t>Silent failure: a model's own confidence score gives you no warning at all that it has wandered outside the population it was trained on.</a:t>
            </a:r>
          </a:p>
          <a:p>
            <a:pPr>
              <a:spcAft>
                <a:spcPts val="1200"/>
              </a:spcAft>
            </a:pPr>
            <a:r>
              <a:rPr sz="1750" b="1" i="0">
                <a:solidFill>
                  <a:srgbClr val="2A78D6"/>
                </a:solidFill>
                <a:latin typeface="Calibri"/>
              </a:rPr>
              <a:t>▪  </a:t>
            </a:r>
            <a:r>
              <a:rPr sz="1750" b="0" i="0">
                <a:solidFill>
                  <a:srgbClr val="1A1A1A"/>
                </a:solidFill>
                <a:latin typeface="Calibri"/>
              </a:rPr>
              <a:t>You usually can't just combine everyone's data to sidestep the first two problems — patient records typically have to stay inside their own hospital by law and policy.</a:t>
            </a:r>
          </a:p>
          <a:p>
            <a:pPr>
              <a:spcAft>
                <a:spcPts val="1200"/>
              </a:spcAft>
            </a:pPr>
            <a:r>
              <a:rPr sz="1750" b="1" i="0">
                <a:solidFill>
                  <a:srgbClr val="2A78D6"/>
                </a:solidFill>
                <a:latin typeface="Calibri"/>
              </a:rPr>
              <a:t>▪  </a:t>
            </a:r>
            <a:r>
              <a:rPr sz="1750" b="0" i="0">
                <a:solidFill>
                  <a:srgbClr val="1A1A1A"/>
                </a:solidFill>
                <a:latin typeface="Calibri"/>
              </a:rPr>
              <a:t>Two hospitals using the identical data format doesn't mean they mean the same thing by every field — shared structure isn't shared meaning.</a:t>
            </a:r>
          </a:p>
          <a:p>
            <a:pPr>
              <a:spcAft>
                <a:spcPts val="1200"/>
              </a:spcAft>
            </a:pPr>
            <a:r>
              <a:rPr sz="1750" b="1" i="0">
                <a:solidFill>
                  <a:srgbClr val="2A78D6"/>
                </a:solidFill>
                <a:latin typeface="Calibri"/>
              </a:rPr>
              <a:t>▪  </a:t>
            </a:r>
            <a:r>
              <a:rPr sz="1750" b="0" i="0">
                <a:solidFill>
                  <a:srgbClr val="1A1A1A"/>
                </a:solidFill>
                <a:latin typeface="Calibri"/>
              </a:rPr>
              <a:t>The usual scorecards (overall accuracy, one blended coverage number) hide every one of the above — you need to check results broken out by hospital, by diagnosis, and by patient subgroup to see any of it.</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Challenges</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3</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Motivation</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MOTIVATION</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Why this matters right now, not just academically</a:t>
            </a:r>
          </a:p>
        </p:txBody>
      </p:sp>
      <p:sp>
        <p:nvSpPr>
          <p:cNvPr id="5" name="TextBox 4"/>
          <p:cNvSpPr txBox="1"/>
          <p:nvPr/>
        </p:nvSpPr>
        <p:spPr>
          <a:xfrm>
            <a:off x="640080" y="1508760"/>
            <a:ext cx="5181447" cy="4526280"/>
          </a:xfrm>
          <a:prstGeom prst="rect">
            <a:avLst/>
          </a:prstGeom>
          <a:noFill/>
        </p:spPr>
        <p:txBody>
          <a:bodyPr wrap="square">
            <a:spAutoFit/>
          </a:bodyPr>
          <a:lstStyle/>
          <a:p>
            <a:r>
              <a:rPr sz="1700" b="1" i="0">
                <a:solidFill>
                  <a:srgbClr val="1C5CAB"/>
                </a:solidFill>
                <a:latin typeface="Calibri"/>
              </a:rPr>
              <a:t>3.1  AI in medicine is moving faster than cross-hospital checking</a:t>
            </a:r>
          </a:p>
          <a:p>
            <a:pPr>
              <a:spcBef>
                <a:spcPts val="800"/>
              </a:spcBef>
            </a:pPr>
            <a:r>
              <a:rPr sz="1500" b="1" i="0">
                <a:solidFill>
                  <a:srgbClr val="2A78D6"/>
                </a:solidFill>
                <a:latin typeface="Calibri"/>
              </a:rPr>
              <a:t>▪  </a:t>
            </a:r>
            <a:r>
              <a:rPr sz="1500" b="0" i="0">
                <a:solidFill>
                  <a:srgbClr val="1A1A1A"/>
                </a:solidFill>
                <a:latin typeface="Calibri"/>
              </a:rPr>
              <a:t>A model that tests well at one hospital regularly does worse at another — different patient mix, different equipment, different measurement habits all play a role.</a:t>
            </a:r>
          </a:p>
          <a:p>
            <a:pPr>
              <a:spcBef>
                <a:spcPts val="800"/>
              </a:spcBef>
            </a:pPr>
            <a:r>
              <a:rPr sz="1500" b="1" i="0">
                <a:solidFill>
                  <a:srgbClr val="2A78D6"/>
                </a:solidFill>
                <a:latin typeface="Calibri"/>
              </a:rPr>
              <a:t>▪  </a:t>
            </a:r>
            <a:r>
              <a:rPr sz="1500" b="0" i="0">
                <a:solidFill>
                  <a:srgbClr val="1A1A1A"/>
                </a:solidFill>
                <a:latin typeface="Calibri"/>
              </a:rPr>
              <a:t>Regulators are catching up: the FDA's approach to AI-based medical software now expects tracking of real-world performance after deployment, broken out by patient subgroup — not just one number measured before launch.</a:t>
            </a:r>
          </a:p>
        </p:txBody>
      </p:sp>
      <p:sp>
        <p:nvSpPr>
          <p:cNvPr id="6" name="TextBox 5"/>
          <p:cNvSpPr txBox="1"/>
          <p:nvPr/>
        </p:nvSpPr>
        <p:spPr>
          <a:xfrm>
            <a:off x="6370167" y="1508760"/>
            <a:ext cx="5181447" cy="4526280"/>
          </a:xfrm>
          <a:prstGeom prst="rect">
            <a:avLst/>
          </a:prstGeom>
          <a:noFill/>
        </p:spPr>
        <p:txBody>
          <a:bodyPr wrap="square">
            <a:spAutoFit/>
          </a:bodyPr>
          <a:lstStyle/>
          <a:p>
            <a:r>
              <a:rPr sz="1700" b="1" i="0">
                <a:solidFill>
                  <a:srgbClr val="1C5CAB"/>
                </a:solidFill>
                <a:latin typeface="Calibri"/>
              </a:rPr>
              <a:t>3.2  Federated learning has gone from research idea to practical necessity</a:t>
            </a:r>
          </a:p>
          <a:p>
            <a:pPr>
              <a:spcBef>
                <a:spcPts val="800"/>
              </a:spcBef>
            </a:pPr>
            <a:r>
              <a:rPr sz="1500" b="1" i="0">
                <a:solidFill>
                  <a:srgbClr val="2A78D6"/>
                </a:solidFill>
                <a:latin typeface="Calibri"/>
              </a:rPr>
              <a:t>▪  </a:t>
            </a:r>
            <a:r>
              <a:rPr sz="1500" b="0" i="0">
                <a:solidFill>
                  <a:srgbClr val="1A1A1A"/>
                </a:solidFill>
                <a:latin typeface="Calibri"/>
              </a:rPr>
              <a:t>The core method used in this workshop (FedAvg) was introduced by McMahan et al. in 2017, and quickly became well known through its use in mobile phone keyboard prediction.</a:t>
            </a:r>
          </a:p>
          <a:p>
            <a:pPr>
              <a:spcBef>
                <a:spcPts val="800"/>
              </a:spcBef>
            </a:pPr>
            <a:r>
              <a:rPr sz="1500" b="1" i="0">
                <a:solidFill>
                  <a:srgbClr val="2A78D6"/>
                </a:solidFill>
                <a:latin typeface="Calibri"/>
              </a:rPr>
              <a:t>▪  </a:t>
            </a:r>
            <a:r>
              <a:rPr sz="1500" b="0" i="0">
                <a:solidFill>
                  <a:srgbClr val="1A1A1A"/>
                </a:solidFill>
                <a:latin typeface="Calibri"/>
              </a:rPr>
              <a:t>In healthcare specifically, gathering every hospital's patient records into one place is often simply not legally possible — so this approach is closer to the only option than a stylistic preference.</a:t>
            </a:r>
          </a:p>
          <a:p>
            <a:pPr>
              <a:spcBef>
                <a:spcPts val="800"/>
              </a:spcBef>
            </a:pPr>
            <a:r>
              <a:rPr sz="1500" b="1" i="0">
                <a:solidFill>
                  <a:srgbClr val="2A78D6"/>
                </a:solidFill>
                <a:latin typeface="Calibri"/>
              </a:rPr>
              <a:t>▪  </a:t>
            </a:r>
            <a:r>
              <a:rPr sz="1500" b="0" i="0">
                <a:solidFill>
                  <a:srgbClr val="1A1A1A"/>
                </a:solidFill>
                <a:latin typeface="Calibri"/>
              </a:rPr>
              <a:t>A well-known 2022 benchmark collection (FLamby) uses this exact same four-hospital dataset as its own standard test case — this is a recognized, real testbed, not an invented toy problem.</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Motivation</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MOTIVATION</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Rules require the data to move; they don't require it to mean the same thing</a:t>
            </a:r>
          </a:p>
        </p:txBody>
      </p:sp>
      <p:sp>
        <p:nvSpPr>
          <p:cNvPr id="5" name="TextBox 4"/>
          <p:cNvSpPr txBox="1"/>
          <p:nvPr/>
        </p:nvSpPr>
        <p:spPr>
          <a:xfrm>
            <a:off x="640080" y="1508760"/>
            <a:ext cx="5181447" cy="4526280"/>
          </a:xfrm>
          <a:prstGeom prst="rect">
            <a:avLst/>
          </a:prstGeom>
          <a:noFill/>
        </p:spPr>
        <p:txBody>
          <a:bodyPr wrap="square">
            <a:spAutoFit/>
          </a:bodyPr>
          <a:lstStyle/>
          <a:p>
            <a:r>
              <a:rPr sz="1700" b="1" i="0">
                <a:solidFill>
                  <a:srgbClr val="1C5CAB"/>
                </a:solidFill>
                <a:latin typeface="Calibri"/>
              </a:rPr>
              <a:t>3.3  Current data-sharing rules mandate that data CAN move, not that it means the same thing everywhere</a:t>
            </a:r>
          </a:p>
          <a:p>
            <a:pPr>
              <a:spcBef>
                <a:spcPts val="800"/>
              </a:spcBef>
            </a:pPr>
            <a:r>
              <a:rPr sz="1500" b="1" i="0">
                <a:solidFill>
                  <a:srgbClr val="2A78D6"/>
                </a:solidFill>
                <a:latin typeface="Calibri"/>
              </a:rPr>
              <a:t>▪  </a:t>
            </a:r>
            <a:r>
              <a:rPr sz="1500" b="0" i="0">
                <a:solidFill>
                  <a:srgbClr val="1A1A1A"/>
                </a:solidFill>
                <a:latin typeface="Calibri"/>
              </a:rPr>
              <a:t>In the US, federal rules now require standardized APIs for health data exchange, and a nationwide exchange network is already operating.</a:t>
            </a:r>
          </a:p>
          <a:p>
            <a:pPr>
              <a:spcBef>
                <a:spcPts val="800"/>
              </a:spcBef>
            </a:pPr>
            <a:r>
              <a:rPr sz="1500" b="1" i="0">
                <a:solidFill>
                  <a:srgbClr val="2A78D6"/>
                </a:solidFill>
                <a:latin typeface="Calibri"/>
              </a:rPr>
              <a:t>▪  </a:t>
            </a:r>
            <a:r>
              <a:rPr sz="1500" b="0" i="0">
                <a:solidFill>
                  <a:srgbClr val="1A1A1A"/>
                </a:solidFill>
                <a:latin typeface="Calibri"/>
              </a:rPr>
              <a:t>The EU has its own parallel regulation (the European Health Data Space), phasing in from 2027.</a:t>
            </a:r>
          </a:p>
          <a:p>
            <a:pPr>
              <a:spcBef>
                <a:spcPts val="800"/>
              </a:spcBef>
            </a:pPr>
            <a:r>
              <a:rPr sz="1500" b="1" i="0">
                <a:solidFill>
                  <a:srgbClr val="2A78D6"/>
                </a:solidFill>
                <a:latin typeface="Calibri"/>
              </a:rPr>
              <a:t>▪  </a:t>
            </a:r>
            <a:r>
              <a:rPr sz="1500" b="0" i="0">
                <a:solidFill>
                  <a:srgbClr val="1A1A1A"/>
                </a:solidFill>
                <a:latin typeface="Calibri"/>
              </a:rPr>
              <a:t>Both kinds of rules guarantee the bytes can travel between systems — neither one guarantees that a value means the same clinical fact once it arrives somewhere new.</a:t>
            </a:r>
          </a:p>
        </p:txBody>
      </p:sp>
      <p:sp>
        <p:nvSpPr>
          <p:cNvPr id="6" name="TextBox 5"/>
          <p:cNvSpPr txBox="1"/>
          <p:nvPr/>
        </p:nvSpPr>
        <p:spPr>
          <a:xfrm>
            <a:off x="6370167" y="1508760"/>
            <a:ext cx="5181447" cy="4526280"/>
          </a:xfrm>
          <a:prstGeom prst="rect">
            <a:avLst/>
          </a:prstGeom>
          <a:noFill/>
        </p:spPr>
        <p:txBody>
          <a:bodyPr wrap="square">
            <a:spAutoFit/>
          </a:bodyPr>
          <a:lstStyle/>
          <a:p>
            <a:r>
              <a:rPr sz="1700" b="1" i="0">
                <a:solidFill>
                  <a:srgbClr val="1C5CAB"/>
                </a:solidFill>
                <a:latin typeface="Calibri"/>
              </a:rPr>
              <a:t>3.4  A checkable uncertainty number fills exactly that gap</a:t>
            </a:r>
          </a:p>
          <a:p>
            <a:pPr>
              <a:spcBef>
                <a:spcPts val="800"/>
              </a:spcBef>
            </a:pPr>
            <a:r>
              <a:rPr sz="1500" b="1" i="0">
                <a:solidFill>
                  <a:srgbClr val="2A78D6"/>
                </a:solidFill>
                <a:latin typeface="Calibri"/>
              </a:rPr>
              <a:t>▪  </a:t>
            </a:r>
            <a:r>
              <a:rPr sz="1500" b="0" i="0">
                <a:solidFill>
                  <a:srgbClr val="1A1A1A"/>
                </a:solidFill>
                <a:latin typeface="Calibri"/>
              </a:rPr>
              <a:t>Conformal prediction's promise doesn't depend on assuming any particular shape for the data — it works essentially the same way regardless of what the underlying numbers look like.</a:t>
            </a:r>
          </a:p>
          <a:p>
            <a:pPr>
              <a:spcBef>
                <a:spcPts val="800"/>
              </a:spcBef>
            </a:pPr>
            <a:r>
              <a:rPr sz="1500" b="1" i="0">
                <a:solidFill>
                  <a:srgbClr val="2A78D6"/>
                </a:solidFill>
                <a:latin typeface="Calibri"/>
              </a:rPr>
              <a:t>▪  </a:t>
            </a:r>
            <a:r>
              <a:rPr sz="1500" b="0" i="0">
                <a:solidFill>
                  <a:srgbClr val="1A1A1A"/>
                </a:solidFill>
                <a:latin typeface="Calibri"/>
              </a:rPr>
              <a:t>It doesn't require the model to be any particular type, or built any particular way.</a:t>
            </a:r>
          </a:p>
          <a:p>
            <a:pPr>
              <a:spcBef>
                <a:spcPts val="800"/>
              </a:spcBef>
            </a:pPr>
            <a:r>
              <a:rPr sz="1500" b="1" i="0">
                <a:solidFill>
                  <a:srgbClr val="2A78D6"/>
                </a:solidFill>
                <a:latin typeface="Calibri"/>
              </a:rPr>
              <a:t>▪  </a:t>
            </a:r>
            <a:r>
              <a:rPr sz="1500" b="0" i="0">
                <a:solidFill>
                  <a:srgbClr val="1A1A1A"/>
                </a:solidFill>
                <a:latin typeface="Calibri"/>
              </a:rPr>
              <a:t>It hands a reviewer a number they can go check for themselves empirically — not something they have to simply take on faith.</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Motivation</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MOTIVATION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The gap this workshop is built to close</a:t>
            </a:r>
          </a:p>
        </p:txBody>
      </p:sp>
      <p:sp>
        <p:nvSpPr>
          <p:cNvPr id="5" name="Rounded Rectangle 4"/>
          <p:cNvSpPr/>
          <p:nvPr/>
        </p:nvSpPr>
        <p:spPr>
          <a:xfrm>
            <a:off x="1188720" y="2377440"/>
            <a:ext cx="9814255" cy="2377440"/>
          </a:xfrm>
          <a:prstGeom prst="roundRect">
            <a:avLst/>
          </a:prstGeom>
          <a:solidFill>
            <a:srgbClr val="FFFFFF"/>
          </a:solidFill>
          <a:ln w="1905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a:lstStyle/>
          <a:p>
            <a:pPr algn="ctr"/>
            <a:r>
              <a:rPr sz="2200" b="1" i="1">
                <a:solidFill>
                  <a:srgbClr val="1C5CAB"/>
                </a:solidFill>
                <a:latin typeface="Calibri"/>
              </a:rPr>
              <a:t>Hospitals today can share data with each other. What's still missing is a checkable way to know whether that shared data can actually be trusted the same way once it arrives — this workshop's toolkit exists to make that trust something you can measure, not just assume.</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Motivation</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4</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The Difficulty of Working With Real Clinical Data</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REAL CLINICAL DATA</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Stacking up the barriers to a public download</a:t>
            </a:r>
          </a:p>
        </p:txBody>
      </p:sp>
      <p:graphicFrame>
        <p:nvGraphicFramePr>
          <p:cNvPr id="5" name="Table 4"/>
          <p:cNvGraphicFramePr>
            <a:graphicFrameLocks noGrp="1"/>
          </p:cNvGraphicFramePr>
          <p:nvPr/>
        </p:nvGraphicFramePr>
        <p:xfrm>
          <a:off x="640080" y="1508760"/>
          <a:ext cx="10911534" cy="4846320"/>
        </p:xfrm>
        <a:graphic>
          <a:graphicData uri="http://schemas.openxmlformats.org/drawingml/2006/table">
            <a:tbl>
              <a:tblPr firstRow="1" bandRow="1">
                <a:tableStyleId>{5C22544A-7EE6-4342-B048-85BDC9FD1C3A}</a:tableStyleId>
              </a:tblPr>
              <a:tblGrid>
                <a:gridCol w="2618768"/>
                <a:gridCol w="4801075"/>
                <a:gridCol w="3491691"/>
              </a:tblGrid>
              <a:tr h="807720">
                <a:tc>
                  <a:txBody>
                    <a:bodyPr wrap="square"/>
                    <a:lstStyle/>
                    <a:p>
                      <a:r>
                        <a:rPr sz="1300" b="1" i="0">
                          <a:solidFill>
                            <a:srgbClr val="FFFFFF"/>
                          </a:solidFill>
                          <a:latin typeface="Calibri"/>
                        </a:rPr>
                        <a:t>Barrier</a:t>
                      </a:r>
                    </a:p>
                  </a:txBody>
                  <a:tcPr anchor="ctr">
                    <a:solidFill>
                      <a:srgbClr val="2A78D6"/>
                    </a:solidFill>
                  </a:tcPr>
                </a:tc>
                <a:tc>
                  <a:txBody>
                    <a:bodyPr wrap="square"/>
                    <a:lstStyle/>
                    <a:p>
                      <a:r>
                        <a:rPr sz="1300" b="1" i="0">
                          <a:solidFill>
                            <a:srgbClr val="FFFFFF"/>
                          </a:solidFill>
                          <a:latin typeface="Calibri"/>
                        </a:rPr>
                        <a:t>What it requires</a:t>
                      </a:r>
                    </a:p>
                  </a:txBody>
                  <a:tcPr anchor="ctr">
                    <a:solidFill>
                      <a:srgbClr val="2A78D6"/>
                    </a:solidFill>
                  </a:tcPr>
                </a:tc>
                <a:tc>
                  <a:txBody>
                    <a:bodyPr wrap="square"/>
                    <a:lstStyle/>
                    <a:p>
                      <a:r>
                        <a:rPr sz="1300" b="1" i="0">
                          <a:solidFill>
                            <a:srgbClr val="FFFFFF"/>
                          </a:solidFill>
                          <a:latin typeface="Calibri"/>
                        </a:rPr>
                        <a:t>What that means in practice</a:t>
                      </a:r>
                    </a:p>
                  </a:txBody>
                  <a:tcPr anchor="ctr">
                    <a:solidFill>
                      <a:srgbClr val="2A78D6"/>
                    </a:solidFill>
                  </a:tcPr>
                </a:tc>
              </a:tr>
              <a:tr h="807720">
                <a:tc>
                  <a:txBody>
                    <a:bodyPr wrap="square"/>
                    <a:lstStyle/>
                    <a:p>
                      <a:r>
                        <a:rPr sz="1300" b="0" i="0">
                          <a:solidFill>
                            <a:srgbClr val="1A1A1A"/>
                          </a:solidFill>
                          <a:latin typeface="Calibri"/>
                        </a:rPr>
                        <a:t>Ethics review</a:t>
                      </a:r>
                    </a:p>
                  </a:txBody>
                  <a:tcPr anchor="ctr">
                    <a:solidFill>
                      <a:srgbClr val="FFFFFF"/>
                    </a:solidFill>
                  </a:tcPr>
                </a:tc>
                <a:tc>
                  <a:txBody>
                    <a:bodyPr wrap="square"/>
                    <a:lstStyle/>
                    <a:p>
                      <a:r>
                        <a:rPr sz="1300" b="0" i="0">
                          <a:solidFill>
                            <a:srgbClr val="1A1A1A"/>
                          </a:solidFill>
                          <a:latin typeface="Calibri"/>
                        </a:rPr>
                        <a:t>Formal review or a documented exemption for nearly any use of patient records</a:t>
                      </a:r>
                    </a:p>
                  </a:txBody>
                  <a:tcPr anchor="ctr">
                    <a:solidFill>
                      <a:srgbClr val="FFFFFF"/>
                    </a:solidFill>
                  </a:tcPr>
                </a:tc>
                <a:tc>
                  <a:txBody>
                    <a:bodyPr wrap="square"/>
                    <a:lstStyle/>
                    <a:p>
                      <a:r>
                        <a:rPr sz="1300" b="0" i="0">
                          <a:solidFill>
                            <a:srgbClr val="1A1A1A"/>
                          </a:solidFill>
                          <a:latin typeface="Calibri"/>
                        </a:rPr>
                        <a:t>Weeks to months, repeated at every hospital involved</a:t>
                      </a:r>
                    </a:p>
                  </a:txBody>
                  <a:tcPr anchor="ctr">
                    <a:solidFill>
                      <a:srgbClr val="FFFFFF"/>
                    </a:solidFill>
                  </a:tcPr>
                </a:tc>
              </a:tr>
              <a:tr h="807720">
                <a:tc>
                  <a:txBody>
                    <a:bodyPr wrap="square"/>
                    <a:lstStyle/>
                    <a:p>
                      <a:r>
                        <a:rPr sz="1300" b="0" i="0">
                          <a:solidFill>
                            <a:srgbClr val="1A1A1A"/>
                          </a:solidFill>
                          <a:latin typeface="Calibri"/>
                        </a:rPr>
                        <a:t>Privacy protections</a:t>
                      </a:r>
                    </a:p>
                  </a:txBody>
                  <a:tcPr anchor="ctr">
                    <a:solidFill>
                      <a:srgbClr val="F0F4FA"/>
                    </a:solidFill>
                  </a:tcPr>
                </a:tc>
                <a:tc>
                  <a:txBody>
                    <a:bodyPr wrap="square"/>
                    <a:lstStyle/>
                    <a:p>
                      <a:r>
                        <a:rPr sz="1300" b="0" i="0">
                          <a:solidFill>
                            <a:srgbClr val="1A1A1A"/>
                          </a:solidFill>
                          <a:latin typeface="Calibri"/>
                        </a:rPr>
                        <a:t>Careful, expert-verified removal of identifying details</a:t>
                      </a:r>
                    </a:p>
                  </a:txBody>
                  <a:tcPr anchor="ctr">
                    <a:solidFill>
                      <a:srgbClr val="F0F4FA"/>
                    </a:solidFill>
                  </a:tcPr>
                </a:tc>
                <a:tc>
                  <a:txBody>
                    <a:bodyPr wrap="square"/>
                    <a:lstStyle/>
                    <a:p>
                      <a:r>
                        <a:rPr sz="1300" b="0" i="0">
                          <a:solidFill>
                            <a:srgbClr val="1A1A1A"/>
                          </a:solidFill>
                          <a:latin typeface="Calibri"/>
                        </a:rPr>
                        <a:t>Requires dedicated specialized expertise</a:t>
                      </a:r>
                    </a:p>
                  </a:txBody>
                  <a:tcPr anchor="ctr">
                    <a:solidFill>
                      <a:srgbClr val="F0F4FA"/>
                    </a:solidFill>
                  </a:tcPr>
                </a:tc>
              </a:tr>
              <a:tr h="807720">
                <a:tc>
                  <a:txBody>
                    <a:bodyPr wrap="square"/>
                    <a:lstStyle/>
                    <a:p>
                      <a:r>
                        <a:rPr sz="1300" b="0" i="0">
                          <a:solidFill>
                            <a:srgbClr val="1A1A1A"/>
                          </a:solidFill>
                          <a:latin typeface="Calibri"/>
                        </a:rPr>
                        <a:t>Data-sharing agreements</a:t>
                      </a:r>
                    </a:p>
                  </a:txBody>
                  <a:tcPr anchor="ctr">
                    <a:solidFill>
                      <a:srgbClr val="FFFFFF"/>
                    </a:solidFill>
                  </a:tcPr>
                </a:tc>
                <a:tc>
                  <a:txBody>
                    <a:bodyPr wrap="square"/>
                    <a:lstStyle/>
                    <a:p>
                      <a:r>
                        <a:rPr sz="1300" b="0" i="0">
                          <a:solidFill>
                            <a:srgbClr val="1A1A1A"/>
                          </a:solidFill>
                          <a:latin typeface="Calibri"/>
                        </a:rPr>
                        <a:t>A negotiated legal contract between every pair of institutions sharing data</a:t>
                      </a:r>
                    </a:p>
                  </a:txBody>
                  <a:tcPr anchor="ctr">
                    <a:solidFill>
                      <a:srgbClr val="FFFFFF"/>
                    </a:solidFill>
                  </a:tcPr>
                </a:tc>
                <a:tc>
                  <a:txBody>
                    <a:bodyPr wrap="square"/>
                    <a:lstStyle/>
                    <a:p>
                      <a:r>
                        <a:rPr sz="1300" b="0" i="0">
                          <a:solidFill>
                            <a:srgbClr val="1A1A1A"/>
                          </a:solidFill>
                          <a:latin typeface="Calibri"/>
                        </a:rPr>
                        <a:t>Gets harder roughly by the square of how many hospitals are involved</a:t>
                      </a:r>
                    </a:p>
                  </a:txBody>
                  <a:tcPr anchor="ctr">
                    <a:solidFill>
                      <a:srgbClr val="FFFFFF"/>
                    </a:solidFill>
                  </a:tcPr>
                </a:tc>
              </a:tr>
              <a:tr h="807720">
                <a:tc>
                  <a:txBody>
                    <a:bodyPr wrap="square"/>
                    <a:lstStyle/>
                    <a:p>
                      <a:r>
                        <a:rPr sz="1300" b="0" i="0">
                          <a:solidFill>
                            <a:srgbClr val="1A1A1A"/>
                          </a:solidFill>
                          <a:latin typeface="Calibri"/>
                        </a:rPr>
                        <a:t>Access credentialing</a:t>
                      </a:r>
                    </a:p>
                  </a:txBody>
                  <a:tcPr anchor="ctr">
                    <a:solidFill>
                      <a:srgbClr val="F0F4FA"/>
                    </a:solidFill>
                  </a:tcPr>
                </a:tc>
                <a:tc>
                  <a:txBody>
                    <a:bodyPr wrap="square"/>
                    <a:lstStyle/>
                    <a:p>
                      <a:r>
                        <a:rPr sz="1300" b="0" i="0">
                          <a:solidFill>
                            <a:srgbClr val="1A1A1A"/>
                          </a:solidFill>
                          <a:latin typeface="Calibri"/>
                        </a:rPr>
                        <a:t>Signed agreement plus required training, per individual researcher</a:t>
                      </a:r>
                    </a:p>
                  </a:txBody>
                  <a:tcPr anchor="ctr">
                    <a:solidFill>
                      <a:srgbClr val="F0F4FA"/>
                    </a:solidFill>
                  </a:tcPr>
                </a:tc>
                <a:tc>
                  <a:txBody>
                    <a:bodyPr wrap="square"/>
                    <a:lstStyle/>
                    <a:p>
                      <a:r>
                        <a:rPr sz="1300" b="0" i="0">
                          <a:solidFill>
                            <a:srgbClr val="1A1A1A"/>
                          </a:solidFill>
                          <a:latin typeface="Calibri"/>
                        </a:rPr>
                        <a:t>Days to weeks, and has to be renewed periodically</a:t>
                      </a:r>
                    </a:p>
                  </a:txBody>
                  <a:tcPr anchor="ctr">
                    <a:solidFill>
                      <a:srgbClr val="F0F4FA"/>
                    </a:solidFill>
                  </a:tcPr>
                </a:tc>
              </a:tr>
              <a:tr h="807720">
                <a:tc>
                  <a:txBody>
                    <a:bodyPr wrap="square"/>
                    <a:lstStyle/>
                    <a:p>
                      <a:r>
                        <a:rPr sz="1300" b="0" i="0">
                          <a:solidFill>
                            <a:srgbClr val="1A1A1A"/>
                          </a:solidFill>
                          <a:latin typeface="Calibri"/>
                        </a:rPr>
                        <a:t>Net effect</a:t>
                      </a:r>
                    </a:p>
                  </a:txBody>
                  <a:tcPr anchor="ctr">
                    <a:solidFill>
                      <a:srgbClr val="FFFFFF"/>
                    </a:solidFill>
                  </a:tcPr>
                </a:tc>
                <a:tc>
                  <a:txBody>
                    <a:bodyPr wrap="square"/>
                    <a:lstStyle/>
                    <a:p>
                      <a:r>
                        <a:rPr sz="1300" b="0" i="0">
                          <a:solidFill>
                            <a:srgbClr val="1A1A1A"/>
                          </a:solidFill>
                          <a:latin typeface="Calibri"/>
                        </a:rPr>
                        <a:t>Most clinical data never becomes a public, freely reusable research dataset</a:t>
                      </a:r>
                    </a:p>
                  </a:txBody>
                  <a:tcPr anchor="ctr">
                    <a:solidFill>
                      <a:srgbClr val="FFFFFF"/>
                    </a:solidFill>
                  </a:tcPr>
                </a:tc>
                <a:tc>
                  <a:txBody>
                    <a:bodyPr wrap="square"/>
                    <a:lstStyle/>
                    <a:p>
                      <a:r>
                        <a:rPr sz="1300" b="0" i="0">
                          <a:solidFill>
                            <a:srgbClr val="1A1A1A"/>
                          </a:solidFill>
                          <a:latin typeface="Calibri"/>
                        </a:rPr>
                        <a:t>Federated learning becomes close to a practical necessity, not a preference</a:t>
                      </a:r>
                    </a:p>
                  </a:txBody>
                  <a:tcPr anchor="ctr">
                    <a:solidFill>
                      <a:srgbClr val="FFFFFF"/>
                    </a:solidFill>
                  </a:tcPr>
                </a:tc>
              </a:tr>
            </a:tbl>
          </a:graphicData>
        </a:graphic>
      </p:graphicFrame>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Real Clinical Data</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5</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Our Dataset</a:t>
            </a:r>
          </a:p>
          <a:p>
            <a:r>
              <a:rPr sz="1500" b="0" i="1">
                <a:solidFill>
                  <a:srgbClr val="CDDCEF"/>
                </a:solidFill>
                <a:latin typeface="Calibri"/>
              </a:rPr>
              <a:t>The UCI Heart Disease Federation</a:t>
            </a:r>
          </a:p>
          <a:p>
            <a:pPr>
              <a:spcBef>
                <a:spcPts val="1400"/>
              </a:spcBef>
            </a:pPr>
            <a:r>
              <a:rPr sz="1300" b="1" i="0">
                <a:solidFill>
                  <a:srgbClr val="FFD67E"/>
                </a:solidFill>
                <a:latin typeface="Calibri"/>
              </a:rPr>
              <a:t>HANDS-ON: notebooks 00, 01</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Why this particular dataset</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Four real, independent hospitals all filled out the exact same intake form — so the data genuinely can move between them cleanly.</a:t>
            </a:r>
          </a:p>
          <a:p>
            <a:pPr>
              <a:spcAft>
                <a:spcPts val="1200"/>
              </a:spcAft>
            </a:pPr>
            <a:r>
              <a:rPr sz="1800" b="1" i="0">
                <a:solidFill>
                  <a:srgbClr val="2A78D6"/>
                </a:solidFill>
                <a:latin typeface="Calibri"/>
              </a:rPr>
              <a:t>▪  </a:t>
            </a:r>
            <a:r>
              <a:rPr sz="1800" b="0" i="0">
                <a:solidFill>
                  <a:srgbClr val="1A1A1A"/>
                </a:solidFill>
                <a:latin typeface="Calibri"/>
              </a:rPr>
              <a:t>And yet, underneath that shared form, the four hospitals' patients and practices differ in ways that genuinely matter.</a:t>
            </a:r>
          </a:p>
          <a:p>
            <a:pPr>
              <a:spcAft>
                <a:spcPts val="1200"/>
              </a:spcAft>
            </a:pPr>
            <a:r>
              <a:rPr sz="1800" b="1" i="0">
                <a:solidFill>
                  <a:srgbClr val="2A78D6"/>
                </a:solidFill>
                <a:latin typeface="Calibri"/>
              </a:rPr>
              <a:t>▪  </a:t>
            </a:r>
            <a:r>
              <a:rPr sz="1800" b="0" i="0">
                <a:solidFill>
                  <a:srgbClr val="1A1A1A"/>
                </a:solidFill>
                <a:latin typeface="Calibri"/>
              </a:rPr>
              <a:t>Every difference shown in this section is a real effect actually present in the data — nothing here was constructed or exaggerated to make a point.</a:t>
            </a:r>
          </a:p>
          <a:p>
            <a:pPr>
              <a:spcAft>
                <a:spcPts val="1200"/>
              </a:spcAft>
            </a:pPr>
            <a:r>
              <a:rPr sz="1800" b="1" i="0">
                <a:solidFill>
                  <a:srgbClr val="2A78D6"/>
                </a:solidFill>
                <a:latin typeface="Calibri"/>
              </a:rPr>
              <a:t>▪  </a:t>
            </a:r>
            <a:r>
              <a:rPr sz="1800" b="0" i="0">
                <a:solidFill>
                  <a:srgbClr val="1A1A1A"/>
                </a:solidFill>
                <a:latin typeface="Calibri"/>
              </a:rPr>
              <a:t>It carries none of the access barriers just described in Section 4 — open, free to use, and properly citable.</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Variable dictionary (UCI Heart Disease, ID 45)</a:t>
            </a:r>
          </a:p>
        </p:txBody>
      </p:sp>
      <p:graphicFrame>
        <p:nvGraphicFramePr>
          <p:cNvPr id="5" name="Table 4"/>
          <p:cNvGraphicFramePr>
            <a:graphicFrameLocks noGrp="1"/>
          </p:cNvGraphicFramePr>
          <p:nvPr/>
        </p:nvGraphicFramePr>
        <p:xfrm>
          <a:off x="640080" y="1508760"/>
          <a:ext cx="10911532" cy="4434840"/>
        </p:xfrm>
        <a:graphic>
          <a:graphicData uri="http://schemas.openxmlformats.org/drawingml/2006/table">
            <a:tbl>
              <a:tblPr firstRow="1" bandRow="1">
                <a:tableStyleId>{5C22544A-7EE6-4342-B048-85BDC9FD1C3A}</a:tableStyleId>
              </a:tblPr>
              <a:tblGrid>
                <a:gridCol w="1395661"/>
                <a:gridCol w="1141904"/>
                <a:gridCol w="1395661"/>
                <a:gridCol w="4567619"/>
                <a:gridCol w="1141904"/>
                <a:gridCol w="1268783"/>
              </a:tblGrid>
              <a:tr h="295656">
                <a:tc>
                  <a:txBody>
                    <a:bodyPr wrap="square"/>
                    <a:lstStyle/>
                    <a:p>
                      <a:r>
                        <a:rPr sz="1200" b="1" i="0">
                          <a:solidFill>
                            <a:srgbClr val="FFFFFF"/>
                          </a:solidFill>
                          <a:latin typeface="Calibri"/>
                        </a:rPr>
                        <a:t>Variable</a:t>
                      </a:r>
                    </a:p>
                  </a:txBody>
                  <a:tcPr anchor="ctr">
                    <a:solidFill>
                      <a:srgbClr val="2A78D6"/>
                    </a:solidFill>
                  </a:tcPr>
                </a:tc>
                <a:tc>
                  <a:txBody>
                    <a:bodyPr wrap="square"/>
                    <a:lstStyle/>
                    <a:p>
                      <a:r>
                        <a:rPr sz="1200" b="1" i="0">
                          <a:solidFill>
                            <a:srgbClr val="FFFFFF"/>
                          </a:solidFill>
                          <a:latin typeface="Calibri"/>
                        </a:rPr>
                        <a:t>Role</a:t>
                      </a:r>
                    </a:p>
                  </a:txBody>
                  <a:tcPr anchor="ctr">
                    <a:solidFill>
                      <a:srgbClr val="2A78D6"/>
                    </a:solidFill>
                  </a:tcPr>
                </a:tc>
                <a:tc>
                  <a:txBody>
                    <a:bodyPr wrap="square"/>
                    <a:lstStyle/>
                    <a:p>
                      <a:r>
                        <a:rPr sz="1200" b="1" i="0">
                          <a:solidFill>
                            <a:srgbClr val="FFFFFF"/>
                          </a:solidFill>
                          <a:latin typeface="Calibri"/>
                        </a:rPr>
                        <a:t>Type</a:t>
                      </a:r>
                    </a:p>
                  </a:txBody>
                  <a:tcPr anchor="ctr">
                    <a:solidFill>
                      <a:srgbClr val="2A78D6"/>
                    </a:solidFill>
                  </a:tcPr>
                </a:tc>
                <a:tc>
                  <a:txBody>
                    <a:bodyPr wrap="square"/>
                    <a:lstStyle/>
                    <a:p>
                      <a:r>
                        <a:rPr sz="1200" b="1" i="0">
                          <a:solidFill>
                            <a:srgbClr val="FFFFFF"/>
                          </a:solidFill>
                          <a:latin typeface="Calibri"/>
                        </a:rPr>
                        <a:t>Description</a:t>
                      </a:r>
                    </a:p>
                  </a:txBody>
                  <a:tcPr anchor="ctr">
                    <a:solidFill>
                      <a:srgbClr val="2A78D6"/>
                    </a:solidFill>
                  </a:tcPr>
                </a:tc>
                <a:tc>
                  <a:txBody>
                    <a:bodyPr wrap="square"/>
                    <a:lstStyle/>
                    <a:p>
                      <a:r>
                        <a:rPr sz="1200" b="1" i="0">
                          <a:solidFill>
                            <a:srgbClr val="FFFFFF"/>
                          </a:solidFill>
                          <a:latin typeface="Calibri"/>
                        </a:rPr>
                        <a:t>Units</a:t>
                      </a:r>
                    </a:p>
                  </a:txBody>
                  <a:tcPr anchor="ctr">
                    <a:solidFill>
                      <a:srgbClr val="2A78D6"/>
                    </a:solidFill>
                  </a:tcPr>
                </a:tc>
                <a:tc>
                  <a:txBody>
                    <a:bodyPr wrap="square"/>
                    <a:lstStyle/>
                    <a:p>
                      <a:r>
                        <a:rPr sz="1200" b="1" i="0">
                          <a:solidFill>
                            <a:srgbClr val="FFFFFF"/>
                          </a:solidFill>
                          <a:latin typeface="Calibri"/>
                        </a:rPr>
                        <a:t>Missing</a:t>
                      </a:r>
                    </a:p>
                  </a:txBody>
                  <a:tcPr anchor="ctr">
                    <a:solidFill>
                      <a:srgbClr val="2A78D6"/>
                    </a:solidFill>
                  </a:tcPr>
                </a:tc>
              </a:tr>
              <a:tr h="295656">
                <a:tc>
                  <a:txBody>
                    <a:bodyPr wrap="square"/>
                    <a:lstStyle/>
                    <a:p>
                      <a:r>
                        <a:rPr sz="1100" b="0" i="0">
                          <a:solidFill>
                            <a:srgbClr val="1A1A1A"/>
                          </a:solidFill>
                          <a:latin typeface="Calibri"/>
                        </a:rPr>
                        <a:t>age</a:t>
                      </a:r>
                    </a:p>
                  </a:txBody>
                  <a:tcPr anchor="ctr">
                    <a:solidFill>
                      <a:srgbClr val="FFFFFF"/>
                    </a:solidFill>
                  </a:tcPr>
                </a:tc>
                <a:tc>
                  <a:txBody>
                    <a:bodyPr wrap="square"/>
                    <a:lstStyle/>
                    <a:p>
                      <a:r>
                        <a:rPr sz="1100" b="0" i="0">
                          <a:solidFill>
                            <a:srgbClr val="1A1A1A"/>
                          </a:solidFill>
                          <a:latin typeface="Calibri"/>
                        </a:rPr>
                        <a:t>Feature</a:t>
                      </a:r>
                    </a:p>
                  </a:txBody>
                  <a:tcPr anchor="ctr">
                    <a:solidFill>
                      <a:srgbClr val="FFFFFF"/>
                    </a:solidFill>
                  </a:tcPr>
                </a:tc>
                <a:tc>
                  <a:txBody>
                    <a:bodyPr wrap="square"/>
                    <a:lstStyle/>
                    <a:p>
                      <a:r>
                        <a:rPr sz="1100" b="0" i="0">
                          <a:solidFill>
                            <a:srgbClr val="1A1A1A"/>
                          </a:solidFill>
                          <a:latin typeface="Calibri"/>
                        </a:rPr>
                        <a:t>Integer</a:t>
                      </a:r>
                    </a:p>
                  </a:txBody>
                  <a:tcPr anchor="ctr">
                    <a:solidFill>
                      <a:srgbClr val="FFFFFF"/>
                    </a:solidFill>
                  </a:tcPr>
                </a:tc>
                <a:tc>
                  <a:txBody>
                    <a:bodyPr wrap="square"/>
                    <a:lstStyle/>
                    <a:p>
                      <a:r>
                        <a:rPr sz="1100" b="0" i="0">
                          <a:solidFill>
                            <a:srgbClr val="1A1A1A"/>
                          </a:solidFill>
                          <a:latin typeface="Calibri"/>
                        </a:rPr>
                        <a:t>Age of the patient</a:t>
                      </a:r>
                    </a:p>
                  </a:txBody>
                  <a:tcPr anchor="ctr">
                    <a:solidFill>
                      <a:srgbClr val="FFFFFF"/>
                    </a:solidFill>
                  </a:tcPr>
                </a:tc>
                <a:tc>
                  <a:txBody>
                    <a:bodyPr wrap="square"/>
                    <a:lstStyle/>
                    <a:p>
                      <a:r>
                        <a:rPr sz="1100" b="0" i="0">
                          <a:solidFill>
                            <a:srgbClr val="1A1A1A"/>
                          </a:solidFill>
                          <a:latin typeface="Calibri"/>
                        </a:rPr>
                        <a:t>years</a:t>
                      </a:r>
                    </a:p>
                  </a:txBody>
                  <a:tcPr anchor="ctr">
                    <a:solidFill>
                      <a:srgbClr val="FFFFFF"/>
                    </a:solidFill>
                  </a:tcPr>
                </a:tc>
                <a:tc>
                  <a:txBody>
                    <a:bodyPr wrap="square"/>
                    <a:lstStyle/>
                    <a:p>
                      <a:r>
                        <a:rPr sz="1100" b="0" i="0">
                          <a:solidFill>
                            <a:srgbClr val="1A1A1A"/>
                          </a:solidFill>
                          <a:latin typeface="Calibri"/>
                        </a:rPr>
                        <a:t>no</a:t>
                      </a:r>
                    </a:p>
                  </a:txBody>
                  <a:tcPr anchor="ctr">
                    <a:solidFill>
                      <a:srgbClr val="FFFFFF"/>
                    </a:solidFill>
                  </a:tcPr>
                </a:tc>
              </a:tr>
              <a:tr h="295656">
                <a:tc>
                  <a:txBody>
                    <a:bodyPr wrap="square"/>
                    <a:lstStyle/>
                    <a:p>
                      <a:r>
                        <a:rPr sz="1100" b="0" i="0">
                          <a:solidFill>
                            <a:srgbClr val="1A1A1A"/>
                          </a:solidFill>
                          <a:latin typeface="Calibri"/>
                        </a:rPr>
                        <a:t>sex</a:t>
                      </a:r>
                    </a:p>
                  </a:txBody>
                  <a:tcPr anchor="ctr">
                    <a:solidFill>
                      <a:srgbClr val="F0F4FA"/>
                    </a:solidFill>
                  </a:tcPr>
                </a:tc>
                <a:tc>
                  <a:txBody>
                    <a:bodyPr wrap="square"/>
                    <a:lstStyle/>
                    <a:p>
                      <a:r>
                        <a:rPr sz="1100" b="0" i="0">
                          <a:solidFill>
                            <a:srgbClr val="1A1A1A"/>
                          </a:solidFill>
                          <a:latin typeface="Calibri"/>
                        </a:rPr>
                        <a:t>Feature</a:t>
                      </a:r>
                    </a:p>
                  </a:txBody>
                  <a:tcPr anchor="ctr">
                    <a:solidFill>
                      <a:srgbClr val="F0F4FA"/>
                    </a:solidFill>
                  </a:tcPr>
                </a:tc>
                <a:tc>
                  <a:txBody>
                    <a:bodyPr wrap="square"/>
                    <a:lstStyle/>
                    <a:p>
                      <a:r>
                        <a:rPr sz="1100" b="0" i="0">
                          <a:solidFill>
                            <a:srgbClr val="1A1A1A"/>
                          </a:solidFill>
                          <a:latin typeface="Calibri"/>
                        </a:rPr>
                        <a:t>Categorical</a:t>
                      </a:r>
                    </a:p>
                  </a:txBody>
                  <a:tcPr anchor="ctr">
                    <a:solidFill>
                      <a:srgbClr val="F0F4FA"/>
                    </a:solidFill>
                  </a:tcPr>
                </a:tc>
                <a:tc>
                  <a:txBody>
                    <a:bodyPr wrap="square"/>
                    <a:lstStyle/>
                    <a:p>
                      <a:r>
                        <a:rPr sz="1100" b="0" i="0">
                          <a:solidFill>
                            <a:srgbClr val="1A1A1A"/>
                          </a:solidFill>
                          <a:latin typeface="Calibri"/>
                        </a:rPr>
                        <a:t>Sex of the patient</a:t>
                      </a:r>
                    </a:p>
                  </a:txBody>
                  <a:tcPr anchor="ctr">
                    <a:solidFill>
                      <a:srgbClr val="F0F4FA"/>
                    </a:solidFill>
                  </a:tcPr>
                </a:tc>
                <a:tc>
                  <a:txBody>
                    <a:bodyPr wrap="square"/>
                    <a:lstStyle/>
                    <a:p>
                      <a:r>
                        <a:rPr sz="1100" b="0" i="0">
                          <a:solidFill>
                            <a:srgbClr val="1A1A1A"/>
                          </a:solidFill>
                          <a:latin typeface="Calibri"/>
                        </a:rPr>
                        <a:t>–</a:t>
                      </a:r>
                    </a:p>
                  </a:txBody>
                  <a:tcPr anchor="ctr">
                    <a:solidFill>
                      <a:srgbClr val="F0F4FA"/>
                    </a:solidFill>
                  </a:tcPr>
                </a:tc>
                <a:tc>
                  <a:txBody>
                    <a:bodyPr wrap="square"/>
                    <a:lstStyle/>
                    <a:p>
                      <a:r>
                        <a:rPr sz="1100" b="0" i="0">
                          <a:solidFill>
                            <a:srgbClr val="1A1A1A"/>
                          </a:solidFill>
                          <a:latin typeface="Calibri"/>
                        </a:rPr>
                        <a:t>no</a:t>
                      </a:r>
                    </a:p>
                  </a:txBody>
                  <a:tcPr anchor="ctr">
                    <a:solidFill>
                      <a:srgbClr val="F0F4FA"/>
                    </a:solidFill>
                  </a:tcPr>
                </a:tc>
              </a:tr>
              <a:tr h="295656">
                <a:tc>
                  <a:txBody>
                    <a:bodyPr wrap="square"/>
                    <a:lstStyle/>
                    <a:p>
                      <a:r>
                        <a:rPr sz="1100" b="0" i="0">
                          <a:solidFill>
                            <a:srgbClr val="1A1A1A"/>
                          </a:solidFill>
                          <a:latin typeface="Calibri"/>
                        </a:rPr>
                        <a:t>cp</a:t>
                      </a:r>
                    </a:p>
                  </a:txBody>
                  <a:tcPr anchor="ctr">
                    <a:solidFill>
                      <a:srgbClr val="FFFFFF"/>
                    </a:solidFill>
                  </a:tcPr>
                </a:tc>
                <a:tc>
                  <a:txBody>
                    <a:bodyPr wrap="square"/>
                    <a:lstStyle/>
                    <a:p>
                      <a:r>
                        <a:rPr sz="1100" b="0" i="0">
                          <a:solidFill>
                            <a:srgbClr val="1A1A1A"/>
                          </a:solidFill>
                          <a:latin typeface="Calibri"/>
                        </a:rPr>
                        <a:t>Feature</a:t>
                      </a:r>
                    </a:p>
                  </a:txBody>
                  <a:tcPr anchor="ctr">
                    <a:solidFill>
                      <a:srgbClr val="FFFFFF"/>
                    </a:solidFill>
                  </a:tcPr>
                </a:tc>
                <a:tc>
                  <a:txBody>
                    <a:bodyPr wrap="square"/>
                    <a:lstStyle/>
                    <a:p>
                      <a:r>
                        <a:rPr sz="1100" b="0" i="0">
                          <a:solidFill>
                            <a:srgbClr val="1A1A1A"/>
                          </a:solidFill>
                          <a:latin typeface="Calibri"/>
                        </a:rPr>
                        <a:t>Categorical</a:t>
                      </a:r>
                    </a:p>
                  </a:txBody>
                  <a:tcPr anchor="ctr">
                    <a:solidFill>
                      <a:srgbClr val="FFFFFF"/>
                    </a:solidFill>
                  </a:tcPr>
                </a:tc>
                <a:tc>
                  <a:txBody>
                    <a:bodyPr wrap="square"/>
                    <a:lstStyle/>
                    <a:p>
                      <a:r>
                        <a:rPr sz="1100" b="0" i="0">
                          <a:solidFill>
                            <a:srgbClr val="1A1A1A"/>
                          </a:solidFill>
                          <a:latin typeface="Calibri"/>
                        </a:rPr>
                        <a:t>Chest pain type</a:t>
                      </a:r>
                    </a:p>
                  </a:txBody>
                  <a:tcPr anchor="ctr">
                    <a:solidFill>
                      <a:srgbClr val="FFFFFF"/>
                    </a:solidFill>
                  </a:tcPr>
                </a:tc>
                <a:tc>
                  <a:txBody>
                    <a:bodyPr wrap="square"/>
                    <a:lstStyle/>
                    <a:p>
                      <a:r>
                        <a:rPr sz="1100" b="0" i="0">
                          <a:solidFill>
                            <a:srgbClr val="1A1A1A"/>
                          </a:solidFill>
                          <a:latin typeface="Calibri"/>
                        </a:rPr>
                        <a:t>–</a:t>
                      </a:r>
                    </a:p>
                  </a:txBody>
                  <a:tcPr anchor="ctr">
                    <a:solidFill>
                      <a:srgbClr val="FFFFFF"/>
                    </a:solidFill>
                  </a:tcPr>
                </a:tc>
                <a:tc>
                  <a:txBody>
                    <a:bodyPr wrap="square"/>
                    <a:lstStyle/>
                    <a:p>
                      <a:r>
                        <a:rPr sz="1100" b="0" i="0">
                          <a:solidFill>
                            <a:srgbClr val="1A1A1A"/>
                          </a:solidFill>
                          <a:latin typeface="Calibri"/>
                        </a:rPr>
                        <a:t>no</a:t>
                      </a:r>
                    </a:p>
                  </a:txBody>
                  <a:tcPr anchor="ctr">
                    <a:solidFill>
                      <a:srgbClr val="FFFFFF"/>
                    </a:solidFill>
                  </a:tcPr>
                </a:tc>
              </a:tr>
              <a:tr h="295656">
                <a:tc>
                  <a:txBody>
                    <a:bodyPr wrap="square"/>
                    <a:lstStyle/>
                    <a:p>
                      <a:r>
                        <a:rPr sz="1100" b="0" i="0">
                          <a:solidFill>
                            <a:srgbClr val="1A1A1A"/>
                          </a:solidFill>
                          <a:latin typeface="Calibri"/>
                        </a:rPr>
                        <a:t>trestbps</a:t>
                      </a:r>
                    </a:p>
                  </a:txBody>
                  <a:tcPr anchor="ctr">
                    <a:solidFill>
                      <a:srgbClr val="F0F4FA"/>
                    </a:solidFill>
                  </a:tcPr>
                </a:tc>
                <a:tc>
                  <a:txBody>
                    <a:bodyPr wrap="square"/>
                    <a:lstStyle/>
                    <a:p>
                      <a:r>
                        <a:rPr sz="1100" b="0" i="0">
                          <a:solidFill>
                            <a:srgbClr val="1A1A1A"/>
                          </a:solidFill>
                          <a:latin typeface="Calibri"/>
                        </a:rPr>
                        <a:t>Feature</a:t>
                      </a:r>
                    </a:p>
                  </a:txBody>
                  <a:tcPr anchor="ctr">
                    <a:solidFill>
                      <a:srgbClr val="F0F4FA"/>
                    </a:solidFill>
                  </a:tcPr>
                </a:tc>
                <a:tc>
                  <a:txBody>
                    <a:bodyPr wrap="square"/>
                    <a:lstStyle/>
                    <a:p>
                      <a:r>
                        <a:rPr sz="1100" b="0" i="0">
                          <a:solidFill>
                            <a:srgbClr val="1A1A1A"/>
                          </a:solidFill>
                          <a:latin typeface="Calibri"/>
                        </a:rPr>
                        <a:t>Integer</a:t>
                      </a:r>
                    </a:p>
                  </a:txBody>
                  <a:tcPr anchor="ctr">
                    <a:solidFill>
                      <a:srgbClr val="F0F4FA"/>
                    </a:solidFill>
                  </a:tcPr>
                </a:tc>
                <a:tc>
                  <a:txBody>
                    <a:bodyPr wrap="square"/>
                    <a:lstStyle/>
                    <a:p>
                      <a:r>
                        <a:rPr sz="1100" b="0" i="0">
                          <a:solidFill>
                            <a:srgbClr val="1A1A1A"/>
                          </a:solidFill>
                          <a:latin typeface="Calibri"/>
                        </a:rPr>
                        <a:t>Resting blood pressure (on admission)</a:t>
                      </a:r>
                    </a:p>
                  </a:txBody>
                  <a:tcPr anchor="ctr">
                    <a:solidFill>
                      <a:srgbClr val="F0F4FA"/>
                    </a:solidFill>
                  </a:tcPr>
                </a:tc>
                <a:tc>
                  <a:txBody>
                    <a:bodyPr wrap="square"/>
                    <a:lstStyle/>
                    <a:p>
                      <a:r>
                        <a:rPr sz="1100" b="0" i="0">
                          <a:solidFill>
                            <a:srgbClr val="1A1A1A"/>
                          </a:solidFill>
                          <a:latin typeface="Calibri"/>
                        </a:rPr>
                        <a:t>mm Hg</a:t>
                      </a:r>
                    </a:p>
                  </a:txBody>
                  <a:tcPr anchor="ctr">
                    <a:solidFill>
                      <a:srgbClr val="F0F4FA"/>
                    </a:solidFill>
                  </a:tcPr>
                </a:tc>
                <a:tc>
                  <a:txBody>
                    <a:bodyPr wrap="square"/>
                    <a:lstStyle/>
                    <a:p>
                      <a:r>
                        <a:rPr sz="1100" b="0" i="0">
                          <a:solidFill>
                            <a:srgbClr val="1A1A1A"/>
                          </a:solidFill>
                          <a:latin typeface="Calibri"/>
                        </a:rPr>
                        <a:t>no</a:t>
                      </a:r>
                    </a:p>
                  </a:txBody>
                  <a:tcPr anchor="ctr">
                    <a:solidFill>
                      <a:srgbClr val="F0F4FA"/>
                    </a:solidFill>
                  </a:tcPr>
                </a:tc>
              </a:tr>
              <a:tr h="295656">
                <a:tc>
                  <a:txBody>
                    <a:bodyPr wrap="square"/>
                    <a:lstStyle/>
                    <a:p>
                      <a:r>
                        <a:rPr sz="1100" b="0" i="0">
                          <a:solidFill>
                            <a:srgbClr val="1A1A1A"/>
                          </a:solidFill>
                          <a:latin typeface="Calibri"/>
                        </a:rPr>
                        <a:t>chol</a:t>
                      </a:r>
                    </a:p>
                  </a:txBody>
                  <a:tcPr anchor="ctr">
                    <a:solidFill>
                      <a:srgbClr val="FFFFFF"/>
                    </a:solidFill>
                  </a:tcPr>
                </a:tc>
                <a:tc>
                  <a:txBody>
                    <a:bodyPr wrap="square"/>
                    <a:lstStyle/>
                    <a:p>
                      <a:r>
                        <a:rPr sz="1100" b="0" i="0">
                          <a:solidFill>
                            <a:srgbClr val="1A1A1A"/>
                          </a:solidFill>
                          <a:latin typeface="Calibri"/>
                        </a:rPr>
                        <a:t>Feature</a:t>
                      </a:r>
                    </a:p>
                  </a:txBody>
                  <a:tcPr anchor="ctr">
                    <a:solidFill>
                      <a:srgbClr val="FFFFFF"/>
                    </a:solidFill>
                  </a:tcPr>
                </a:tc>
                <a:tc>
                  <a:txBody>
                    <a:bodyPr wrap="square"/>
                    <a:lstStyle/>
                    <a:p>
                      <a:r>
                        <a:rPr sz="1100" b="0" i="0">
                          <a:solidFill>
                            <a:srgbClr val="1A1A1A"/>
                          </a:solidFill>
                          <a:latin typeface="Calibri"/>
                        </a:rPr>
                        <a:t>Integer</a:t>
                      </a:r>
                    </a:p>
                  </a:txBody>
                  <a:tcPr anchor="ctr">
                    <a:solidFill>
                      <a:srgbClr val="FFFFFF"/>
                    </a:solidFill>
                  </a:tcPr>
                </a:tc>
                <a:tc>
                  <a:txBody>
                    <a:bodyPr wrap="square"/>
                    <a:lstStyle/>
                    <a:p>
                      <a:r>
                        <a:rPr sz="1100" b="0" i="0">
                          <a:solidFill>
                            <a:srgbClr val="1A1A1A"/>
                          </a:solidFill>
                          <a:latin typeface="Calibri"/>
                        </a:rPr>
                        <a:t>Serum cholestoral</a:t>
                      </a:r>
                    </a:p>
                  </a:txBody>
                  <a:tcPr anchor="ctr">
                    <a:solidFill>
                      <a:srgbClr val="FFFFFF"/>
                    </a:solidFill>
                  </a:tcPr>
                </a:tc>
                <a:tc>
                  <a:txBody>
                    <a:bodyPr wrap="square"/>
                    <a:lstStyle/>
                    <a:p>
                      <a:r>
                        <a:rPr sz="1100" b="0" i="0">
                          <a:solidFill>
                            <a:srgbClr val="1A1A1A"/>
                          </a:solidFill>
                          <a:latin typeface="Calibri"/>
                        </a:rPr>
                        <a:t>mg/dl</a:t>
                      </a:r>
                    </a:p>
                  </a:txBody>
                  <a:tcPr anchor="ctr">
                    <a:solidFill>
                      <a:srgbClr val="FFFFFF"/>
                    </a:solidFill>
                  </a:tcPr>
                </a:tc>
                <a:tc>
                  <a:txBody>
                    <a:bodyPr wrap="square"/>
                    <a:lstStyle/>
                    <a:p>
                      <a:r>
                        <a:rPr sz="1100" b="0" i="0">
                          <a:solidFill>
                            <a:srgbClr val="1A1A1A"/>
                          </a:solidFill>
                          <a:latin typeface="Calibri"/>
                        </a:rPr>
                        <a:t>no</a:t>
                      </a:r>
                    </a:p>
                  </a:txBody>
                  <a:tcPr anchor="ctr">
                    <a:solidFill>
                      <a:srgbClr val="FFFFFF"/>
                    </a:solidFill>
                  </a:tcPr>
                </a:tc>
              </a:tr>
              <a:tr h="295656">
                <a:tc>
                  <a:txBody>
                    <a:bodyPr wrap="square"/>
                    <a:lstStyle/>
                    <a:p>
                      <a:r>
                        <a:rPr sz="1100" b="0" i="0">
                          <a:solidFill>
                            <a:srgbClr val="1A1A1A"/>
                          </a:solidFill>
                          <a:latin typeface="Calibri"/>
                        </a:rPr>
                        <a:t>fbs</a:t>
                      </a:r>
                    </a:p>
                  </a:txBody>
                  <a:tcPr anchor="ctr">
                    <a:solidFill>
                      <a:srgbClr val="F0F4FA"/>
                    </a:solidFill>
                  </a:tcPr>
                </a:tc>
                <a:tc>
                  <a:txBody>
                    <a:bodyPr wrap="square"/>
                    <a:lstStyle/>
                    <a:p>
                      <a:r>
                        <a:rPr sz="1100" b="0" i="0">
                          <a:solidFill>
                            <a:srgbClr val="1A1A1A"/>
                          </a:solidFill>
                          <a:latin typeface="Calibri"/>
                        </a:rPr>
                        <a:t>Feature</a:t>
                      </a:r>
                    </a:p>
                  </a:txBody>
                  <a:tcPr anchor="ctr">
                    <a:solidFill>
                      <a:srgbClr val="F0F4FA"/>
                    </a:solidFill>
                  </a:tcPr>
                </a:tc>
                <a:tc>
                  <a:txBody>
                    <a:bodyPr wrap="square"/>
                    <a:lstStyle/>
                    <a:p>
                      <a:r>
                        <a:rPr sz="1100" b="0" i="0">
                          <a:solidFill>
                            <a:srgbClr val="1A1A1A"/>
                          </a:solidFill>
                          <a:latin typeface="Calibri"/>
                        </a:rPr>
                        <a:t>Categorical</a:t>
                      </a:r>
                    </a:p>
                  </a:txBody>
                  <a:tcPr anchor="ctr">
                    <a:solidFill>
                      <a:srgbClr val="F0F4FA"/>
                    </a:solidFill>
                  </a:tcPr>
                </a:tc>
                <a:tc>
                  <a:txBody>
                    <a:bodyPr wrap="square"/>
                    <a:lstStyle/>
                    <a:p>
                      <a:r>
                        <a:rPr sz="1100" b="0" i="0">
                          <a:solidFill>
                            <a:srgbClr val="1A1A1A"/>
                          </a:solidFill>
                          <a:latin typeface="Calibri"/>
                        </a:rPr>
                        <a:t>Fasting blood sugar &gt; 120 mg/dl</a:t>
                      </a:r>
                    </a:p>
                  </a:txBody>
                  <a:tcPr anchor="ctr">
                    <a:solidFill>
                      <a:srgbClr val="F0F4FA"/>
                    </a:solidFill>
                  </a:tcPr>
                </a:tc>
                <a:tc>
                  <a:txBody>
                    <a:bodyPr wrap="square"/>
                    <a:lstStyle/>
                    <a:p>
                      <a:r>
                        <a:rPr sz="1100" b="0" i="0">
                          <a:solidFill>
                            <a:srgbClr val="1A1A1A"/>
                          </a:solidFill>
                          <a:latin typeface="Calibri"/>
                        </a:rPr>
                        <a:t>–</a:t>
                      </a:r>
                    </a:p>
                  </a:txBody>
                  <a:tcPr anchor="ctr">
                    <a:solidFill>
                      <a:srgbClr val="F0F4FA"/>
                    </a:solidFill>
                  </a:tcPr>
                </a:tc>
                <a:tc>
                  <a:txBody>
                    <a:bodyPr wrap="square"/>
                    <a:lstStyle/>
                    <a:p>
                      <a:r>
                        <a:rPr sz="1100" b="0" i="0">
                          <a:solidFill>
                            <a:srgbClr val="1A1A1A"/>
                          </a:solidFill>
                          <a:latin typeface="Calibri"/>
                        </a:rPr>
                        <a:t>no</a:t>
                      </a:r>
                    </a:p>
                  </a:txBody>
                  <a:tcPr anchor="ctr">
                    <a:solidFill>
                      <a:srgbClr val="F0F4FA"/>
                    </a:solidFill>
                  </a:tcPr>
                </a:tc>
              </a:tr>
              <a:tr h="295656">
                <a:tc>
                  <a:txBody>
                    <a:bodyPr wrap="square"/>
                    <a:lstStyle/>
                    <a:p>
                      <a:r>
                        <a:rPr sz="1100" b="0" i="0">
                          <a:solidFill>
                            <a:srgbClr val="1A1A1A"/>
                          </a:solidFill>
                          <a:latin typeface="Calibri"/>
                        </a:rPr>
                        <a:t>restecg</a:t>
                      </a:r>
                    </a:p>
                  </a:txBody>
                  <a:tcPr anchor="ctr">
                    <a:solidFill>
                      <a:srgbClr val="FFFFFF"/>
                    </a:solidFill>
                  </a:tcPr>
                </a:tc>
                <a:tc>
                  <a:txBody>
                    <a:bodyPr wrap="square"/>
                    <a:lstStyle/>
                    <a:p>
                      <a:r>
                        <a:rPr sz="1100" b="0" i="0">
                          <a:solidFill>
                            <a:srgbClr val="1A1A1A"/>
                          </a:solidFill>
                          <a:latin typeface="Calibri"/>
                        </a:rPr>
                        <a:t>Feature</a:t>
                      </a:r>
                    </a:p>
                  </a:txBody>
                  <a:tcPr anchor="ctr">
                    <a:solidFill>
                      <a:srgbClr val="FFFFFF"/>
                    </a:solidFill>
                  </a:tcPr>
                </a:tc>
                <a:tc>
                  <a:txBody>
                    <a:bodyPr wrap="square"/>
                    <a:lstStyle/>
                    <a:p>
                      <a:r>
                        <a:rPr sz="1100" b="0" i="0">
                          <a:solidFill>
                            <a:srgbClr val="1A1A1A"/>
                          </a:solidFill>
                          <a:latin typeface="Calibri"/>
                        </a:rPr>
                        <a:t>Categorical</a:t>
                      </a:r>
                    </a:p>
                  </a:txBody>
                  <a:tcPr anchor="ctr">
                    <a:solidFill>
                      <a:srgbClr val="FFFFFF"/>
                    </a:solidFill>
                  </a:tcPr>
                </a:tc>
                <a:tc>
                  <a:txBody>
                    <a:bodyPr wrap="square"/>
                    <a:lstStyle/>
                    <a:p>
                      <a:r>
                        <a:rPr sz="1100" b="0" i="0">
                          <a:solidFill>
                            <a:srgbClr val="1A1A1A"/>
                          </a:solidFill>
                          <a:latin typeface="Calibri"/>
                        </a:rPr>
                        <a:t>Resting electrocardiographic results</a:t>
                      </a:r>
                    </a:p>
                  </a:txBody>
                  <a:tcPr anchor="ctr">
                    <a:solidFill>
                      <a:srgbClr val="FFFFFF"/>
                    </a:solidFill>
                  </a:tcPr>
                </a:tc>
                <a:tc>
                  <a:txBody>
                    <a:bodyPr wrap="square"/>
                    <a:lstStyle/>
                    <a:p>
                      <a:r>
                        <a:rPr sz="1100" b="0" i="0">
                          <a:solidFill>
                            <a:srgbClr val="1A1A1A"/>
                          </a:solidFill>
                          <a:latin typeface="Calibri"/>
                        </a:rPr>
                        <a:t>–</a:t>
                      </a:r>
                    </a:p>
                  </a:txBody>
                  <a:tcPr anchor="ctr">
                    <a:solidFill>
                      <a:srgbClr val="FFFFFF"/>
                    </a:solidFill>
                  </a:tcPr>
                </a:tc>
                <a:tc>
                  <a:txBody>
                    <a:bodyPr wrap="square"/>
                    <a:lstStyle/>
                    <a:p>
                      <a:r>
                        <a:rPr sz="1100" b="0" i="0">
                          <a:solidFill>
                            <a:srgbClr val="1A1A1A"/>
                          </a:solidFill>
                          <a:latin typeface="Calibri"/>
                        </a:rPr>
                        <a:t>no</a:t>
                      </a:r>
                    </a:p>
                  </a:txBody>
                  <a:tcPr anchor="ctr">
                    <a:solidFill>
                      <a:srgbClr val="FFFFFF"/>
                    </a:solidFill>
                  </a:tcPr>
                </a:tc>
              </a:tr>
              <a:tr h="295656">
                <a:tc>
                  <a:txBody>
                    <a:bodyPr wrap="square"/>
                    <a:lstStyle/>
                    <a:p>
                      <a:r>
                        <a:rPr sz="1100" b="0" i="0">
                          <a:solidFill>
                            <a:srgbClr val="1A1A1A"/>
                          </a:solidFill>
                          <a:latin typeface="Calibri"/>
                        </a:rPr>
                        <a:t>thalach</a:t>
                      </a:r>
                    </a:p>
                  </a:txBody>
                  <a:tcPr anchor="ctr">
                    <a:solidFill>
                      <a:srgbClr val="F0F4FA"/>
                    </a:solidFill>
                  </a:tcPr>
                </a:tc>
                <a:tc>
                  <a:txBody>
                    <a:bodyPr wrap="square"/>
                    <a:lstStyle/>
                    <a:p>
                      <a:r>
                        <a:rPr sz="1100" b="0" i="0">
                          <a:solidFill>
                            <a:srgbClr val="1A1A1A"/>
                          </a:solidFill>
                          <a:latin typeface="Calibri"/>
                        </a:rPr>
                        <a:t>Feature</a:t>
                      </a:r>
                    </a:p>
                  </a:txBody>
                  <a:tcPr anchor="ctr">
                    <a:solidFill>
                      <a:srgbClr val="F0F4FA"/>
                    </a:solidFill>
                  </a:tcPr>
                </a:tc>
                <a:tc>
                  <a:txBody>
                    <a:bodyPr wrap="square"/>
                    <a:lstStyle/>
                    <a:p>
                      <a:r>
                        <a:rPr sz="1100" b="0" i="0">
                          <a:solidFill>
                            <a:srgbClr val="1A1A1A"/>
                          </a:solidFill>
                          <a:latin typeface="Calibri"/>
                        </a:rPr>
                        <a:t>Integer</a:t>
                      </a:r>
                    </a:p>
                  </a:txBody>
                  <a:tcPr anchor="ctr">
                    <a:solidFill>
                      <a:srgbClr val="F0F4FA"/>
                    </a:solidFill>
                  </a:tcPr>
                </a:tc>
                <a:tc>
                  <a:txBody>
                    <a:bodyPr wrap="square"/>
                    <a:lstStyle/>
                    <a:p>
                      <a:r>
                        <a:rPr sz="1100" b="0" i="0">
                          <a:solidFill>
                            <a:srgbClr val="1A1A1A"/>
                          </a:solidFill>
                          <a:latin typeface="Calibri"/>
                        </a:rPr>
                        <a:t>Maximum heart rate achieved</a:t>
                      </a:r>
                    </a:p>
                  </a:txBody>
                  <a:tcPr anchor="ctr">
                    <a:solidFill>
                      <a:srgbClr val="F0F4FA"/>
                    </a:solidFill>
                  </a:tcPr>
                </a:tc>
                <a:tc>
                  <a:txBody>
                    <a:bodyPr wrap="square"/>
                    <a:lstStyle/>
                    <a:p>
                      <a:r>
                        <a:rPr sz="1100" b="0" i="0">
                          <a:solidFill>
                            <a:srgbClr val="1A1A1A"/>
                          </a:solidFill>
                          <a:latin typeface="Calibri"/>
                        </a:rPr>
                        <a:t>–</a:t>
                      </a:r>
                    </a:p>
                  </a:txBody>
                  <a:tcPr anchor="ctr">
                    <a:solidFill>
                      <a:srgbClr val="F0F4FA"/>
                    </a:solidFill>
                  </a:tcPr>
                </a:tc>
                <a:tc>
                  <a:txBody>
                    <a:bodyPr wrap="square"/>
                    <a:lstStyle/>
                    <a:p>
                      <a:r>
                        <a:rPr sz="1100" b="0" i="0">
                          <a:solidFill>
                            <a:srgbClr val="1A1A1A"/>
                          </a:solidFill>
                          <a:latin typeface="Calibri"/>
                        </a:rPr>
                        <a:t>no</a:t>
                      </a:r>
                    </a:p>
                  </a:txBody>
                  <a:tcPr anchor="ctr">
                    <a:solidFill>
                      <a:srgbClr val="F0F4FA"/>
                    </a:solidFill>
                  </a:tcPr>
                </a:tc>
              </a:tr>
              <a:tr h="295656">
                <a:tc>
                  <a:txBody>
                    <a:bodyPr wrap="square"/>
                    <a:lstStyle/>
                    <a:p>
                      <a:r>
                        <a:rPr sz="1100" b="0" i="0">
                          <a:solidFill>
                            <a:srgbClr val="1A1A1A"/>
                          </a:solidFill>
                          <a:latin typeface="Calibri"/>
                        </a:rPr>
                        <a:t>exang</a:t>
                      </a:r>
                    </a:p>
                  </a:txBody>
                  <a:tcPr anchor="ctr">
                    <a:solidFill>
                      <a:srgbClr val="FFFFFF"/>
                    </a:solidFill>
                  </a:tcPr>
                </a:tc>
                <a:tc>
                  <a:txBody>
                    <a:bodyPr wrap="square"/>
                    <a:lstStyle/>
                    <a:p>
                      <a:r>
                        <a:rPr sz="1100" b="0" i="0">
                          <a:solidFill>
                            <a:srgbClr val="1A1A1A"/>
                          </a:solidFill>
                          <a:latin typeface="Calibri"/>
                        </a:rPr>
                        <a:t>Feature</a:t>
                      </a:r>
                    </a:p>
                  </a:txBody>
                  <a:tcPr anchor="ctr">
                    <a:solidFill>
                      <a:srgbClr val="FFFFFF"/>
                    </a:solidFill>
                  </a:tcPr>
                </a:tc>
                <a:tc>
                  <a:txBody>
                    <a:bodyPr wrap="square"/>
                    <a:lstStyle/>
                    <a:p>
                      <a:r>
                        <a:rPr sz="1100" b="0" i="0">
                          <a:solidFill>
                            <a:srgbClr val="1A1A1A"/>
                          </a:solidFill>
                          <a:latin typeface="Calibri"/>
                        </a:rPr>
                        <a:t>Categorical</a:t>
                      </a:r>
                    </a:p>
                  </a:txBody>
                  <a:tcPr anchor="ctr">
                    <a:solidFill>
                      <a:srgbClr val="FFFFFF"/>
                    </a:solidFill>
                  </a:tcPr>
                </a:tc>
                <a:tc>
                  <a:txBody>
                    <a:bodyPr wrap="square"/>
                    <a:lstStyle/>
                    <a:p>
                      <a:r>
                        <a:rPr sz="1100" b="0" i="0">
                          <a:solidFill>
                            <a:srgbClr val="1A1A1A"/>
                          </a:solidFill>
                          <a:latin typeface="Calibri"/>
                        </a:rPr>
                        <a:t>Exercise induced angina</a:t>
                      </a:r>
                    </a:p>
                  </a:txBody>
                  <a:tcPr anchor="ctr">
                    <a:solidFill>
                      <a:srgbClr val="FFFFFF"/>
                    </a:solidFill>
                  </a:tcPr>
                </a:tc>
                <a:tc>
                  <a:txBody>
                    <a:bodyPr wrap="square"/>
                    <a:lstStyle/>
                    <a:p>
                      <a:r>
                        <a:rPr sz="1100" b="0" i="0">
                          <a:solidFill>
                            <a:srgbClr val="1A1A1A"/>
                          </a:solidFill>
                          <a:latin typeface="Calibri"/>
                        </a:rPr>
                        <a:t>–</a:t>
                      </a:r>
                    </a:p>
                  </a:txBody>
                  <a:tcPr anchor="ctr">
                    <a:solidFill>
                      <a:srgbClr val="FFFFFF"/>
                    </a:solidFill>
                  </a:tcPr>
                </a:tc>
                <a:tc>
                  <a:txBody>
                    <a:bodyPr wrap="square"/>
                    <a:lstStyle/>
                    <a:p>
                      <a:r>
                        <a:rPr sz="1100" b="0" i="0">
                          <a:solidFill>
                            <a:srgbClr val="1A1A1A"/>
                          </a:solidFill>
                          <a:latin typeface="Calibri"/>
                        </a:rPr>
                        <a:t>no</a:t>
                      </a:r>
                    </a:p>
                  </a:txBody>
                  <a:tcPr anchor="ctr">
                    <a:solidFill>
                      <a:srgbClr val="FFFFFF"/>
                    </a:solidFill>
                  </a:tcPr>
                </a:tc>
              </a:tr>
              <a:tr h="295656">
                <a:tc>
                  <a:txBody>
                    <a:bodyPr wrap="square"/>
                    <a:lstStyle/>
                    <a:p>
                      <a:r>
                        <a:rPr sz="1100" b="0" i="0">
                          <a:solidFill>
                            <a:srgbClr val="1A1A1A"/>
                          </a:solidFill>
                          <a:latin typeface="Calibri"/>
                        </a:rPr>
                        <a:t>oldpeak</a:t>
                      </a:r>
                    </a:p>
                  </a:txBody>
                  <a:tcPr anchor="ctr">
                    <a:solidFill>
                      <a:srgbClr val="F0F4FA"/>
                    </a:solidFill>
                  </a:tcPr>
                </a:tc>
                <a:tc>
                  <a:txBody>
                    <a:bodyPr wrap="square"/>
                    <a:lstStyle/>
                    <a:p>
                      <a:r>
                        <a:rPr sz="1100" b="0" i="0">
                          <a:solidFill>
                            <a:srgbClr val="1A1A1A"/>
                          </a:solidFill>
                          <a:latin typeface="Calibri"/>
                        </a:rPr>
                        <a:t>Feature</a:t>
                      </a:r>
                    </a:p>
                  </a:txBody>
                  <a:tcPr anchor="ctr">
                    <a:solidFill>
                      <a:srgbClr val="F0F4FA"/>
                    </a:solidFill>
                  </a:tcPr>
                </a:tc>
                <a:tc>
                  <a:txBody>
                    <a:bodyPr wrap="square"/>
                    <a:lstStyle/>
                    <a:p>
                      <a:r>
                        <a:rPr sz="1100" b="0" i="0">
                          <a:solidFill>
                            <a:srgbClr val="1A1A1A"/>
                          </a:solidFill>
                          <a:latin typeface="Calibri"/>
                        </a:rPr>
                        <a:t>Integer</a:t>
                      </a:r>
                    </a:p>
                  </a:txBody>
                  <a:tcPr anchor="ctr">
                    <a:solidFill>
                      <a:srgbClr val="F0F4FA"/>
                    </a:solidFill>
                  </a:tcPr>
                </a:tc>
                <a:tc>
                  <a:txBody>
                    <a:bodyPr wrap="square"/>
                    <a:lstStyle/>
                    <a:p>
                      <a:r>
                        <a:rPr sz="1100" b="0" i="0">
                          <a:solidFill>
                            <a:srgbClr val="1A1A1A"/>
                          </a:solidFill>
                          <a:latin typeface="Calibri"/>
                        </a:rPr>
                        <a:t>ST depression induced by exercise</a:t>
                      </a:r>
                    </a:p>
                  </a:txBody>
                  <a:tcPr anchor="ctr">
                    <a:solidFill>
                      <a:srgbClr val="F0F4FA"/>
                    </a:solidFill>
                  </a:tcPr>
                </a:tc>
                <a:tc>
                  <a:txBody>
                    <a:bodyPr wrap="square"/>
                    <a:lstStyle/>
                    <a:p>
                      <a:r>
                        <a:rPr sz="1100" b="0" i="0">
                          <a:solidFill>
                            <a:srgbClr val="1A1A1A"/>
                          </a:solidFill>
                          <a:latin typeface="Calibri"/>
                        </a:rPr>
                        <a:t>–</a:t>
                      </a:r>
                    </a:p>
                  </a:txBody>
                  <a:tcPr anchor="ctr">
                    <a:solidFill>
                      <a:srgbClr val="F0F4FA"/>
                    </a:solidFill>
                  </a:tcPr>
                </a:tc>
                <a:tc>
                  <a:txBody>
                    <a:bodyPr wrap="square"/>
                    <a:lstStyle/>
                    <a:p>
                      <a:r>
                        <a:rPr sz="1100" b="0" i="0">
                          <a:solidFill>
                            <a:srgbClr val="1A1A1A"/>
                          </a:solidFill>
                          <a:latin typeface="Calibri"/>
                        </a:rPr>
                        <a:t>no</a:t>
                      </a:r>
                    </a:p>
                  </a:txBody>
                  <a:tcPr anchor="ctr">
                    <a:solidFill>
                      <a:srgbClr val="F0F4FA"/>
                    </a:solidFill>
                  </a:tcPr>
                </a:tc>
              </a:tr>
              <a:tr h="295656">
                <a:tc>
                  <a:txBody>
                    <a:bodyPr wrap="square"/>
                    <a:lstStyle/>
                    <a:p>
                      <a:r>
                        <a:rPr sz="1100" b="0" i="0">
                          <a:solidFill>
                            <a:srgbClr val="1A1A1A"/>
                          </a:solidFill>
                          <a:latin typeface="Calibri"/>
                        </a:rPr>
                        <a:t>slope</a:t>
                      </a:r>
                    </a:p>
                  </a:txBody>
                  <a:tcPr anchor="ctr">
                    <a:solidFill>
                      <a:srgbClr val="FFFFFF"/>
                    </a:solidFill>
                  </a:tcPr>
                </a:tc>
                <a:tc>
                  <a:txBody>
                    <a:bodyPr wrap="square"/>
                    <a:lstStyle/>
                    <a:p>
                      <a:r>
                        <a:rPr sz="1100" b="0" i="0">
                          <a:solidFill>
                            <a:srgbClr val="1A1A1A"/>
                          </a:solidFill>
                          <a:latin typeface="Calibri"/>
                        </a:rPr>
                        <a:t>Feature</a:t>
                      </a:r>
                    </a:p>
                  </a:txBody>
                  <a:tcPr anchor="ctr">
                    <a:solidFill>
                      <a:srgbClr val="FFFFFF"/>
                    </a:solidFill>
                  </a:tcPr>
                </a:tc>
                <a:tc>
                  <a:txBody>
                    <a:bodyPr wrap="square"/>
                    <a:lstStyle/>
                    <a:p>
                      <a:r>
                        <a:rPr sz="1100" b="0" i="0">
                          <a:solidFill>
                            <a:srgbClr val="1A1A1A"/>
                          </a:solidFill>
                          <a:latin typeface="Calibri"/>
                        </a:rPr>
                        <a:t>Categorical</a:t>
                      </a:r>
                    </a:p>
                  </a:txBody>
                  <a:tcPr anchor="ctr">
                    <a:solidFill>
                      <a:srgbClr val="FFFFFF"/>
                    </a:solidFill>
                  </a:tcPr>
                </a:tc>
                <a:tc>
                  <a:txBody>
                    <a:bodyPr wrap="square"/>
                    <a:lstStyle/>
                    <a:p>
                      <a:r>
                        <a:rPr sz="1100" b="0" i="0">
                          <a:solidFill>
                            <a:srgbClr val="1A1A1A"/>
                          </a:solidFill>
                          <a:latin typeface="Calibri"/>
                        </a:rPr>
                        <a:t>Slope of the peak exercise ST segment</a:t>
                      </a:r>
                    </a:p>
                  </a:txBody>
                  <a:tcPr anchor="ctr">
                    <a:solidFill>
                      <a:srgbClr val="FFFFFF"/>
                    </a:solidFill>
                  </a:tcPr>
                </a:tc>
                <a:tc>
                  <a:txBody>
                    <a:bodyPr wrap="square"/>
                    <a:lstStyle/>
                    <a:p>
                      <a:r>
                        <a:rPr sz="1100" b="0" i="0">
                          <a:solidFill>
                            <a:srgbClr val="1A1A1A"/>
                          </a:solidFill>
                          <a:latin typeface="Calibri"/>
                        </a:rPr>
                        <a:t>–</a:t>
                      </a:r>
                    </a:p>
                  </a:txBody>
                  <a:tcPr anchor="ctr">
                    <a:solidFill>
                      <a:srgbClr val="FFFFFF"/>
                    </a:solidFill>
                  </a:tcPr>
                </a:tc>
                <a:tc>
                  <a:txBody>
                    <a:bodyPr wrap="square"/>
                    <a:lstStyle/>
                    <a:p>
                      <a:r>
                        <a:rPr sz="1100" b="0" i="0">
                          <a:solidFill>
                            <a:srgbClr val="1A1A1A"/>
                          </a:solidFill>
                          <a:latin typeface="Calibri"/>
                        </a:rPr>
                        <a:t>no</a:t>
                      </a:r>
                    </a:p>
                  </a:txBody>
                  <a:tcPr anchor="ctr">
                    <a:solidFill>
                      <a:srgbClr val="FFFFFF"/>
                    </a:solidFill>
                  </a:tcPr>
                </a:tc>
              </a:tr>
              <a:tr h="295656">
                <a:tc>
                  <a:txBody>
                    <a:bodyPr wrap="square"/>
                    <a:lstStyle/>
                    <a:p>
                      <a:r>
                        <a:rPr sz="1100" b="0" i="0">
                          <a:solidFill>
                            <a:srgbClr val="1A1A1A"/>
                          </a:solidFill>
                          <a:latin typeface="Calibri"/>
                        </a:rPr>
                        <a:t>ca</a:t>
                      </a:r>
                    </a:p>
                  </a:txBody>
                  <a:tcPr anchor="ctr">
                    <a:solidFill>
                      <a:srgbClr val="F0F4FA"/>
                    </a:solidFill>
                  </a:tcPr>
                </a:tc>
                <a:tc>
                  <a:txBody>
                    <a:bodyPr wrap="square"/>
                    <a:lstStyle/>
                    <a:p>
                      <a:r>
                        <a:rPr sz="1100" b="0" i="0">
                          <a:solidFill>
                            <a:srgbClr val="1A1A1A"/>
                          </a:solidFill>
                          <a:latin typeface="Calibri"/>
                        </a:rPr>
                        <a:t>Feature</a:t>
                      </a:r>
                    </a:p>
                  </a:txBody>
                  <a:tcPr anchor="ctr">
                    <a:solidFill>
                      <a:srgbClr val="F0F4FA"/>
                    </a:solidFill>
                  </a:tcPr>
                </a:tc>
                <a:tc>
                  <a:txBody>
                    <a:bodyPr wrap="square"/>
                    <a:lstStyle/>
                    <a:p>
                      <a:r>
                        <a:rPr sz="1100" b="0" i="0">
                          <a:solidFill>
                            <a:srgbClr val="1A1A1A"/>
                          </a:solidFill>
                          <a:latin typeface="Calibri"/>
                        </a:rPr>
                        <a:t>Integer</a:t>
                      </a:r>
                    </a:p>
                  </a:txBody>
                  <a:tcPr anchor="ctr">
                    <a:solidFill>
                      <a:srgbClr val="F0F4FA"/>
                    </a:solidFill>
                  </a:tcPr>
                </a:tc>
                <a:tc>
                  <a:txBody>
                    <a:bodyPr wrap="square"/>
                    <a:lstStyle/>
                    <a:p>
                      <a:r>
                        <a:rPr sz="1100" b="0" i="0">
                          <a:solidFill>
                            <a:srgbClr val="1A1A1A"/>
                          </a:solidFill>
                          <a:latin typeface="Calibri"/>
                        </a:rPr>
                        <a:t>Major vessels (0-3) by flourosopy</a:t>
                      </a:r>
                    </a:p>
                  </a:txBody>
                  <a:tcPr anchor="ctr">
                    <a:solidFill>
                      <a:srgbClr val="F0F4FA"/>
                    </a:solidFill>
                  </a:tcPr>
                </a:tc>
                <a:tc>
                  <a:txBody>
                    <a:bodyPr wrap="square"/>
                    <a:lstStyle/>
                    <a:p>
                      <a:r>
                        <a:rPr sz="1100" b="0" i="0">
                          <a:solidFill>
                            <a:srgbClr val="1A1A1A"/>
                          </a:solidFill>
                          <a:latin typeface="Calibri"/>
                        </a:rPr>
                        <a:t>–</a:t>
                      </a:r>
                    </a:p>
                  </a:txBody>
                  <a:tcPr anchor="ctr">
                    <a:solidFill>
                      <a:srgbClr val="F0F4FA"/>
                    </a:solidFill>
                  </a:tcPr>
                </a:tc>
                <a:tc>
                  <a:txBody>
                    <a:bodyPr wrap="square"/>
                    <a:lstStyle/>
                    <a:p>
                      <a:r>
                        <a:rPr sz="1100" b="0" i="0">
                          <a:solidFill>
                            <a:srgbClr val="1A1A1A"/>
                          </a:solidFill>
                          <a:latin typeface="Calibri"/>
                        </a:rPr>
                        <a:t>yes</a:t>
                      </a:r>
                    </a:p>
                  </a:txBody>
                  <a:tcPr anchor="ctr">
                    <a:solidFill>
                      <a:srgbClr val="F0F4FA"/>
                    </a:solidFill>
                  </a:tcPr>
                </a:tc>
              </a:tr>
              <a:tr h="295656">
                <a:tc>
                  <a:txBody>
                    <a:bodyPr wrap="square"/>
                    <a:lstStyle/>
                    <a:p>
                      <a:r>
                        <a:rPr sz="1100" b="0" i="0">
                          <a:solidFill>
                            <a:srgbClr val="1A1A1A"/>
                          </a:solidFill>
                          <a:latin typeface="Calibri"/>
                        </a:rPr>
                        <a:t>thal</a:t>
                      </a:r>
                    </a:p>
                  </a:txBody>
                  <a:tcPr anchor="ctr">
                    <a:solidFill>
                      <a:srgbClr val="FFFFFF"/>
                    </a:solidFill>
                  </a:tcPr>
                </a:tc>
                <a:tc>
                  <a:txBody>
                    <a:bodyPr wrap="square"/>
                    <a:lstStyle/>
                    <a:p>
                      <a:r>
                        <a:rPr sz="1100" b="0" i="0">
                          <a:solidFill>
                            <a:srgbClr val="1A1A1A"/>
                          </a:solidFill>
                          <a:latin typeface="Calibri"/>
                        </a:rPr>
                        <a:t>Feature</a:t>
                      </a:r>
                    </a:p>
                  </a:txBody>
                  <a:tcPr anchor="ctr">
                    <a:solidFill>
                      <a:srgbClr val="FFFFFF"/>
                    </a:solidFill>
                  </a:tcPr>
                </a:tc>
                <a:tc>
                  <a:txBody>
                    <a:bodyPr wrap="square"/>
                    <a:lstStyle/>
                    <a:p>
                      <a:r>
                        <a:rPr sz="1100" b="0" i="0">
                          <a:solidFill>
                            <a:srgbClr val="1A1A1A"/>
                          </a:solidFill>
                          <a:latin typeface="Calibri"/>
                        </a:rPr>
                        <a:t>Categorical</a:t>
                      </a:r>
                    </a:p>
                  </a:txBody>
                  <a:tcPr anchor="ctr">
                    <a:solidFill>
                      <a:srgbClr val="FFFFFF"/>
                    </a:solidFill>
                  </a:tcPr>
                </a:tc>
                <a:tc>
                  <a:txBody>
                    <a:bodyPr wrap="square"/>
                    <a:lstStyle/>
                    <a:p>
                      <a:r>
                        <a:rPr sz="1100" b="0" i="0">
                          <a:solidFill>
                            <a:srgbClr val="1A1A1A"/>
                          </a:solidFill>
                          <a:latin typeface="Calibri"/>
                        </a:rPr>
                        <a:t>Thalassemia stress-test result</a:t>
                      </a:r>
                    </a:p>
                  </a:txBody>
                  <a:tcPr anchor="ctr">
                    <a:solidFill>
                      <a:srgbClr val="FFFFFF"/>
                    </a:solidFill>
                  </a:tcPr>
                </a:tc>
                <a:tc>
                  <a:txBody>
                    <a:bodyPr wrap="square"/>
                    <a:lstStyle/>
                    <a:p>
                      <a:r>
                        <a:rPr sz="1100" b="0" i="0">
                          <a:solidFill>
                            <a:srgbClr val="1A1A1A"/>
                          </a:solidFill>
                          <a:latin typeface="Calibri"/>
                        </a:rPr>
                        <a:t>–</a:t>
                      </a:r>
                    </a:p>
                  </a:txBody>
                  <a:tcPr anchor="ctr">
                    <a:solidFill>
                      <a:srgbClr val="FFFFFF"/>
                    </a:solidFill>
                  </a:tcPr>
                </a:tc>
                <a:tc>
                  <a:txBody>
                    <a:bodyPr wrap="square"/>
                    <a:lstStyle/>
                    <a:p>
                      <a:r>
                        <a:rPr sz="1100" b="0" i="0">
                          <a:solidFill>
                            <a:srgbClr val="1A1A1A"/>
                          </a:solidFill>
                          <a:latin typeface="Calibri"/>
                        </a:rPr>
                        <a:t>yes</a:t>
                      </a:r>
                    </a:p>
                  </a:txBody>
                  <a:tcPr anchor="ctr">
                    <a:solidFill>
                      <a:srgbClr val="FFFFFF"/>
                    </a:solidFill>
                  </a:tcPr>
                </a:tc>
              </a:tr>
              <a:tr h="295656">
                <a:tc>
                  <a:txBody>
                    <a:bodyPr wrap="square"/>
                    <a:lstStyle/>
                    <a:p>
                      <a:r>
                        <a:rPr sz="1100" b="0" i="0">
                          <a:solidFill>
                            <a:srgbClr val="1A1A1A"/>
                          </a:solidFill>
                          <a:latin typeface="Calibri"/>
                        </a:rPr>
                        <a:t>num</a:t>
                      </a:r>
                    </a:p>
                  </a:txBody>
                  <a:tcPr anchor="ctr">
                    <a:solidFill>
                      <a:srgbClr val="F0F4FA"/>
                    </a:solidFill>
                  </a:tcPr>
                </a:tc>
                <a:tc>
                  <a:txBody>
                    <a:bodyPr wrap="square"/>
                    <a:lstStyle/>
                    <a:p>
                      <a:r>
                        <a:rPr sz="1100" b="0" i="0">
                          <a:solidFill>
                            <a:srgbClr val="1A1A1A"/>
                          </a:solidFill>
                          <a:latin typeface="Calibri"/>
                        </a:rPr>
                        <a:t>Target</a:t>
                      </a:r>
                    </a:p>
                  </a:txBody>
                  <a:tcPr anchor="ctr">
                    <a:solidFill>
                      <a:srgbClr val="F0F4FA"/>
                    </a:solidFill>
                  </a:tcPr>
                </a:tc>
                <a:tc>
                  <a:txBody>
                    <a:bodyPr wrap="square"/>
                    <a:lstStyle/>
                    <a:p>
                      <a:r>
                        <a:rPr sz="1100" b="0" i="0">
                          <a:solidFill>
                            <a:srgbClr val="1A1A1A"/>
                          </a:solidFill>
                          <a:latin typeface="Calibri"/>
                        </a:rPr>
                        <a:t>Integer</a:t>
                      </a:r>
                    </a:p>
                  </a:txBody>
                  <a:tcPr anchor="ctr">
                    <a:solidFill>
                      <a:srgbClr val="F0F4FA"/>
                    </a:solidFill>
                  </a:tcPr>
                </a:tc>
                <a:tc>
                  <a:txBody>
                    <a:bodyPr wrap="square"/>
                    <a:lstStyle/>
                    <a:p>
                      <a:r>
                        <a:rPr sz="1100" b="0" i="0">
                          <a:solidFill>
                            <a:srgbClr val="1A1A1A"/>
                          </a:solidFill>
                          <a:latin typeface="Calibri"/>
                        </a:rPr>
                        <a:t>Diagnosis of heart disease (severity)</a:t>
                      </a:r>
                    </a:p>
                  </a:txBody>
                  <a:tcPr anchor="ctr">
                    <a:solidFill>
                      <a:srgbClr val="F0F4FA"/>
                    </a:solidFill>
                  </a:tcPr>
                </a:tc>
                <a:tc>
                  <a:txBody>
                    <a:bodyPr wrap="square"/>
                    <a:lstStyle/>
                    <a:p>
                      <a:r>
                        <a:rPr sz="1100" b="0" i="0">
                          <a:solidFill>
                            <a:srgbClr val="1A1A1A"/>
                          </a:solidFill>
                          <a:latin typeface="Calibri"/>
                        </a:rPr>
                        <a:t>–</a:t>
                      </a:r>
                    </a:p>
                  </a:txBody>
                  <a:tcPr anchor="ctr">
                    <a:solidFill>
                      <a:srgbClr val="F0F4FA"/>
                    </a:solidFill>
                  </a:tcPr>
                </a:tc>
                <a:tc>
                  <a:txBody>
                    <a:bodyPr wrap="square"/>
                    <a:lstStyle/>
                    <a:p>
                      <a:r>
                        <a:rPr sz="1100" b="0" i="0">
                          <a:solidFill>
                            <a:srgbClr val="1A1A1A"/>
                          </a:solidFill>
                          <a:latin typeface="Calibri"/>
                        </a:rPr>
                        <a:t>no</a:t>
                      </a:r>
                    </a:p>
                  </a:txBody>
                  <a:tcPr anchor="ctr">
                    <a:solidFill>
                      <a:srgbClr val="F0F4FA"/>
                    </a:solidFill>
                  </a:tcPr>
                </a:tc>
              </a:tr>
            </a:tbl>
          </a:graphicData>
        </a:graphic>
      </p:graphicFrame>
      <p:sp>
        <p:nvSpPr>
          <p:cNvPr id="6" name="TextBox 5"/>
          <p:cNvSpPr txBox="1"/>
          <p:nvPr/>
        </p:nvSpPr>
        <p:spPr>
          <a:xfrm>
            <a:off x="731520" y="6053328"/>
            <a:ext cx="10728655" cy="365760"/>
          </a:xfrm>
          <a:prstGeom prst="rect">
            <a:avLst/>
          </a:prstGeom>
          <a:noFill/>
        </p:spPr>
        <p:txBody>
          <a:bodyPr wrap="square">
            <a:spAutoFit/>
          </a:bodyPr>
          <a:lstStyle/>
          <a:p>
            <a:r>
              <a:rPr sz="1100" b="0" i="1">
                <a:solidFill>
                  <a:srgbClr val="606060"/>
                </a:solidFill>
                <a:latin typeface="Calibri"/>
              </a:rPr>
              <a:t>Source: UCI Machine Learning Repository, archive.ics.uci.edu/dataset/45/heart+disease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Coded sub-values behind every categorical field</a:t>
            </a:r>
          </a:p>
        </p:txBody>
      </p:sp>
      <p:graphicFrame>
        <p:nvGraphicFramePr>
          <p:cNvPr id="5" name="Table 4"/>
          <p:cNvGraphicFramePr>
            <a:graphicFrameLocks noGrp="1"/>
          </p:cNvGraphicFramePr>
          <p:nvPr/>
        </p:nvGraphicFramePr>
        <p:xfrm>
          <a:off x="640080" y="1508760"/>
          <a:ext cx="10911534" cy="4846320"/>
        </p:xfrm>
        <a:graphic>
          <a:graphicData uri="http://schemas.openxmlformats.org/drawingml/2006/table">
            <a:tbl>
              <a:tblPr firstRow="1" bandRow="1">
                <a:tableStyleId>{5C22544A-7EE6-4342-B048-85BDC9FD1C3A}</a:tableStyleId>
              </a:tblPr>
              <a:tblGrid>
                <a:gridCol w="2264658"/>
                <a:gridCol w="8646876"/>
              </a:tblGrid>
              <a:tr h="484632">
                <a:tc>
                  <a:txBody>
                    <a:bodyPr wrap="square"/>
                    <a:lstStyle/>
                    <a:p>
                      <a:r>
                        <a:rPr sz="1400" b="1" i="0">
                          <a:solidFill>
                            <a:srgbClr val="FFFFFF"/>
                          </a:solidFill>
                          <a:latin typeface="Calibri"/>
                        </a:rPr>
                        <a:t>Variable</a:t>
                      </a:r>
                    </a:p>
                  </a:txBody>
                  <a:tcPr anchor="ctr">
                    <a:solidFill>
                      <a:srgbClr val="2A78D6"/>
                    </a:solidFill>
                  </a:tcPr>
                </a:tc>
                <a:tc>
                  <a:txBody>
                    <a:bodyPr wrap="square"/>
                    <a:lstStyle/>
                    <a:p>
                      <a:r>
                        <a:rPr sz="1400" b="1" i="0">
                          <a:solidFill>
                            <a:srgbClr val="FFFFFF"/>
                          </a:solidFill>
                          <a:latin typeface="Calibri"/>
                        </a:rPr>
                        <a:t>Coded sub-values</a:t>
                      </a:r>
                    </a:p>
                  </a:txBody>
                  <a:tcPr anchor="ctr">
                    <a:solidFill>
                      <a:srgbClr val="2A78D6"/>
                    </a:solidFill>
                  </a:tcPr>
                </a:tc>
              </a:tr>
              <a:tr h="484632">
                <a:tc>
                  <a:txBody>
                    <a:bodyPr wrap="square"/>
                    <a:lstStyle/>
                    <a:p>
                      <a:r>
                        <a:rPr sz="1350" b="0" i="0">
                          <a:solidFill>
                            <a:srgbClr val="1A1A1A"/>
                          </a:solidFill>
                          <a:latin typeface="Calibri"/>
                        </a:rPr>
                        <a:t>sex</a:t>
                      </a:r>
                    </a:p>
                  </a:txBody>
                  <a:tcPr anchor="ctr">
                    <a:solidFill>
                      <a:srgbClr val="FFFFFF"/>
                    </a:solidFill>
                  </a:tcPr>
                </a:tc>
                <a:tc>
                  <a:txBody>
                    <a:bodyPr wrap="square"/>
                    <a:lstStyle/>
                    <a:p>
                      <a:r>
                        <a:rPr sz="1350" b="0" i="0">
                          <a:solidFill>
                            <a:srgbClr val="1A1A1A"/>
                          </a:solidFill>
                          <a:latin typeface="Calibri"/>
                        </a:rPr>
                        <a:t>1 = male;  0 = female</a:t>
                      </a:r>
                    </a:p>
                  </a:txBody>
                  <a:tcPr anchor="ctr">
                    <a:solidFill>
                      <a:srgbClr val="FFFFFF"/>
                    </a:solidFill>
                  </a:tcPr>
                </a:tc>
              </a:tr>
              <a:tr h="484632">
                <a:tc>
                  <a:txBody>
                    <a:bodyPr wrap="square"/>
                    <a:lstStyle/>
                    <a:p>
                      <a:r>
                        <a:rPr sz="1350" b="0" i="0">
                          <a:solidFill>
                            <a:srgbClr val="1A1A1A"/>
                          </a:solidFill>
                          <a:latin typeface="Calibri"/>
                        </a:rPr>
                        <a:t>cp</a:t>
                      </a:r>
                    </a:p>
                  </a:txBody>
                  <a:tcPr anchor="ctr">
                    <a:solidFill>
                      <a:srgbClr val="F0F4FA"/>
                    </a:solidFill>
                  </a:tcPr>
                </a:tc>
                <a:tc>
                  <a:txBody>
                    <a:bodyPr wrap="square"/>
                    <a:lstStyle/>
                    <a:p>
                      <a:r>
                        <a:rPr sz="1350" b="0" i="0">
                          <a:solidFill>
                            <a:srgbClr val="1A1A1A"/>
                          </a:solidFill>
                          <a:latin typeface="Calibri"/>
                        </a:rPr>
                        <a:t>1 typical angina;  2 atypical angina;  3 non-anginal pain;  4 asymptomatic</a:t>
                      </a:r>
                    </a:p>
                  </a:txBody>
                  <a:tcPr anchor="ctr">
                    <a:solidFill>
                      <a:srgbClr val="F0F4FA"/>
                    </a:solidFill>
                  </a:tcPr>
                </a:tc>
              </a:tr>
              <a:tr h="484632">
                <a:tc>
                  <a:txBody>
                    <a:bodyPr wrap="square"/>
                    <a:lstStyle/>
                    <a:p>
                      <a:r>
                        <a:rPr sz="1350" b="0" i="0">
                          <a:solidFill>
                            <a:srgbClr val="1A1A1A"/>
                          </a:solidFill>
                          <a:latin typeface="Calibri"/>
                        </a:rPr>
                        <a:t>fbs</a:t>
                      </a:r>
                    </a:p>
                  </a:txBody>
                  <a:tcPr anchor="ctr">
                    <a:solidFill>
                      <a:srgbClr val="FFFFFF"/>
                    </a:solidFill>
                  </a:tcPr>
                </a:tc>
                <a:tc>
                  <a:txBody>
                    <a:bodyPr wrap="square"/>
                    <a:lstStyle/>
                    <a:p>
                      <a:r>
                        <a:rPr sz="1350" b="0" i="0">
                          <a:solidFill>
                            <a:srgbClr val="1A1A1A"/>
                          </a:solidFill>
                          <a:latin typeface="Calibri"/>
                        </a:rPr>
                        <a:t>1 = fasting blood sugar &gt; 120 mg/dl;  0 = false</a:t>
                      </a:r>
                    </a:p>
                  </a:txBody>
                  <a:tcPr anchor="ctr">
                    <a:solidFill>
                      <a:srgbClr val="FFFFFF"/>
                    </a:solidFill>
                  </a:tcPr>
                </a:tc>
              </a:tr>
              <a:tr h="484632">
                <a:tc>
                  <a:txBody>
                    <a:bodyPr wrap="square"/>
                    <a:lstStyle/>
                    <a:p>
                      <a:r>
                        <a:rPr sz="1350" b="0" i="0">
                          <a:solidFill>
                            <a:srgbClr val="1A1A1A"/>
                          </a:solidFill>
                          <a:latin typeface="Calibri"/>
                        </a:rPr>
                        <a:t>restecg</a:t>
                      </a:r>
                    </a:p>
                  </a:txBody>
                  <a:tcPr anchor="ctr">
                    <a:solidFill>
                      <a:srgbClr val="F0F4FA"/>
                    </a:solidFill>
                  </a:tcPr>
                </a:tc>
                <a:tc>
                  <a:txBody>
                    <a:bodyPr wrap="square"/>
                    <a:lstStyle/>
                    <a:p>
                      <a:r>
                        <a:rPr sz="1350" b="0" i="0">
                          <a:solidFill>
                            <a:srgbClr val="1A1A1A"/>
                          </a:solidFill>
                          <a:latin typeface="Calibri"/>
                        </a:rPr>
                        <a:t>0 normal;  1 ST-T wave abnormality;  2 probable/definite LV hypertrophy</a:t>
                      </a:r>
                    </a:p>
                  </a:txBody>
                  <a:tcPr anchor="ctr">
                    <a:solidFill>
                      <a:srgbClr val="F0F4FA"/>
                    </a:solidFill>
                  </a:tcPr>
                </a:tc>
              </a:tr>
              <a:tr h="484632">
                <a:tc>
                  <a:txBody>
                    <a:bodyPr wrap="square"/>
                    <a:lstStyle/>
                    <a:p>
                      <a:r>
                        <a:rPr sz="1350" b="0" i="0">
                          <a:solidFill>
                            <a:srgbClr val="1A1A1A"/>
                          </a:solidFill>
                          <a:latin typeface="Calibri"/>
                        </a:rPr>
                        <a:t>exang</a:t>
                      </a:r>
                    </a:p>
                  </a:txBody>
                  <a:tcPr anchor="ctr">
                    <a:solidFill>
                      <a:srgbClr val="FFFFFF"/>
                    </a:solidFill>
                  </a:tcPr>
                </a:tc>
                <a:tc>
                  <a:txBody>
                    <a:bodyPr wrap="square"/>
                    <a:lstStyle/>
                    <a:p>
                      <a:r>
                        <a:rPr sz="1350" b="0" i="0">
                          <a:solidFill>
                            <a:srgbClr val="1A1A1A"/>
                          </a:solidFill>
                          <a:latin typeface="Calibri"/>
                        </a:rPr>
                        <a:t>1 = exercise induced angina;  0 = no</a:t>
                      </a:r>
                    </a:p>
                  </a:txBody>
                  <a:tcPr anchor="ctr">
                    <a:solidFill>
                      <a:srgbClr val="FFFFFF"/>
                    </a:solidFill>
                  </a:tcPr>
                </a:tc>
              </a:tr>
              <a:tr h="484632">
                <a:tc>
                  <a:txBody>
                    <a:bodyPr wrap="square"/>
                    <a:lstStyle/>
                    <a:p>
                      <a:r>
                        <a:rPr sz="1350" b="0" i="0">
                          <a:solidFill>
                            <a:srgbClr val="1A1A1A"/>
                          </a:solidFill>
                          <a:latin typeface="Calibri"/>
                        </a:rPr>
                        <a:t>slope</a:t>
                      </a:r>
                    </a:p>
                  </a:txBody>
                  <a:tcPr anchor="ctr">
                    <a:solidFill>
                      <a:srgbClr val="F0F4FA"/>
                    </a:solidFill>
                  </a:tcPr>
                </a:tc>
                <a:tc>
                  <a:txBody>
                    <a:bodyPr wrap="square"/>
                    <a:lstStyle/>
                    <a:p>
                      <a:r>
                        <a:rPr sz="1350" b="0" i="0">
                          <a:solidFill>
                            <a:srgbClr val="1A1A1A"/>
                          </a:solidFill>
                          <a:latin typeface="Calibri"/>
                        </a:rPr>
                        <a:t>1 upsloping;  2 flat;  3 downsloping</a:t>
                      </a:r>
                    </a:p>
                  </a:txBody>
                  <a:tcPr anchor="ctr">
                    <a:solidFill>
                      <a:srgbClr val="F0F4FA"/>
                    </a:solidFill>
                  </a:tcPr>
                </a:tc>
              </a:tr>
              <a:tr h="484632">
                <a:tc>
                  <a:txBody>
                    <a:bodyPr wrap="square"/>
                    <a:lstStyle/>
                    <a:p>
                      <a:r>
                        <a:rPr sz="1350" b="0" i="0">
                          <a:solidFill>
                            <a:srgbClr val="1A1A1A"/>
                          </a:solidFill>
                          <a:latin typeface="Calibri"/>
                        </a:rPr>
                        <a:t>ca</a:t>
                      </a:r>
                    </a:p>
                  </a:txBody>
                  <a:tcPr anchor="ctr">
                    <a:solidFill>
                      <a:srgbClr val="FFFFFF"/>
                    </a:solidFill>
                  </a:tcPr>
                </a:tc>
                <a:tc>
                  <a:txBody>
                    <a:bodyPr wrap="square"/>
                    <a:lstStyle/>
                    <a:p>
                      <a:r>
                        <a:rPr sz="1350" b="0" i="0">
                          <a:solidFill>
                            <a:srgbClr val="1A1A1A"/>
                          </a:solidFill>
                          <a:latin typeface="Calibri"/>
                        </a:rPr>
                        <a:t>0, 1, 2 or 3 major vessels colored by flourosopy</a:t>
                      </a:r>
                    </a:p>
                  </a:txBody>
                  <a:tcPr anchor="ctr">
                    <a:solidFill>
                      <a:srgbClr val="FFFFFF"/>
                    </a:solidFill>
                  </a:tcPr>
                </a:tc>
              </a:tr>
              <a:tr h="484632">
                <a:tc>
                  <a:txBody>
                    <a:bodyPr wrap="square"/>
                    <a:lstStyle/>
                    <a:p>
                      <a:r>
                        <a:rPr sz="1350" b="0" i="0">
                          <a:solidFill>
                            <a:srgbClr val="1A1A1A"/>
                          </a:solidFill>
                          <a:latin typeface="Calibri"/>
                        </a:rPr>
                        <a:t>thal</a:t>
                      </a:r>
                    </a:p>
                  </a:txBody>
                  <a:tcPr anchor="ctr">
                    <a:solidFill>
                      <a:srgbClr val="F0F4FA"/>
                    </a:solidFill>
                  </a:tcPr>
                </a:tc>
                <a:tc>
                  <a:txBody>
                    <a:bodyPr wrap="square"/>
                    <a:lstStyle/>
                    <a:p>
                      <a:r>
                        <a:rPr sz="1350" b="0" i="0">
                          <a:solidFill>
                            <a:srgbClr val="1A1A1A"/>
                          </a:solidFill>
                          <a:latin typeface="Calibri"/>
                        </a:rPr>
                        <a:t>3 normal;  6 fixed defect;  7 reversable defect</a:t>
                      </a:r>
                    </a:p>
                  </a:txBody>
                  <a:tcPr anchor="ctr">
                    <a:solidFill>
                      <a:srgbClr val="F0F4FA"/>
                    </a:solidFill>
                  </a:tcPr>
                </a:tc>
              </a:tr>
              <a:tr h="484632">
                <a:tc>
                  <a:txBody>
                    <a:bodyPr wrap="square"/>
                    <a:lstStyle/>
                    <a:p>
                      <a:r>
                        <a:rPr sz="1350" b="0" i="0">
                          <a:solidFill>
                            <a:srgbClr val="1A1A1A"/>
                          </a:solidFill>
                          <a:latin typeface="Calibri"/>
                        </a:rPr>
                        <a:t>num (target)</a:t>
                      </a:r>
                    </a:p>
                  </a:txBody>
                  <a:tcPr anchor="ctr">
                    <a:solidFill>
                      <a:srgbClr val="FFFFFF"/>
                    </a:solidFill>
                  </a:tcPr>
                </a:tc>
                <a:tc>
                  <a:txBody>
                    <a:bodyPr wrap="square"/>
                    <a:lstStyle/>
                    <a:p>
                      <a:r>
                        <a:rPr sz="1350" b="0" i="0">
                          <a:solidFill>
                            <a:srgbClr val="1A1A1A"/>
                          </a:solidFill>
                          <a:latin typeface="Calibri"/>
                        </a:rPr>
                        <a:t>0 no disease;  1–4 increasing severity / vessels affected</a:t>
                      </a:r>
                    </a:p>
                  </a:txBody>
                  <a:tcPr anchor="ctr">
                    <a:solidFill>
                      <a:srgbClr val="FFFFFF"/>
                    </a:solidFill>
                  </a:tcPr>
                </a:tc>
              </a:tr>
            </a:tbl>
          </a:graphicData>
        </a:graphic>
      </p:graphicFrame>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four hospitals</a:t>
            </a:r>
          </a:p>
        </p:txBody>
      </p:sp>
      <p:graphicFrame>
        <p:nvGraphicFramePr>
          <p:cNvPr id="5" name="Table 4"/>
          <p:cNvGraphicFramePr>
            <a:graphicFrameLocks noGrp="1"/>
          </p:cNvGraphicFramePr>
          <p:nvPr/>
        </p:nvGraphicFramePr>
        <p:xfrm>
          <a:off x="640080" y="1508760"/>
          <a:ext cx="10911534" cy="4416552"/>
        </p:xfrm>
        <a:graphic>
          <a:graphicData uri="http://schemas.openxmlformats.org/drawingml/2006/table">
            <a:tbl>
              <a:tblPr firstRow="1" bandRow="1">
                <a:tableStyleId>{5C22544A-7EE6-4342-B048-85BDC9FD1C3A}</a:tableStyleId>
              </a:tblPr>
              <a:tblGrid>
                <a:gridCol w="1745845"/>
                <a:gridCol w="3491691"/>
                <a:gridCol w="1309384"/>
                <a:gridCol w="2182307"/>
                <a:gridCol w="2182307"/>
              </a:tblGrid>
              <a:tr h="736092">
                <a:tc>
                  <a:txBody>
                    <a:bodyPr wrap="square"/>
                    <a:lstStyle/>
                    <a:p>
                      <a:r>
                        <a:rPr sz="1400" b="1" i="0">
                          <a:solidFill>
                            <a:srgbClr val="FFFFFF"/>
                          </a:solidFill>
                          <a:latin typeface="Calibri"/>
                        </a:rPr>
                        <a:t>Hospital</a:t>
                      </a:r>
                    </a:p>
                  </a:txBody>
                  <a:tcPr anchor="ctr">
                    <a:solidFill>
                      <a:srgbClr val="2A78D6"/>
                    </a:solidFill>
                  </a:tcPr>
                </a:tc>
                <a:tc>
                  <a:txBody>
                    <a:bodyPr wrap="square"/>
                    <a:lstStyle/>
                    <a:p>
                      <a:r>
                        <a:rPr sz="1400" b="1" i="0">
                          <a:solidFill>
                            <a:srgbClr val="FFFFFF"/>
                          </a:solidFill>
                          <a:latin typeface="Calibri"/>
                        </a:rPr>
                        <a:t>Institution</a:t>
                      </a:r>
                    </a:p>
                  </a:txBody>
                  <a:tcPr anchor="ctr">
                    <a:solidFill>
                      <a:srgbClr val="2A78D6"/>
                    </a:solidFill>
                  </a:tcPr>
                </a:tc>
                <a:tc>
                  <a:txBody>
                    <a:bodyPr wrap="square"/>
                    <a:lstStyle/>
                    <a:p>
                      <a:r>
                        <a:rPr sz="1400" b="1" i="0">
                          <a:solidFill>
                            <a:srgbClr val="FFFFFF"/>
                          </a:solidFill>
                          <a:latin typeface="Calibri"/>
                        </a:rPr>
                        <a:t>Patients</a:t>
                      </a:r>
                    </a:p>
                  </a:txBody>
                  <a:tcPr anchor="ctr">
                    <a:solidFill>
                      <a:srgbClr val="2A78D6"/>
                    </a:solidFill>
                  </a:tcPr>
                </a:tc>
                <a:tc>
                  <a:txBody>
                    <a:bodyPr wrap="square"/>
                    <a:lstStyle/>
                    <a:p>
                      <a:r>
                        <a:rPr sz="1400" b="1" i="0">
                          <a:solidFill>
                            <a:srgbClr val="FFFFFF"/>
                          </a:solidFill>
                          <a:latin typeface="Calibri"/>
                        </a:rPr>
                        <a:t>Share with any heart disease</a:t>
                      </a:r>
                    </a:p>
                  </a:txBody>
                  <a:tcPr anchor="ctr">
                    <a:solidFill>
                      <a:srgbClr val="2A78D6"/>
                    </a:solidFill>
                  </a:tcPr>
                </a:tc>
                <a:tc>
                  <a:txBody>
                    <a:bodyPr wrap="square"/>
                    <a:lstStyle/>
                    <a:p>
                      <a:r>
                        <a:rPr sz="1400" b="1" i="0">
                          <a:solidFill>
                            <a:srgbClr val="FFFFFF"/>
                          </a:solidFill>
                          <a:latin typeface="Calibri"/>
                        </a:rPr>
                        <a:t>Most common severity</a:t>
                      </a:r>
                    </a:p>
                  </a:txBody>
                  <a:tcPr anchor="ctr">
                    <a:solidFill>
                      <a:srgbClr val="2A78D6"/>
                    </a:solidFill>
                  </a:tcPr>
                </a:tc>
              </a:tr>
              <a:tr h="736092">
                <a:tc>
                  <a:txBody>
                    <a:bodyPr wrap="square"/>
                    <a:lstStyle/>
                    <a:p>
                      <a:r>
                        <a:rPr sz="1400" b="0" i="0">
                          <a:solidFill>
                            <a:srgbClr val="1A1A1A"/>
                          </a:solidFill>
                          <a:latin typeface="Calibri"/>
                        </a:rPr>
                        <a:t>Cleveland</a:t>
                      </a:r>
                    </a:p>
                  </a:txBody>
                  <a:tcPr anchor="ctr">
                    <a:solidFill>
                      <a:srgbClr val="FFFFFF"/>
                    </a:solidFill>
                  </a:tcPr>
                </a:tc>
                <a:tc>
                  <a:txBody>
                    <a:bodyPr wrap="square"/>
                    <a:lstStyle/>
                    <a:p>
                      <a:r>
                        <a:rPr sz="1400" b="0" i="0">
                          <a:solidFill>
                            <a:srgbClr val="1A1A1A"/>
                          </a:solidFill>
                          <a:latin typeface="Calibri"/>
                        </a:rPr>
                        <a:t>Cleveland Clinic Foundation</a:t>
                      </a:r>
                    </a:p>
                  </a:txBody>
                  <a:tcPr anchor="ctr">
                    <a:solidFill>
                      <a:srgbClr val="FFFFFF"/>
                    </a:solidFill>
                  </a:tcPr>
                </a:tc>
                <a:tc>
                  <a:txBody>
                    <a:bodyPr wrap="square"/>
                    <a:lstStyle/>
                    <a:p>
                      <a:r>
                        <a:rPr sz="1400" b="0" i="0">
                          <a:solidFill>
                            <a:srgbClr val="1A1A1A"/>
                          </a:solidFill>
                          <a:latin typeface="Calibri"/>
                        </a:rPr>
                        <a:t>303</a:t>
                      </a:r>
                    </a:p>
                  </a:txBody>
                  <a:tcPr anchor="ctr">
                    <a:solidFill>
                      <a:srgbClr val="FFFFFF"/>
                    </a:solidFill>
                  </a:tcPr>
                </a:tc>
                <a:tc>
                  <a:txBody>
                    <a:bodyPr wrap="square"/>
                    <a:lstStyle/>
                    <a:p>
                      <a:r>
                        <a:rPr sz="1400" b="0" i="0">
                          <a:solidFill>
                            <a:srgbClr val="1A1A1A"/>
                          </a:solidFill>
                          <a:latin typeface="Calibri"/>
                        </a:rPr>
                        <a:t>45.9%</a:t>
                      </a:r>
                    </a:p>
                  </a:txBody>
                  <a:tcPr anchor="ctr">
                    <a:solidFill>
                      <a:srgbClr val="FFFFFF"/>
                    </a:solidFill>
                  </a:tcPr>
                </a:tc>
                <a:tc>
                  <a:txBody>
                    <a:bodyPr wrap="square"/>
                    <a:lstStyle/>
                    <a:p>
                      <a:r>
                        <a:rPr sz="1400" b="0" i="0">
                          <a:solidFill>
                            <a:srgbClr val="1A1A1A"/>
                          </a:solidFill>
                          <a:latin typeface="Calibri"/>
                        </a:rPr>
                        <a:t>No disease (54.1%)</a:t>
                      </a:r>
                    </a:p>
                  </a:txBody>
                  <a:tcPr anchor="ctr">
                    <a:solidFill>
                      <a:srgbClr val="FFFFFF"/>
                    </a:solidFill>
                  </a:tcPr>
                </a:tc>
              </a:tr>
              <a:tr h="736092">
                <a:tc>
                  <a:txBody>
                    <a:bodyPr wrap="square"/>
                    <a:lstStyle/>
                    <a:p>
                      <a:r>
                        <a:rPr sz="1400" b="0" i="0">
                          <a:solidFill>
                            <a:srgbClr val="1A1A1A"/>
                          </a:solidFill>
                          <a:latin typeface="Calibri"/>
                        </a:rPr>
                        <a:t>Hungary</a:t>
                      </a:r>
                    </a:p>
                  </a:txBody>
                  <a:tcPr anchor="ctr">
                    <a:solidFill>
                      <a:srgbClr val="F0F4FA"/>
                    </a:solidFill>
                  </a:tcPr>
                </a:tc>
                <a:tc>
                  <a:txBody>
                    <a:bodyPr wrap="square"/>
                    <a:lstStyle/>
                    <a:p>
                      <a:r>
                        <a:rPr sz="1400" b="0" i="0">
                          <a:solidFill>
                            <a:srgbClr val="1A1A1A"/>
                          </a:solidFill>
                          <a:latin typeface="Calibri"/>
                        </a:rPr>
                        <a:t>Hungarian Inst. of Cardiology</a:t>
                      </a:r>
                    </a:p>
                  </a:txBody>
                  <a:tcPr anchor="ctr">
                    <a:solidFill>
                      <a:srgbClr val="F0F4FA"/>
                    </a:solidFill>
                  </a:tcPr>
                </a:tc>
                <a:tc>
                  <a:txBody>
                    <a:bodyPr wrap="square"/>
                    <a:lstStyle/>
                    <a:p>
                      <a:r>
                        <a:rPr sz="1400" b="0" i="0">
                          <a:solidFill>
                            <a:srgbClr val="1A1A1A"/>
                          </a:solidFill>
                          <a:latin typeface="Calibri"/>
                        </a:rPr>
                        <a:t>294</a:t>
                      </a:r>
                    </a:p>
                  </a:txBody>
                  <a:tcPr anchor="ctr">
                    <a:solidFill>
                      <a:srgbClr val="F0F4FA"/>
                    </a:solidFill>
                  </a:tcPr>
                </a:tc>
                <a:tc>
                  <a:txBody>
                    <a:bodyPr wrap="square"/>
                    <a:lstStyle/>
                    <a:p>
                      <a:r>
                        <a:rPr sz="1400" b="0" i="0">
                          <a:solidFill>
                            <a:srgbClr val="1A1A1A"/>
                          </a:solidFill>
                          <a:latin typeface="Calibri"/>
                        </a:rPr>
                        <a:t>36.1%</a:t>
                      </a:r>
                    </a:p>
                  </a:txBody>
                  <a:tcPr anchor="ctr">
                    <a:solidFill>
                      <a:srgbClr val="F0F4FA"/>
                    </a:solidFill>
                  </a:tcPr>
                </a:tc>
                <a:tc>
                  <a:txBody>
                    <a:bodyPr wrap="square"/>
                    <a:lstStyle/>
                    <a:p>
                      <a:r>
                        <a:rPr sz="1400" b="0" i="0">
                          <a:solidFill>
                            <a:srgbClr val="1A1A1A"/>
                          </a:solidFill>
                          <a:latin typeface="Calibri"/>
                        </a:rPr>
                        <a:t>No disease (63.9%)</a:t>
                      </a:r>
                    </a:p>
                  </a:txBody>
                  <a:tcPr anchor="ctr">
                    <a:solidFill>
                      <a:srgbClr val="F0F4FA"/>
                    </a:solidFill>
                  </a:tcPr>
                </a:tc>
              </a:tr>
              <a:tr h="736092">
                <a:tc>
                  <a:txBody>
                    <a:bodyPr wrap="square"/>
                    <a:lstStyle/>
                    <a:p>
                      <a:r>
                        <a:rPr sz="1400" b="0" i="0">
                          <a:solidFill>
                            <a:srgbClr val="1A1A1A"/>
                          </a:solidFill>
                          <a:latin typeface="Calibri"/>
                        </a:rPr>
                        <a:t>Switzerland</a:t>
                      </a:r>
                    </a:p>
                  </a:txBody>
                  <a:tcPr anchor="ctr">
                    <a:solidFill>
                      <a:srgbClr val="FFFFFF"/>
                    </a:solidFill>
                  </a:tcPr>
                </a:tc>
                <a:tc>
                  <a:txBody>
                    <a:bodyPr wrap="square"/>
                    <a:lstStyle/>
                    <a:p>
                      <a:r>
                        <a:rPr sz="1400" b="0" i="0">
                          <a:solidFill>
                            <a:srgbClr val="1A1A1A"/>
                          </a:solidFill>
                          <a:latin typeface="Calibri"/>
                        </a:rPr>
                        <a:t>Univ. Hospital Zurich / Basel</a:t>
                      </a:r>
                    </a:p>
                  </a:txBody>
                  <a:tcPr anchor="ctr">
                    <a:solidFill>
                      <a:srgbClr val="FFFFFF"/>
                    </a:solidFill>
                  </a:tcPr>
                </a:tc>
                <a:tc>
                  <a:txBody>
                    <a:bodyPr wrap="square"/>
                    <a:lstStyle/>
                    <a:p>
                      <a:r>
                        <a:rPr sz="1400" b="0" i="0">
                          <a:solidFill>
                            <a:srgbClr val="1A1A1A"/>
                          </a:solidFill>
                          <a:latin typeface="Calibri"/>
                        </a:rPr>
                        <a:t>123</a:t>
                      </a:r>
                    </a:p>
                  </a:txBody>
                  <a:tcPr anchor="ctr">
                    <a:solidFill>
                      <a:srgbClr val="FFFFFF"/>
                    </a:solidFill>
                  </a:tcPr>
                </a:tc>
                <a:tc>
                  <a:txBody>
                    <a:bodyPr wrap="square"/>
                    <a:lstStyle/>
                    <a:p>
                      <a:r>
                        <a:rPr sz="1400" b="0" i="0">
                          <a:solidFill>
                            <a:srgbClr val="1A1A1A"/>
                          </a:solidFill>
                          <a:latin typeface="Calibri"/>
                        </a:rPr>
                        <a:t>93.5%</a:t>
                      </a:r>
                    </a:p>
                  </a:txBody>
                  <a:tcPr anchor="ctr">
                    <a:solidFill>
                      <a:srgbClr val="FFFFFF"/>
                    </a:solidFill>
                  </a:tcPr>
                </a:tc>
                <a:tc>
                  <a:txBody>
                    <a:bodyPr wrap="square"/>
                    <a:lstStyle/>
                    <a:p>
                      <a:r>
                        <a:rPr sz="1400" b="0" i="0">
                          <a:solidFill>
                            <a:srgbClr val="1A1A1A"/>
                          </a:solidFill>
                          <a:latin typeface="Calibri"/>
                        </a:rPr>
                        <a:t>Mild (39.0%)</a:t>
                      </a:r>
                    </a:p>
                  </a:txBody>
                  <a:tcPr anchor="ctr">
                    <a:solidFill>
                      <a:srgbClr val="FFFFFF"/>
                    </a:solidFill>
                  </a:tcPr>
                </a:tc>
              </a:tr>
              <a:tr h="736092">
                <a:tc>
                  <a:txBody>
                    <a:bodyPr wrap="square"/>
                    <a:lstStyle/>
                    <a:p>
                      <a:r>
                        <a:rPr sz="1400" b="0" i="0">
                          <a:solidFill>
                            <a:srgbClr val="1A1A1A"/>
                          </a:solidFill>
                          <a:latin typeface="Calibri"/>
                        </a:rPr>
                        <a:t>V.A. Long Beach</a:t>
                      </a:r>
                    </a:p>
                  </a:txBody>
                  <a:tcPr anchor="ctr">
                    <a:solidFill>
                      <a:srgbClr val="F0F4FA"/>
                    </a:solidFill>
                  </a:tcPr>
                </a:tc>
                <a:tc>
                  <a:txBody>
                    <a:bodyPr wrap="square"/>
                    <a:lstStyle/>
                    <a:p>
                      <a:r>
                        <a:rPr sz="1400" b="0" i="0">
                          <a:solidFill>
                            <a:srgbClr val="1A1A1A"/>
                          </a:solidFill>
                          <a:latin typeface="Calibri"/>
                        </a:rPr>
                        <a:t>V.A. Medical Center</a:t>
                      </a:r>
                    </a:p>
                  </a:txBody>
                  <a:tcPr anchor="ctr">
                    <a:solidFill>
                      <a:srgbClr val="F0F4FA"/>
                    </a:solidFill>
                  </a:tcPr>
                </a:tc>
                <a:tc>
                  <a:txBody>
                    <a:bodyPr wrap="square"/>
                    <a:lstStyle/>
                    <a:p>
                      <a:r>
                        <a:rPr sz="1400" b="0" i="0">
                          <a:solidFill>
                            <a:srgbClr val="1A1A1A"/>
                          </a:solidFill>
                          <a:latin typeface="Calibri"/>
                        </a:rPr>
                        <a:t>200</a:t>
                      </a:r>
                    </a:p>
                  </a:txBody>
                  <a:tcPr anchor="ctr">
                    <a:solidFill>
                      <a:srgbClr val="F0F4FA"/>
                    </a:solidFill>
                  </a:tcPr>
                </a:tc>
                <a:tc>
                  <a:txBody>
                    <a:bodyPr wrap="square"/>
                    <a:lstStyle/>
                    <a:p>
                      <a:r>
                        <a:rPr sz="1400" b="0" i="0">
                          <a:solidFill>
                            <a:srgbClr val="1A1A1A"/>
                          </a:solidFill>
                          <a:latin typeface="Calibri"/>
                        </a:rPr>
                        <a:t>74.5%</a:t>
                      </a:r>
                    </a:p>
                  </a:txBody>
                  <a:tcPr anchor="ctr">
                    <a:solidFill>
                      <a:srgbClr val="F0F4FA"/>
                    </a:solidFill>
                  </a:tcPr>
                </a:tc>
                <a:tc>
                  <a:txBody>
                    <a:bodyPr wrap="square"/>
                    <a:lstStyle/>
                    <a:p>
                      <a:r>
                        <a:rPr sz="1400" b="0" i="0">
                          <a:solidFill>
                            <a:srgbClr val="1A1A1A"/>
                          </a:solidFill>
                          <a:latin typeface="Calibri"/>
                        </a:rPr>
                        <a:t>Mild (28.0%)</a:t>
                      </a:r>
                    </a:p>
                  </a:txBody>
                  <a:tcPr anchor="ctr">
                    <a:solidFill>
                      <a:srgbClr val="F0F4FA"/>
                    </a:solidFill>
                  </a:tcPr>
                </a:tc>
              </a:tr>
              <a:tr h="736092">
                <a:tc>
                  <a:txBody>
                    <a:bodyPr wrap="square"/>
                    <a:lstStyle/>
                    <a:p>
                      <a:r>
                        <a:rPr sz="1400" b="0" i="0">
                          <a:solidFill>
                            <a:srgbClr val="1A1A1A"/>
                          </a:solidFill>
                          <a:latin typeface="Calibri"/>
                        </a:rPr>
                        <a:t>All four combined</a:t>
                      </a:r>
                    </a:p>
                  </a:txBody>
                  <a:tcPr anchor="ctr">
                    <a:solidFill>
                      <a:srgbClr val="FFFFFF"/>
                    </a:solidFill>
                  </a:tcPr>
                </a:tc>
                <a:tc>
                  <a:txBody>
                    <a:bodyPr wrap="square"/>
                    <a:lstStyle/>
                    <a:p>
                      <a:r>
                        <a:rPr sz="1400" b="0" i="0">
                          <a:solidFill>
                            <a:srgbClr val="1A1A1A"/>
                          </a:solidFill>
                          <a:latin typeface="Calibri"/>
                        </a:rPr>
                        <a:t>–</a:t>
                      </a:r>
                    </a:p>
                  </a:txBody>
                  <a:tcPr anchor="ctr">
                    <a:solidFill>
                      <a:srgbClr val="FFFFFF"/>
                    </a:solidFill>
                  </a:tcPr>
                </a:tc>
                <a:tc>
                  <a:txBody>
                    <a:bodyPr wrap="square"/>
                    <a:lstStyle/>
                    <a:p>
                      <a:r>
                        <a:rPr sz="1400" b="0" i="0">
                          <a:solidFill>
                            <a:srgbClr val="1A1A1A"/>
                          </a:solidFill>
                          <a:latin typeface="Calibri"/>
                        </a:rPr>
                        <a:t>920</a:t>
                      </a:r>
                    </a:p>
                  </a:txBody>
                  <a:tcPr anchor="ctr">
                    <a:solidFill>
                      <a:srgbClr val="FFFFFF"/>
                    </a:solidFill>
                  </a:tcPr>
                </a:tc>
                <a:tc>
                  <a:txBody>
                    <a:bodyPr wrap="square"/>
                    <a:lstStyle/>
                    <a:p>
                      <a:r>
                        <a:rPr sz="1400" b="0" i="0">
                          <a:solidFill>
                            <a:srgbClr val="1A1A1A"/>
                          </a:solidFill>
                          <a:latin typeface="Calibri"/>
                        </a:rPr>
                        <a:t>55.3% overall</a:t>
                      </a:r>
                    </a:p>
                  </a:txBody>
                  <a:tcPr anchor="ctr">
                    <a:solidFill>
                      <a:srgbClr val="FFFFFF"/>
                    </a:solidFill>
                  </a:tcPr>
                </a:tc>
                <a:tc>
                  <a:txBody>
                    <a:bodyPr wrap="square"/>
                    <a:lstStyle/>
                    <a:p>
                      <a:r>
                        <a:rPr sz="1400" b="0" i="0">
                          <a:solidFill>
                            <a:srgbClr val="1A1A1A"/>
                          </a:solidFill>
                          <a:latin typeface="Calibri"/>
                        </a:rPr>
                        <a:t>–</a:t>
                      </a:r>
                    </a:p>
                  </a:txBody>
                  <a:tcPr anchor="ctr">
                    <a:solidFill>
                      <a:srgbClr val="FFFFFF"/>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The share of patients with any heart disease nearly triples across these four hospitals, from 36% to 94% — that's a genuine difference in who each hospital sees, not a data-entry problem.</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Patient counts and disease rates, by hospital</a:t>
            </a:r>
          </a:p>
        </p:txBody>
      </p:sp>
      <p:pic>
        <p:nvPicPr>
          <p:cNvPr id="5" name="Picture 4" descr="01_site_overview.png"/>
          <p:cNvPicPr>
            <a:picLocks noChangeAspect="1"/>
          </p:cNvPicPr>
          <p:nvPr/>
        </p:nvPicPr>
        <p:blipFill>
          <a:blip r:embed="rId2"/>
          <a:stretch>
            <a:fillRect/>
          </a:stretch>
        </p:blipFill>
        <p:spPr>
          <a:xfrm>
            <a:off x="2163927" y="1508760"/>
            <a:ext cx="7863840" cy="3108960"/>
          </a:xfrm>
          <a:prstGeom prst="rect">
            <a:avLst/>
          </a:prstGeom>
        </p:spPr>
      </p:pic>
      <p:sp>
        <p:nvSpPr>
          <p:cNvPr id="6" name="TextBox 5"/>
          <p:cNvSpPr txBox="1"/>
          <p:nvPr/>
        </p:nvSpPr>
        <p:spPr>
          <a:xfrm>
            <a:off x="731520" y="4727448"/>
            <a:ext cx="10728655" cy="777240"/>
          </a:xfrm>
          <a:prstGeom prst="rect">
            <a:avLst/>
          </a:prstGeom>
          <a:noFill/>
        </p:spPr>
        <p:txBody>
          <a:bodyPr wrap="square">
            <a:spAutoFit/>
          </a:bodyPr>
          <a:lstStyle/>
          <a:p>
            <a:r>
              <a:rPr sz="1250" b="0" i="1">
                <a:solidFill>
                  <a:srgbClr val="606060"/>
                </a:solidFill>
                <a:latin typeface="Calibri"/>
              </a:rPr>
              <a:t>Disease prevalence swings from 36% at Hungary to 94% at Switzerland — a real difference in which patients each hospital sees, not a data-entry mistake.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Two very different kinds of hospital-to-hospital difference</a:t>
            </a:r>
          </a:p>
        </p:txBody>
      </p:sp>
      <p:graphicFrame>
        <p:nvGraphicFramePr>
          <p:cNvPr id="5" name="Table 4"/>
          <p:cNvGraphicFramePr>
            <a:graphicFrameLocks noGrp="1"/>
          </p:cNvGraphicFramePr>
          <p:nvPr/>
        </p:nvGraphicFramePr>
        <p:xfrm>
          <a:off x="640080" y="1508760"/>
          <a:ext cx="10911532" cy="4846320"/>
        </p:xfrm>
        <a:graphic>
          <a:graphicData uri="http://schemas.openxmlformats.org/drawingml/2006/table">
            <a:tbl>
              <a:tblPr firstRow="1" bandRow="1">
                <a:tableStyleId>{5C22544A-7EE6-4342-B048-85BDC9FD1C3A}</a:tableStyleId>
              </a:tblPr>
              <a:tblGrid>
                <a:gridCol w="2073191"/>
                <a:gridCol w="1309384"/>
                <a:gridCol w="1309384"/>
                <a:gridCol w="1527614"/>
                <a:gridCol w="1091153"/>
                <a:gridCol w="3600806"/>
              </a:tblGrid>
              <a:tr h="969264">
                <a:tc>
                  <a:txBody>
                    <a:bodyPr wrap="square"/>
                    <a:lstStyle/>
                    <a:p>
                      <a:r>
                        <a:rPr sz="1300" b="1" i="0">
                          <a:solidFill>
                            <a:srgbClr val="FFFFFF"/>
                          </a:solidFill>
                          <a:latin typeface="Calibri"/>
                        </a:rPr>
                        <a:t>Measurement</a:t>
                      </a:r>
                    </a:p>
                  </a:txBody>
                  <a:tcPr anchor="ctr">
                    <a:solidFill>
                      <a:srgbClr val="2A78D6"/>
                    </a:solidFill>
                  </a:tcPr>
                </a:tc>
                <a:tc>
                  <a:txBody>
                    <a:bodyPr wrap="square"/>
                    <a:lstStyle/>
                    <a:p>
                      <a:r>
                        <a:rPr sz="1300" b="1" i="0">
                          <a:solidFill>
                            <a:srgbClr val="FFFFFF"/>
                          </a:solidFill>
                          <a:latin typeface="Calibri"/>
                        </a:rPr>
                        <a:t>Cleveland</a:t>
                      </a:r>
                    </a:p>
                  </a:txBody>
                  <a:tcPr anchor="ctr">
                    <a:solidFill>
                      <a:srgbClr val="2A78D6"/>
                    </a:solidFill>
                  </a:tcPr>
                </a:tc>
                <a:tc>
                  <a:txBody>
                    <a:bodyPr wrap="square"/>
                    <a:lstStyle/>
                    <a:p>
                      <a:r>
                        <a:rPr sz="1300" b="1" i="0">
                          <a:solidFill>
                            <a:srgbClr val="FFFFFF"/>
                          </a:solidFill>
                          <a:latin typeface="Calibri"/>
                        </a:rPr>
                        <a:t>Hungary</a:t>
                      </a:r>
                    </a:p>
                  </a:txBody>
                  <a:tcPr anchor="ctr">
                    <a:solidFill>
                      <a:srgbClr val="2A78D6"/>
                    </a:solidFill>
                  </a:tcPr>
                </a:tc>
                <a:tc>
                  <a:txBody>
                    <a:bodyPr wrap="square"/>
                    <a:lstStyle/>
                    <a:p>
                      <a:r>
                        <a:rPr sz="1300" b="1" i="0">
                          <a:solidFill>
                            <a:srgbClr val="FFFFFF"/>
                          </a:solidFill>
                          <a:latin typeface="Calibri"/>
                        </a:rPr>
                        <a:t>Switzerland</a:t>
                      </a:r>
                    </a:p>
                  </a:txBody>
                  <a:tcPr anchor="ctr">
                    <a:solidFill>
                      <a:srgbClr val="2A78D6"/>
                    </a:solidFill>
                  </a:tcPr>
                </a:tc>
                <a:tc>
                  <a:txBody>
                    <a:bodyPr wrap="square"/>
                    <a:lstStyle/>
                    <a:p>
                      <a:r>
                        <a:rPr sz="1300" b="1" i="0">
                          <a:solidFill>
                            <a:srgbClr val="FFFFFF"/>
                          </a:solidFill>
                          <a:latin typeface="Calibri"/>
                        </a:rPr>
                        <a:t>V.A.</a:t>
                      </a:r>
                    </a:p>
                  </a:txBody>
                  <a:tcPr anchor="ctr">
                    <a:solidFill>
                      <a:srgbClr val="2A78D6"/>
                    </a:solidFill>
                  </a:tcPr>
                </a:tc>
                <a:tc>
                  <a:txBody>
                    <a:bodyPr wrap="square"/>
                    <a:lstStyle/>
                    <a:p>
                      <a:r>
                        <a:rPr sz="1300" b="1" i="0">
                          <a:solidFill>
                            <a:srgbClr val="FFFFFF"/>
                          </a:solidFill>
                          <a:latin typeface="Calibri"/>
                        </a:rPr>
                        <a:t>What kind of difference is this?</a:t>
                      </a:r>
                    </a:p>
                  </a:txBody>
                  <a:tcPr anchor="ctr">
                    <a:solidFill>
                      <a:srgbClr val="2A78D6"/>
                    </a:solidFill>
                  </a:tcPr>
                </a:tc>
              </a:tr>
              <a:tr h="969264">
                <a:tc>
                  <a:txBody>
                    <a:bodyPr wrap="square"/>
                    <a:lstStyle/>
                    <a:p>
                      <a:r>
                        <a:rPr sz="1200" b="0" i="0">
                          <a:solidFill>
                            <a:srgbClr val="1A1A1A"/>
                          </a:solidFill>
                          <a:latin typeface="Calibri"/>
                        </a:rPr>
                        <a:t>Cholesterol never recorded</a:t>
                      </a:r>
                    </a:p>
                  </a:txBody>
                  <a:tcPr anchor="ctr">
                    <a:solidFill>
                      <a:srgbClr val="FFFFFF"/>
                    </a:solidFill>
                  </a:tcPr>
                </a:tc>
                <a:tc>
                  <a:txBody>
                    <a:bodyPr wrap="square"/>
                    <a:lstStyle/>
                    <a:p>
                      <a:r>
                        <a:rPr sz="1200" b="0" i="0">
                          <a:solidFill>
                            <a:srgbClr val="1A1A1A"/>
                          </a:solidFill>
                          <a:latin typeface="Calibri"/>
                        </a:rPr>
                        <a:t>0.0%</a:t>
                      </a:r>
                    </a:p>
                  </a:txBody>
                  <a:tcPr anchor="ctr">
                    <a:solidFill>
                      <a:srgbClr val="FFFFFF"/>
                    </a:solidFill>
                  </a:tcPr>
                </a:tc>
                <a:tc>
                  <a:txBody>
                    <a:bodyPr wrap="square"/>
                    <a:lstStyle/>
                    <a:p>
                      <a:r>
                        <a:rPr sz="1200" b="0" i="0">
                          <a:solidFill>
                            <a:srgbClr val="1A1A1A"/>
                          </a:solidFill>
                          <a:latin typeface="Calibri"/>
                        </a:rPr>
                        <a:t>0.0%</a:t>
                      </a:r>
                    </a:p>
                  </a:txBody>
                  <a:tcPr anchor="ctr">
                    <a:solidFill>
                      <a:srgbClr val="FFFFFF"/>
                    </a:solidFill>
                  </a:tcPr>
                </a:tc>
                <a:tc>
                  <a:txBody>
                    <a:bodyPr wrap="square"/>
                    <a:lstStyle/>
                    <a:p>
                      <a:r>
                        <a:rPr sz="1200" b="0" i="0">
                          <a:solidFill>
                            <a:srgbClr val="1A1A1A"/>
                          </a:solidFill>
                          <a:latin typeface="Calibri"/>
                        </a:rPr>
                        <a:t>100.0%</a:t>
                      </a:r>
                    </a:p>
                  </a:txBody>
                  <a:tcPr anchor="ctr">
                    <a:solidFill>
                      <a:srgbClr val="FFFFFF"/>
                    </a:solidFill>
                  </a:tcPr>
                </a:tc>
                <a:tc>
                  <a:txBody>
                    <a:bodyPr wrap="square"/>
                    <a:lstStyle/>
                    <a:p>
                      <a:r>
                        <a:rPr sz="1200" b="0" i="0">
                          <a:solidFill>
                            <a:srgbClr val="1A1A1A"/>
                          </a:solidFill>
                          <a:latin typeface="Calibri"/>
                        </a:rPr>
                        <a:t>24.5%</a:t>
                      </a:r>
                    </a:p>
                  </a:txBody>
                  <a:tcPr anchor="ctr">
                    <a:solidFill>
                      <a:srgbClr val="FFFFFF"/>
                    </a:solidFill>
                  </a:tcPr>
                </a:tc>
                <a:tc>
                  <a:txBody>
                    <a:bodyPr wrap="square"/>
                    <a:lstStyle/>
                    <a:p>
                      <a:r>
                        <a:rPr sz="1200" b="0" i="0">
                          <a:solidFill>
                            <a:srgbClr val="1A1A1A"/>
                          </a:solidFill>
                          <a:latin typeface="Calibri"/>
                        </a:rPr>
                        <a:t>Measurement habit (specific to one hospital)</a:t>
                      </a:r>
                    </a:p>
                  </a:txBody>
                  <a:tcPr anchor="ctr">
                    <a:solidFill>
                      <a:srgbClr val="FFFFFF"/>
                    </a:solidFill>
                  </a:tcPr>
                </a:tc>
              </a:tr>
              <a:tr h="969264">
                <a:tc>
                  <a:txBody>
                    <a:bodyPr wrap="square"/>
                    <a:lstStyle/>
                    <a:p>
                      <a:r>
                        <a:rPr sz="1200" b="0" i="0">
                          <a:solidFill>
                            <a:srgbClr val="1A1A1A"/>
                          </a:solidFill>
                          <a:latin typeface="Calibri"/>
                        </a:rPr>
                        <a:t>Vessel count never recorded</a:t>
                      </a:r>
                    </a:p>
                  </a:txBody>
                  <a:tcPr anchor="ctr">
                    <a:solidFill>
                      <a:srgbClr val="F0F4FA"/>
                    </a:solidFill>
                  </a:tcPr>
                </a:tc>
                <a:tc>
                  <a:txBody>
                    <a:bodyPr wrap="square"/>
                    <a:lstStyle/>
                    <a:p>
                      <a:r>
                        <a:rPr sz="1200" b="0" i="0">
                          <a:solidFill>
                            <a:srgbClr val="1A1A1A"/>
                          </a:solidFill>
                          <a:latin typeface="Calibri"/>
                        </a:rPr>
                        <a:t>1.3%</a:t>
                      </a:r>
                    </a:p>
                  </a:txBody>
                  <a:tcPr anchor="ctr">
                    <a:solidFill>
                      <a:srgbClr val="F0F4FA"/>
                    </a:solidFill>
                  </a:tcPr>
                </a:tc>
                <a:tc>
                  <a:txBody>
                    <a:bodyPr wrap="square"/>
                    <a:lstStyle/>
                    <a:p>
                      <a:r>
                        <a:rPr sz="1200" b="0" i="0">
                          <a:solidFill>
                            <a:srgbClr val="1A1A1A"/>
                          </a:solidFill>
                          <a:latin typeface="Calibri"/>
                        </a:rPr>
                        <a:t>98.6%</a:t>
                      </a:r>
                    </a:p>
                  </a:txBody>
                  <a:tcPr anchor="ctr">
                    <a:solidFill>
                      <a:srgbClr val="F0F4FA"/>
                    </a:solidFill>
                  </a:tcPr>
                </a:tc>
                <a:tc>
                  <a:txBody>
                    <a:bodyPr wrap="square"/>
                    <a:lstStyle/>
                    <a:p>
                      <a:r>
                        <a:rPr sz="1200" b="0" i="0">
                          <a:solidFill>
                            <a:srgbClr val="1A1A1A"/>
                          </a:solidFill>
                          <a:latin typeface="Calibri"/>
                        </a:rPr>
                        <a:t>95.9%</a:t>
                      </a:r>
                    </a:p>
                  </a:txBody>
                  <a:tcPr anchor="ctr">
                    <a:solidFill>
                      <a:srgbClr val="F0F4FA"/>
                    </a:solidFill>
                  </a:tcPr>
                </a:tc>
                <a:tc>
                  <a:txBody>
                    <a:bodyPr wrap="square"/>
                    <a:lstStyle/>
                    <a:p>
                      <a:r>
                        <a:rPr sz="1200" b="0" i="0">
                          <a:solidFill>
                            <a:srgbClr val="1A1A1A"/>
                          </a:solidFill>
                          <a:latin typeface="Calibri"/>
                        </a:rPr>
                        <a:t>99.0%</a:t>
                      </a:r>
                    </a:p>
                  </a:txBody>
                  <a:tcPr anchor="ctr">
                    <a:solidFill>
                      <a:srgbClr val="F0F4FA"/>
                    </a:solidFill>
                  </a:tcPr>
                </a:tc>
                <a:tc>
                  <a:txBody>
                    <a:bodyPr wrap="square"/>
                    <a:lstStyle/>
                    <a:p>
                      <a:r>
                        <a:rPr sz="1200" b="0" i="0">
                          <a:solidFill>
                            <a:srgbClr val="1A1A1A"/>
                          </a:solidFill>
                          <a:latin typeface="Calibri"/>
                        </a:rPr>
                        <a:t>Measurement habit (almost everywhere except Cleveland)</a:t>
                      </a:r>
                    </a:p>
                  </a:txBody>
                  <a:tcPr anchor="ctr">
                    <a:solidFill>
                      <a:srgbClr val="F0F4FA"/>
                    </a:solidFill>
                  </a:tcPr>
                </a:tc>
              </a:tr>
              <a:tr h="969264">
                <a:tc>
                  <a:txBody>
                    <a:bodyPr wrap="square"/>
                    <a:lstStyle/>
                    <a:p>
                      <a:r>
                        <a:rPr sz="1200" b="0" i="0">
                          <a:solidFill>
                            <a:srgbClr val="1A1A1A"/>
                          </a:solidFill>
                          <a:latin typeface="Calibri"/>
                        </a:rPr>
                        <a:t>Thalassemia test never recorded</a:t>
                      </a:r>
                    </a:p>
                  </a:txBody>
                  <a:tcPr anchor="ctr">
                    <a:solidFill>
                      <a:srgbClr val="FFFFFF"/>
                    </a:solidFill>
                  </a:tcPr>
                </a:tc>
                <a:tc>
                  <a:txBody>
                    <a:bodyPr wrap="square"/>
                    <a:lstStyle/>
                    <a:p>
                      <a:r>
                        <a:rPr sz="1200" b="0" i="0">
                          <a:solidFill>
                            <a:srgbClr val="1A1A1A"/>
                          </a:solidFill>
                          <a:latin typeface="Calibri"/>
                        </a:rPr>
                        <a:t>0.7%</a:t>
                      </a:r>
                    </a:p>
                  </a:txBody>
                  <a:tcPr anchor="ctr">
                    <a:solidFill>
                      <a:srgbClr val="FFFFFF"/>
                    </a:solidFill>
                  </a:tcPr>
                </a:tc>
                <a:tc>
                  <a:txBody>
                    <a:bodyPr wrap="square"/>
                    <a:lstStyle/>
                    <a:p>
                      <a:r>
                        <a:rPr sz="1200" b="0" i="0">
                          <a:solidFill>
                            <a:srgbClr val="1A1A1A"/>
                          </a:solidFill>
                          <a:latin typeface="Calibri"/>
                        </a:rPr>
                        <a:t>90.5%</a:t>
                      </a:r>
                    </a:p>
                  </a:txBody>
                  <a:tcPr anchor="ctr">
                    <a:solidFill>
                      <a:srgbClr val="FFFFFF"/>
                    </a:solidFill>
                  </a:tcPr>
                </a:tc>
                <a:tc>
                  <a:txBody>
                    <a:bodyPr wrap="square"/>
                    <a:lstStyle/>
                    <a:p>
                      <a:r>
                        <a:rPr sz="1200" b="0" i="0">
                          <a:solidFill>
                            <a:srgbClr val="1A1A1A"/>
                          </a:solidFill>
                          <a:latin typeface="Calibri"/>
                        </a:rPr>
                        <a:t>42.3%</a:t>
                      </a:r>
                    </a:p>
                  </a:txBody>
                  <a:tcPr anchor="ctr">
                    <a:solidFill>
                      <a:srgbClr val="FFFFFF"/>
                    </a:solidFill>
                  </a:tcPr>
                </a:tc>
                <a:tc>
                  <a:txBody>
                    <a:bodyPr wrap="square"/>
                    <a:lstStyle/>
                    <a:p>
                      <a:r>
                        <a:rPr sz="1200" b="0" i="0">
                          <a:solidFill>
                            <a:srgbClr val="1A1A1A"/>
                          </a:solidFill>
                          <a:latin typeface="Calibri"/>
                        </a:rPr>
                        <a:t>83.0%</a:t>
                      </a:r>
                    </a:p>
                  </a:txBody>
                  <a:tcPr anchor="ctr">
                    <a:solidFill>
                      <a:srgbClr val="FFFFFF"/>
                    </a:solidFill>
                  </a:tcPr>
                </a:tc>
                <a:tc>
                  <a:txBody>
                    <a:bodyPr wrap="square"/>
                    <a:lstStyle/>
                    <a:p>
                      <a:r>
                        <a:rPr sz="1200" b="0" i="0">
                          <a:solidFill>
                            <a:srgbClr val="1A1A1A"/>
                          </a:solidFill>
                          <a:latin typeface="Calibri"/>
                        </a:rPr>
                        <a:t>Measurement habit (almost everywhere except Cleveland)</a:t>
                      </a:r>
                    </a:p>
                  </a:txBody>
                  <a:tcPr anchor="ctr">
                    <a:solidFill>
                      <a:srgbClr val="FFFFFF"/>
                    </a:solidFill>
                  </a:tcPr>
                </a:tc>
              </a:tr>
              <a:tr h="969264">
                <a:tc>
                  <a:txBody>
                    <a:bodyPr wrap="square"/>
                    <a:lstStyle/>
                    <a:p>
                      <a:r>
                        <a:rPr sz="1200" b="0" i="0">
                          <a:solidFill>
                            <a:srgbClr val="1A1A1A"/>
                          </a:solidFill>
                          <a:latin typeface="Calibri"/>
                        </a:rPr>
                        <a:t>How severe the disease is</a:t>
                      </a:r>
                    </a:p>
                  </a:txBody>
                  <a:tcPr anchor="ctr">
                    <a:solidFill>
                      <a:srgbClr val="F0F4FA"/>
                    </a:solidFill>
                  </a:tcPr>
                </a:tc>
                <a:tc>
                  <a:txBody>
                    <a:bodyPr wrap="square"/>
                    <a:lstStyle/>
                    <a:p>
                      <a:r>
                        <a:rPr sz="1200" b="0" i="0">
                          <a:solidFill>
                            <a:srgbClr val="1A1A1A"/>
                          </a:solidFill>
                          <a:latin typeface="Calibri"/>
                        </a:rPr>
                        <a:t>mixed</a:t>
                      </a:r>
                    </a:p>
                  </a:txBody>
                  <a:tcPr anchor="ctr">
                    <a:solidFill>
                      <a:srgbClr val="F0F4FA"/>
                    </a:solidFill>
                  </a:tcPr>
                </a:tc>
                <a:tc>
                  <a:txBody>
                    <a:bodyPr wrap="square"/>
                    <a:lstStyle/>
                    <a:p>
                      <a:r>
                        <a:rPr sz="1200" b="0" i="0">
                          <a:solidFill>
                            <a:srgbClr val="1A1A1A"/>
                          </a:solidFill>
                          <a:latin typeface="Calibri"/>
                        </a:rPr>
                        <a:t>skews healthy</a:t>
                      </a:r>
                    </a:p>
                  </a:txBody>
                  <a:tcPr anchor="ctr">
                    <a:solidFill>
                      <a:srgbClr val="F0F4FA"/>
                    </a:solidFill>
                  </a:tcPr>
                </a:tc>
                <a:tc>
                  <a:txBody>
                    <a:bodyPr wrap="square"/>
                    <a:lstStyle/>
                    <a:p>
                      <a:r>
                        <a:rPr sz="1200" b="0" i="0">
                          <a:solidFill>
                            <a:srgbClr val="1A1A1A"/>
                          </a:solidFill>
                          <a:latin typeface="Calibri"/>
                        </a:rPr>
                        <a:t>skews sicker</a:t>
                      </a:r>
                    </a:p>
                  </a:txBody>
                  <a:tcPr anchor="ctr">
                    <a:solidFill>
                      <a:srgbClr val="F0F4FA"/>
                    </a:solidFill>
                  </a:tcPr>
                </a:tc>
                <a:tc>
                  <a:txBody>
                    <a:bodyPr wrap="square"/>
                    <a:lstStyle/>
                    <a:p>
                      <a:r>
                        <a:rPr sz="1200" b="0" i="0">
                          <a:solidFill>
                            <a:srgbClr val="1A1A1A"/>
                          </a:solidFill>
                          <a:latin typeface="Calibri"/>
                        </a:rPr>
                        <a:t>mixed</a:t>
                      </a:r>
                    </a:p>
                  </a:txBody>
                  <a:tcPr anchor="ctr">
                    <a:solidFill>
                      <a:srgbClr val="F0F4FA"/>
                    </a:solidFill>
                  </a:tcPr>
                </a:tc>
                <a:tc>
                  <a:txBody>
                    <a:bodyPr wrap="square"/>
                    <a:lstStyle/>
                    <a:p>
                      <a:r>
                        <a:rPr sz="1200" b="0" i="0">
                          <a:solidFill>
                            <a:srgbClr val="1A1A1A"/>
                          </a:solidFill>
                          <a:latin typeface="Calibri"/>
                        </a:rPr>
                        <a:t>Real difference in who the hospital sees</a:t>
                      </a:r>
                    </a:p>
                  </a:txBody>
                  <a:tcPr anchor="ctr">
                    <a:solidFill>
                      <a:srgbClr val="F0F4FA"/>
                    </a:solidFill>
                  </a:tcPr>
                </a:tc>
              </a:tr>
            </a:tbl>
          </a:graphicData>
        </a:graphic>
      </p:graphicFrame>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How much is missing, and what cholesterol looks like when it is recorded</a:t>
            </a:r>
          </a:p>
        </p:txBody>
      </p:sp>
      <p:pic>
        <p:nvPicPr>
          <p:cNvPr id="5" name="Picture 4" descr="02_missingness.png"/>
          <p:cNvPicPr>
            <a:picLocks noChangeAspect="1"/>
          </p:cNvPicPr>
          <p:nvPr/>
        </p:nvPicPr>
        <p:blipFill>
          <a:blip r:embed="rId2"/>
          <a:stretch>
            <a:fillRect/>
          </a:stretch>
        </p:blipFill>
        <p:spPr>
          <a:xfrm>
            <a:off x="640080" y="1508760"/>
            <a:ext cx="5181447" cy="2451893"/>
          </a:xfrm>
          <a:prstGeom prst="rect">
            <a:avLst/>
          </a:prstGeom>
        </p:spPr>
      </p:pic>
      <p:pic>
        <p:nvPicPr>
          <p:cNvPr id="6" name="Picture 5" descr="03_chol_distributions.png"/>
          <p:cNvPicPr>
            <a:picLocks noChangeAspect="1"/>
          </p:cNvPicPr>
          <p:nvPr/>
        </p:nvPicPr>
        <p:blipFill>
          <a:blip r:embed="rId3"/>
          <a:stretch>
            <a:fillRect/>
          </a:stretch>
        </p:blipFill>
        <p:spPr>
          <a:xfrm>
            <a:off x="6370167" y="1508760"/>
            <a:ext cx="5181447" cy="2678545"/>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the fraction of patients missing each measurement, by hospital — cholesterol's complete 100% gap at Switzerland stands out, alongside the much bigger, near-universal gap in vessel count and thalassemia results outside Cleveland. Right: cholesterol values where they were actually recorded (Switzerland has none to show). Why is Switzerland at 100%? Every one of its patients has cholesterol coded as exactly 0 mg/dl in the original source file — a value that's biologically impossible for a living patient, so it's clearly a placeholder for “not measured,” not a real reading. This dataset was assembled from four separate hospital studies run independently in 1988–89, each using its own case-report form; the most likely explanation is that serum cholesterol simply wasn't part of the Zurich/Basel site's own data-collection protocol the way it was at Cleveland — a difference in what got tested, not a data-loss accident. No surviving documentation from the original study states this explicitly, so treat it as the best-supported reading of the evidence, not a confirmed fact.</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A real difference in outcomes: how severe cases are, by hospital</a:t>
            </a:r>
          </a:p>
        </p:txBody>
      </p:sp>
      <p:graphicFrame>
        <p:nvGraphicFramePr>
          <p:cNvPr id="5" name="Table 4"/>
          <p:cNvGraphicFramePr>
            <a:graphicFrameLocks noGrp="1"/>
          </p:cNvGraphicFramePr>
          <p:nvPr/>
        </p:nvGraphicFramePr>
        <p:xfrm>
          <a:off x="640080" y="1508760"/>
          <a:ext cx="10911533" cy="4416552"/>
        </p:xfrm>
        <a:graphic>
          <a:graphicData uri="http://schemas.openxmlformats.org/drawingml/2006/table">
            <a:tbl>
              <a:tblPr firstRow="1" bandRow="1">
                <a:tableStyleId>{5C22544A-7EE6-4342-B048-85BDC9FD1C3A}</a:tableStyleId>
              </a:tblPr>
              <a:tblGrid>
                <a:gridCol w="2283809"/>
                <a:gridCol w="1649418"/>
                <a:gridCol w="1649418"/>
                <a:gridCol w="1903174"/>
                <a:gridCol w="1395661"/>
                <a:gridCol w="2030053"/>
              </a:tblGrid>
              <a:tr h="736092">
                <a:tc>
                  <a:txBody>
                    <a:bodyPr wrap="square"/>
                    <a:lstStyle/>
                    <a:p>
                      <a:r>
                        <a:rPr sz="1400" b="1" i="0">
                          <a:solidFill>
                            <a:srgbClr val="FFFFFF"/>
                          </a:solidFill>
                          <a:latin typeface="Calibri"/>
                        </a:rPr>
                        <a:t>Severity</a:t>
                      </a:r>
                    </a:p>
                  </a:txBody>
                  <a:tcPr anchor="ctr">
                    <a:solidFill>
                      <a:srgbClr val="2A78D6"/>
                    </a:solidFill>
                  </a:tcPr>
                </a:tc>
                <a:tc>
                  <a:txBody>
                    <a:bodyPr wrap="square"/>
                    <a:lstStyle/>
                    <a:p>
                      <a:r>
                        <a:rPr sz="1400" b="1" i="0">
                          <a:solidFill>
                            <a:srgbClr val="FFFFFF"/>
                          </a:solidFill>
                          <a:latin typeface="Calibri"/>
                        </a:rPr>
                        <a:t>Cleveland</a:t>
                      </a:r>
                    </a:p>
                  </a:txBody>
                  <a:tcPr anchor="ctr">
                    <a:solidFill>
                      <a:srgbClr val="2A78D6"/>
                    </a:solidFill>
                  </a:tcPr>
                </a:tc>
                <a:tc>
                  <a:txBody>
                    <a:bodyPr wrap="square"/>
                    <a:lstStyle/>
                    <a:p>
                      <a:r>
                        <a:rPr sz="1400" b="1" i="0">
                          <a:solidFill>
                            <a:srgbClr val="FFFFFF"/>
                          </a:solidFill>
                          <a:latin typeface="Calibri"/>
                        </a:rPr>
                        <a:t>Hungary</a:t>
                      </a:r>
                    </a:p>
                  </a:txBody>
                  <a:tcPr anchor="ctr">
                    <a:solidFill>
                      <a:srgbClr val="2A78D6"/>
                    </a:solidFill>
                  </a:tcPr>
                </a:tc>
                <a:tc>
                  <a:txBody>
                    <a:bodyPr wrap="square"/>
                    <a:lstStyle/>
                    <a:p>
                      <a:r>
                        <a:rPr sz="1400" b="1" i="0">
                          <a:solidFill>
                            <a:srgbClr val="FFFFFF"/>
                          </a:solidFill>
                          <a:latin typeface="Calibri"/>
                        </a:rPr>
                        <a:t>Switzerland</a:t>
                      </a:r>
                    </a:p>
                  </a:txBody>
                  <a:tcPr anchor="ctr">
                    <a:solidFill>
                      <a:srgbClr val="2A78D6"/>
                    </a:solidFill>
                  </a:tcPr>
                </a:tc>
                <a:tc>
                  <a:txBody>
                    <a:bodyPr wrap="square"/>
                    <a:lstStyle/>
                    <a:p>
                      <a:r>
                        <a:rPr sz="1400" b="1" i="0">
                          <a:solidFill>
                            <a:srgbClr val="FFFFFF"/>
                          </a:solidFill>
                          <a:latin typeface="Calibri"/>
                        </a:rPr>
                        <a:t>V.A.</a:t>
                      </a:r>
                    </a:p>
                  </a:txBody>
                  <a:tcPr anchor="ctr">
                    <a:solidFill>
                      <a:srgbClr val="2A78D6"/>
                    </a:solidFill>
                  </a:tcPr>
                </a:tc>
                <a:tc>
                  <a:txBody>
                    <a:bodyPr wrap="square"/>
                    <a:lstStyle/>
                    <a:p>
                      <a:r>
                        <a:rPr sz="1400" b="1" i="0">
                          <a:solidFill>
                            <a:srgbClr val="FFFFFF"/>
                          </a:solidFill>
                          <a:latin typeface="Calibri"/>
                        </a:rPr>
                        <a:t>All combined</a:t>
                      </a:r>
                    </a:p>
                  </a:txBody>
                  <a:tcPr anchor="ctr">
                    <a:solidFill>
                      <a:srgbClr val="2A78D6"/>
                    </a:solidFill>
                  </a:tcPr>
                </a:tc>
              </a:tr>
              <a:tr h="736092">
                <a:tc>
                  <a:txBody>
                    <a:bodyPr wrap="square"/>
                    <a:lstStyle/>
                    <a:p>
                      <a:r>
                        <a:rPr sz="1350" b="0" i="0">
                          <a:solidFill>
                            <a:srgbClr val="1A1A1A"/>
                          </a:solidFill>
                          <a:latin typeface="Calibri"/>
                        </a:rPr>
                        <a:t>No disease</a:t>
                      </a:r>
                    </a:p>
                  </a:txBody>
                  <a:tcPr anchor="ctr">
                    <a:solidFill>
                      <a:srgbClr val="FFFFFF"/>
                    </a:solidFill>
                  </a:tcPr>
                </a:tc>
                <a:tc>
                  <a:txBody>
                    <a:bodyPr wrap="square"/>
                    <a:lstStyle/>
                    <a:p>
                      <a:r>
                        <a:rPr sz="1350" b="0" i="0">
                          <a:solidFill>
                            <a:srgbClr val="1A1A1A"/>
                          </a:solidFill>
                          <a:latin typeface="Calibri"/>
                        </a:rPr>
                        <a:t>164</a:t>
                      </a:r>
                    </a:p>
                  </a:txBody>
                  <a:tcPr anchor="ctr">
                    <a:solidFill>
                      <a:srgbClr val="FFFFFF"/>
                    </a:solidFill>
                  </a:tcPr>
                </a:tc>
                <a:tc>
                  <a:txBody>
                    <a:bodyPr wrap="square"/>
                    <a:lstStyle/>
                    <a:p>
                      <a:r>
                        <a:rPr sz="1350" b="0" i="0">
                          <a:solidFill>
                            <a:srgbClr val="1A1A1A"/>
                          </a:solidFill>
                          <a:latin typeface="Calibri"/>
                        </a:rPr>
                        <a:t>188</a:t>
                      </a:r>
                    </a:p>
                  </a:txBody>
                  <a:tcPr anchor="ctr">
                    <a:solidFill>
                      <a:srgbClr val="FFFFFF"/>
                    </a:solidFill>
                  </a:tcPr>
                </a:tc>
                <a:tc>
                  <a:txBody>
                    <a:bodyPr wrap="square"/>
                    <a:lstStyle/>
                    <a:p>
                      <a:r>
                        <a:rPr sz="1350" b="0" i="0">
                          <a:solidFill>
                            <a:srgbClr val="1A1A1A"/>
                          </a:solidFill>
                          <a:latin typeface="Calibri"/>
                        </a:rPr>
                        <a:t>8</a:t>
                      </a:r>
                    </a:p>
                  </a:txBody>
                  <a:tcPr anchor="ctr">
                    <a:solidFill>
                      <a:srgbClr val="FFFFFF"/>
                    </a:solidFill>
                  </a:tcPr>
                </a:tc>
                <a:tc>
                  <a:txBody>
                    <a:bodyPr wrap="square"/>
                    <a:lstStyle/>
                    <a:p>
                      <a:r>
                        <a:rPr sz="1350" b="0" i="0">
                          <a:solidFill>
                            <a:srgbClr val="1A1A1A"/>
                          </a:solidFill>
                          <a:latin typeface="Calibri"/>
                        </a:rPr>
                        <a:t>51</a:t>
                      </a:r>
                    </a:p>
                  </a:txBody>
                  <a:tcPr anchor="ctr">
                    <a:solidFill>
                      <a:srgbClr val="FFFFFF"/>
                    </a:solidFill>
                  </a:tcPr>
                </a:tc>
                <a:tc>
                  <a:txBody>
                    <a:bodyPr wrap="square"/>
                    <a:lstStyle/>
                    <a:p>
                      <a:r>
                        <a:rPr sz="1350" b="0" i="0">
                          <a:solidFill>
                            <a:srgbClr val="1A1A1A"/>
                          </a:solidFill>
                          <a:latin typeface="Calibri"/>
                        </a:rPr>
                        <a:t>411 (44.7%)</a:t>
                      </a:r>
                    </a:p>
                  </a:txBody>
                  <a:tcPr anchor="ctr">
                    <a:solidFill>
                      <a:srgbClr val="FFFFFF"/>
                    </a:solidFill>
                  </a:tcPr>
                </a:tc>
              </a:tr>
              <a:tr h="736092">
                <a:tc>
                  <a:txBody>
                    <a:bodyPr wrap="square"/>
                    <a:lstStyle/>
                    <a:p>
                      <a:r>
                        <a:rPr sz="1350" b="0" i="0">
                          <a:solidFill>
                            <a:srgbClr val="1A1A1A"/>
                          </a:solidFill>
                          <a:latin typeface="Calibri"/>
                        </a:rPr>
                        <a:t>Mild</a:t>
                      </a:r>
                    </a:p>
                  </a:txBody>
                  <a:tcPr anchor="ctr">
                    <a:solidFill>
                      <a:srgbClr val="F0F4FA"/>
                    </a:solidFill>
                  </a:tcPr>
                </a:tc>
                <a:tc>
                  <a:txBody>
                    <a:bodyPr wrap="square"/>
                    <a:lstStyle/>
                    <a:p>
                      <a:r>
                        <a:rPr sz="1350" b="0" i="0">
                          <a:solidFill>
                            <a:srgbClr val="1A1A1A"/>
                          </a:solidFill>
                          <a:latin typeface="Calibri"/>
                        </a:rPr>
                        <a:t>55</a:t>
                      </a:r>
                    </a:p>
                  </a:txBody>
                  <a:tcPr anchor="ctr">
                    <a:solidFill>
                      <a:srgbClr val="F0F4FA"/>
                    </a:solidFill>
                  </a:tcPr>
                </a:tc>
                <a:tc>
                  <a:txBody>
                    <a:bodyPr wrap="square"/>
                    <a:lstStyle/>
                    <a:p>
                      <a:r>
                        <a:rPr sz="1350" b="0" i="0">
                          <a:solidFill>
                            <a:srgbClr val="1A1A1A"/>
                          </a:solidFill>
                          <a:latin typeface="Calibri"/>
                        </a:rPr>
                        <a:t>37</a:t>
                      </a:r>
                    </a:p>
                  </a:txBody>
                  <a:tcPr anchor="ctr">
                    <a:solidFill>
                      <a:srgbClr val="F0F4FA"/>
                    </a:solidFill>
                  </a:tcPr>
                </a:tc>
                <a:tc>
                  <a:txBody>
                    <a:bodyPr wrap="square"/>
                    <a:lstStyle/>
                    <a:p>
                      <a:r>
                        <a:rPr sz="1350" b="0" i="0">
                          <a:solidFill>
                            <a:srgbClr val="1A1A1A"/>
                          </a:solidFill>
                          <a:latin typeface="Calibri"/>
                        </a:rPr>
                        <a:t>48</a:t>
                      </a:r>
                    </a:p>
                  </a:txBody>
                  <a:tcPr anchor="ctr">
                    <a:solidFill>
                      <a:srgbClr val="F0F4FA"/>
                    </a:solidFill>
                  </a:tcPr>
                </a:tc>
                <a:tc>
                  <a:txBody>
                    <a:bodyPr wrap="square"/>
                    <a:lstStyle/>
                    <a:p>
                      <a:r>
                        <a:rPr sz="1350" b="0" i="0">
                          <a:solidFill>
                            <a:srgbClr val="1A1A1A"/>
                          </a:solidFill>
                          <a:latin typeface="Calibri"/>
                        </a:rPr>
                        <a:t>56</a:t>
                      </a:r>
                    </a:p>
                  </a:txBody>
                  <a:tcPr anchor="ctr">
                    <a:solidFill>
                      <a:srgbClr val="F0F4FA"/>
                    </a:solidFill>
                  </a:tcPr>
                </a:tc>
                <a:tc>
                  <a:txBody>
                    <a:bodyPr wrap="square"/>
                    <a:lstStyle/>
                    <a:p>
                      <a:r>
                        <a:rPr sz="1350" b="0" i="0">
                          <a:solidFill>
                            <a:srgbClr val="1A1A1A"/>
                          </a:solidFill>
                          <a:latin typeface="Calibri"/>
                        </a:rPr>
                        <a:t>196 (21.3%)</a:t>
                      </a:r>
                    </a:p>
                  </a:txBody>
                  <a:tcPr anchor="ctr">
                    <a:solidFill>
                      <a:srgbClr val="F0F4FA"/>
                    </a:solidFill>
                  </a:tcPr>
                </a:tc>
              </a:tr>
              <a:tr h="736092">
                <a:tc>
                  <a:txBody>
                    <a:bodyPr wrap="square"/>
                    <a:lstStyle/>
                    <a:p>
                      <a:r>
                        <a:rPr sz="1350" b="0" i="0">
                          <a:solidFill>
                            <a:srgbClr val="1A1A1A"/>
                          </a:solidFill>
                          <a:latin typeface="Calibri"/>
                        </a:rPr>
                        <a:t>Moderate</a:t>
                      </a:r>
                    </a:p>
                  </a:txBody>
                  <a:tcPr anchor="ctr">
                    <a:solidFill>
                      <a:srgbClr val="FFFFFF"/>
                    </a:solidFill>
                  </a:tcPr>
                </a:tc>
                <a:tc>
                  <a:txBody>
                    <a:bodyPr wrap="square"/>
                    <a:lstStyle/>
                    <a:p>
                      <a:r>
                        <a:rPr sz="1350" b="0" i="0">
                          <a:solidFill>
                            <a:srgbClr val="1A1A1A"/>
                          </a:solidFill>
                          <a:latin typeface="Calibri"/>
                        </a:rPr>
                        <a:t>36</a:t>
                      </a:r>
                    </a:p>
                  </a:txBody>
                  <a:tcPr anchor="ctr">
                    <a:solidFill>
                      <a:srgbClr val="FFFFFF"/>
                    </a:solidFill>
                  </a:tcPr>
                </a:tc>
                <a:tc>
                  <a:txBody>
                    <a:bodyPr wrap="square"/>
                    <a:lstStyle/>
                    <a:p>
                      <a:r>
                        <a:rPr sz="1350" b="0" i="0">
                          <a:solidFill>
                            <a:srgbClr val="1A1A1A"/>
                          </a:solidFill>
                          <a:latin typeface="Calibri"/>
                        </a:rPr>
                        <a:t>26</a:t>
                      </a:r>
                    </a:p>
                  </a:txBody>
                  <a:tcPr anchor="ctr">
                    <a:solidFill>
                      <a:srgbClr val="FFFFFF"/>
                    </a:solidFill>
                  </a:tcPr>
                </a:tc>
                <a:tc>
                  <a:txBody>
                    <a:bodyPr wrap="square"/>
                    <a:lstStyle/>
                    <a:p>
                      <a:r>
                        <a:rPr sz="1350" b="0" i="0">
                          <a:solidFill>
                            <a:srgbClr val="1A1A1A"/>
                          </a:solidFill>
                          <a:latin typeface="Calibri"/>
                        </a:rPr>
                        <a:t>32</a:t>
                      </a:r>
                    </a:p>
                  </a:txBody>
                  <a:tcPr anchor="ctr">
                    <a:solidFill>
                      <a:srgbClr val="FFFFFF"/>
                    </a:solidFill>
                  </a:tcPr>
                </a:tc>
                <a:tc>
                  <a:txBody>
                    <a:bodyPr wrap="square"/>
                    <a:lstStyle/>
                    <a:p>
                      <a:r>
                        <a:rPr sz="1350" b="0" i="0">
                          <a:solidFill>
                            <a:srgbClr val="1A1A1A"/>
                          </a:solidFill>
                          <a:latin typeface="Calibri"/>
                        </a:rPr>
                        <a:t>41</a:t>
                      </a:r>
                    </a:p>
                  </a:txBody>
                  <a:tcPr anchor="ctr">
                    <a:solidFill>
                      <a:srgbClr val="FFFFFF"/>
                    </a:solidFill>
                  </a:tcPr>
                </a:tc>
                <a:tc>
                  <a:txBody>
                    <a:bodyPr wrap="square"/>
                    <a:lstStyle/>
                    <a:p>
                      <a:r>
                        <a:rPr sz="1350" b="0" i="0">
                          <a:solidFill>
                            <a:srgbClr val="1A1A1A"/>
                          </a:solidFill>
                          <a:latin typeface="Calibri"/>
                        </a:rPr>
                        <a:t>135 (14.7%)</a:t>
                      </a:r>
                    </a:p>
                  </a:txBody>
                  <a:tcPr anchor="ctr">
                    <a:solidFill>
                      <a:srgbClr val="FFFFFF"/>
                    </a:solidFill>
                  </a:tcPr>
                </a:tc>
              </a:tr>
              <a:tr h="736092">
                <a:tc>
                  <a:txBody>
                    <a:bodyPr wrap="square"/>
                    <a:lstStyle/>
                    <a:p>
                      <a:r>
                        <a:rPr sz="1350" b="0" i="0">
                          <a:solidFill>
                            <a:srgbClr val="1A1A1A"/>
                          </a:solidFill>
                          <a:latin typeface="Calibri"/>
                        </a:rPr>
                        <a:t>Severe</a:t>
                      </a:r>
                    </a:p>
                  </a:txBody>
                  <a:tcPr anchor="ctr">
                    <a:solidFill>
                      <a:srgbClr val="F0F4FA"/>
                    </a:solidFill>
                  </a:tcPr>
                </a:tc>
                <a:tc>
                  <a:txBody>
                    <a:bodyPr wrap="square"/>
                    <a:lstStyle/>
                    <a:p>
                      <a:r>
                        <a:rPr sz="1350" b="0" i="0">
                          <a:solidFill>
                            <a:srgbClr val="1A1A1A"/>
                          </a:solidFill>
                          <a:latin typeface="Calibri"/>
                        </a:rPr>
                        <a:t>35</a:t>
                      </a:r>
                    </a:p>
                  </a:txBody>
                  <a:tcPr anchor="ctr">
                    <a:solidFill>
                      <a:srgbClr val="F0F4FA"/>
                    </a:solidFill>
                  </a:tcPr>
                </a:tc>
                <a:tc>
                  <a:txBody>
                    <a:bodyPr wrap="square"/>
                    <a:lstStyle/>
                    <a:p>
                      <a:r>
                        <a:rPr sz="1350" b="0" i="0">
                          <a:solidFill>
                            <a:srgbClr val="1A1A1A"/>
                          </a:solidFill>
                          <a:latin typeface="Calibri"/>
                        </a:rPr>
                        <a:t>28</a:t>
                      </a:r>
                    </a:p>
                  </a:txBody>
                  <a:tcPr anchor="ctr">
                    <a:solidFill>
                      <a:srgbClr val="F0F4FA"/>
                    </a:solidFill>
                  </a:tcPr>
                </a:tc>
                <a:tc>
                  <a:txBody>
                    <a:bodyPr wrap="square"/>
                    <a:lstStyle/>
                    <a:p>
                      <a:r>
                        <a:rPr sz="1350" b="0" i="0">
                          <a:solidFill>
                            <a:srgbClr val="1A1A1A"/>
                          </a:solidFill>
                          <a:latin typeface="Calibri"/>
                        </a:rPr>
                        <a:t>30</a:t>
                      </a:r>
                    </a:p>
                  </a:txBody>
                  <a:tcPr anchor="ctr">
                    <a:solidFill>
                      <a:srgbClr val="F0F4FA"/>
                    </a:solidFill>
                  </a:tcPr>
                </a:tc>
                <a:tc>
                  <a:txBody>
                    <a:bodyPr wrap="square"/>
                    <a:lstStyle/>
                    <a:p>
                      <a:r>
                        <a:rPr sz="1350" b="0" i="0">
                          <a:solidFill>
                            <a:srgbClr val="1A1A1A"/>
                          </a:solidFill>
                          <a:latin typeface="Calibri"/>
                        </a:rPr>
                        <a:t>42</a:t>
                      </a:r>
                    </a:p>
                  </a:txBody>
                  <a:tcPr anchor="ctr">
                    <a:solidFill>
                      <a:srgbClr val="F0F4FA"/>
                    </a:solidFill>
                  </a:tcPr>
                </a:tc>
                <a:tc>
                  <a:txBody>
                    <a:bodyPr wrap="square"/>
                    <a:lstStyle/>
                    <a:p>
                      <a:r>
                        <a:rPr sz="1350" b="0" i="0">
                          <a:solidFill>
                            <a:srgbClr val="1A1A1A"/>
                          </a:solidFill>
                          <a:latin typeface="Calibri"/>
                        </a:rPr>
                        <a:t>135 (14.7%)</a:t>
                      </a:r>
                    </a:p>
                  </a:txBody>
                  <a:tcPr anchor="ctr">
                    <a:solidFill>
                      <a:srgbClr val="F0F4FA"/>
                    </a:solidFill>
                  </a:tcPr>
                </a:tc>
              </a:tr>
              <a:tr h="736092">
                <a:tc>
                  <a:txBody>
                    <a:bodyPr wrap="square"/>
                    <a:lstStyle/>
                    <a:p>
                      <a:r>
                        <a:rPr sz="1350" b="0" i="0">
                          <a:solidFill>
                            <a:srgbClr val="1A1A1A"/>
                          </a:solidFill>
                          <a:latin typeface="Calibri"/>
                        </a:rPr>
                        <a:t>Critical</a:t>
                      </a:r>
                    </a:p>
                  </a:txBody>
                  <a:tcPr anchor="ctr">
                    <a:solidFill>
                      <a:srgbClr val="FFFFFF"/>
                    </a:solidFill>
                  </a:tcPr>
                </a:tc>
                <a:tc>
                  <a:txBody>
                    <a:bodyPr wrap="square"/>
                    <a:lstStyle/>
                    <a:p>
                      <a:r>
                        <a:rPr sz="1350" b="0" i="0">
                          <a:solidFill>
                            <a:srgbClr val="1A1A1A"/>
                          </a:solidFill>
                          <a:latin typeface="Calibri"/>
                        </a:rPr>
                        <a:t>13</a:t>
                      </a:r>
                    </a:p>
                  </a:txBody>
                  <a:tcPr anchor="ctr">
                    <a:solidFill>
                      <a:srgbClr val="FFFFFF"/>
                    </a:solidFill>
                  </a:tcPr>
                </a:tc>
                <a:tc>
                  <a:txBody>
                    <a:bodyPr wrap="square"/>
                    <a:lstStyle/>
                    <a:p>
                      <a:r>
                        <a:rPr sz="1350" b="0" i="0">
                          <a:solidFill>
                            <a:srgbClr val="1A1A1A"/>
                          </a:solidFill>
                          <a:latin typeface="Calibri"/>
                        </a:rPr>
                        <a:t>15</a:t>
                      </a:r>
                    </a:p>
                  </a:txBody>
                  <a:tcPr anchor="ctr">
                    <a:solidFill>
                      <a:srgbClr val="FFFFFF"/>
                    </a:solidFill>
                  </a:tcPr>
                </a:tc>
                <a:tc>
                  <a:txBody>
                    <a:bodyPr wrap="square"/>
                    <a:lstStyle/>
                    <a:p>
                      <a:r>
                        <a:rPr sz="1350" b="0" i="0">
                          <a:solidFill>
                            <a:srgbClr val="1A1A1A"/>
                          </a:solidFill>
                          <a:latin typeface="Calibri"/>
                        </a:rPr>
                        <a:t>5</a:t>
                      </a:r>
                    </a:p>
                  </a:txBody>
                  <a:tcPr anchor="ctr">
                    <a:solidFill>
                      <a:srgbClr val="FFFFFF"/>
                    </a:solidFill>
                  </a:tcPr>
                </a:tc>
                <a:tc>
                  <a:txBody>
                    <a:bodyPr wrap="square"/>
                    <a:lstStyle/>
                    <a:p>
                      <a:r>
                        <a:rPr sz="1350" b="0" i="0">
                          <a:solidFill>
                            <a:srgbClr val="1A1A1A"/>
                          </a:solidFill>
                          <a:latin typeface="Calibri"/>
                        </a:rPr>
                        <a:t>10</a:t>
                      </a:r>
                    </a:p>
                  </a:txBody>
                  <a:tcPr anchor="ctr">
                    <a:solidFill>
                      <a:srgbClr val="FFFFFF"/>
                    </a:solidFill>
                  </a:tcPr>
                </a:tc>
                <a:tc>
                  <a:txBody>
                    <a:bodyPr wrap="square"/>
                    <a:lstStyle/>
                    <a:p>
                      <a:r>
                        <a:rPr sz="1350" b="0" i="0">
                          <a:solidFill>
                            <a:srgbClr val="1A1A1A"/>
                          </a:solidFill>
                          <a:latin typeface="Calibri"/>
                        </a:rPr>
                        <a:t>43 (4.7%)</a:t>
                      </a:r>
                    </a:p>
                  </a:txBody>
                  <a:tcPr anchor="ctr">
                    <a:solidFill>
                      <a:srgbClr val="FFFFFF"/>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Hungary is mostly “no disease”; Switzerland is almost entirely disease-positive.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severity split, overall and by hospital</a:t>
            </a:r>
          </a:p>
        </p:txBody>
      </p:sp>
      <p:pic>
        <p:nvPicPr>
          <p:cNvPr id="5" name="Picture 4" descr="e01_target_distribution.png"/>
          <p:cNvPicPr>
            <a:picLocks noChangeAspect="1"/>
          </p:cNvPicPr>
          <p:nvPr/>
        </p:nvPicPr>
        <p:blipFill>
          <a:blip r:embed="rId2"/>
          <a:stretch>
            <a:fillRect/>
          </a:stretch>
        </p:blipFill>
        <p:spPr>
          <a:xfrm>
            <a:off x="640080" y="1508760"/>
            <a:ext cx="5181447" cy="2056685"/>
          </a:xfrm>
          <a:prstGeom prst="rect">
            <a:avLst/>
          </a:prstGeom>
        </p:spPr>
      </p:pic>
      <p:pic>
        <p:nvPicPr>
          <p:cNvPr id="6" name="Picture 5" descr="e02_target_by_site.png"/>
          <p:cNvPicPr>
            <a:picLocks noChangeAspect="1"/>
          </p:cNvPicPr>
          <p:nvPr/>
        </p:nvPicPr>
        <p:blipFill>
          <a:blip r:embed="rId3"/>
          <a:stretch>
            <a:fillRect/>
          </a:stretch>
        </p:blipFill>
        <p:spPr>
          <a:xfrm>
            <a:off x="6370167" y="1508760"/>
            <a:ext cx="5181447" cy="2638552"/>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the overall severity split across all 920 patients, plus a simplified any-disease-or-not summary. Right: the same breakdown, now split out by hospital — the previous table, drawn as a picture.</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A simple test: can you guess the hospital just from the patient's numbers?</a:t>
            </a:r>
          </a:p>
        </p:txBody>
      </p:sp>
      <p:graphicFrame>
        <p:nvGraphicFramePr>
          <p:cNvPr id="5" name="Table 4"/>
          <p:cNvGraphicFramePr>
            <a:graphicFrameLocks noGrp="1"/>
          </p:cNvGraphicFramePr>
          <p:nvPr/>
        </p:nvGraphicFramePr>
        <p:xfrm>
          <a:off x="640080" y="1508760"/>
          <a:ext cx="10911535" cy="4416552"/>
        </p:xfrm>
        <a:graphic>
          <a:graphicData uri="http://schemas.openxmlformats.org/drawingml/2006/table">
            <a:tbl>
              <a:tblPr firstRow="1" bandRow="1">
                <a:tableStyleId>{5C22544A-7EE6-4342-B048-85BDC9FD1C3A}</a:tableStyleId>
              </a:tblPr>
              <a:tblGrid>
                <a:gridCol w="2182307"/>
                <a:gridCol w="2182307"/>
                <a:gridCol w="2182307"/>
                <a:gridCol w="2182307"/>
                <a:gridCol w="2182307"/>
              </a:tblGrid>
              <a:tr h="883310">
                <a:tc>
                  <a:txBody>
                    <a:bodyPr wrap="square"/>
                    <a:lstStyle/>
                    <a:p>
                      <a:r>
                        <a:rPr sz="1500" b="1" i="0">
                          <a:solidFill>
                            <a:srgbClr val="FFFFFF"/>
                          </a:solidFill>
                          <a:latin typeface="Calibri"/>
                        </a:rPr>
                        <a:t/>
                      </a:r>
                    </a:p>
                  </a:txBody>
                  <a:tcPr anchor="ctr">
                    <a:solidFill>
                      <a:srgbClr val="2A78D6"/>
                    </a:solidFill>
                  </a:tcPr>
                </a:tc>
                <a:tc>
                  <a:txBody>
                    <a:bodyPr wrap="square"/>
                    <a:lstStyle/>
                    <a:p>
                      <a:r>
                        <a:rPr sz="1500" b="1" i="0">
                          <a:solidFill>
                            <a:srgbClr val="FFFFFF"/>
                          </a:solidFill>
                          <a:latin typeface="Calibri"/>
                        </a:rPr>
                        <a:t>Cleveland</a:t>
                      </a:r>
                    </a:p>
                  </a:txBody>
                  <a:tcPr anchor="ctr">
                    <a:solidFill>
                      <a:srgbClr val="2A78D6"/>
                    </a:solidFill>
                  </a:tcPr>
                </a:tc>
                <a:tc>
                  <a:txBody>
                    <a:bodyPr wrap="square"/>
                    <a:lstStyle/>
                    <a:p>
                      <a:r>
                        <a:rPr sz="1500" b="1" i="0">
                          <a:solidFill>
                            <a:srgbClr val="FFFFFF"/>
                          </a:solidFill>
                          <a:latin typeface="Calibri"/>
                        </a:rPr>
                        <a:t>Hungary</a:t>
                      </a:r>
                    </a:p>
                  </a:txBody>
                  <a:tcPr anchor="ctr">
                    <a:solidFill>
                      <a:srgbClr val="2A78D6"/>
                    </a:solidFill>
                  </a:tcPr>
                </a:tc>
                <a:tc>
                  <a:txBody>
                    <a:bodyPr wrap="square"/>
                    <a:lstStyle/>
                    <a:p>
                      <a:r>
                        <a:rPr sz="1500" b="1" i="0">
                          <a:solidFill>
                            <a:srgbClr val="FFFFFF"/>
                          </a:solidFill>
                          <a:latin typeface="Calibri"/>
                        </a:rPr>
                        <a:t>Switzerland</a:t>
                      </a:r>
                    </a:p>
                  </a:txBody>
                  <a:tcPr anchor="ctr">
                    <a:solidFill>
                      <a:srgbClr val="2A78D6"/>
                    </a:solidFill>
                  </a:tcPr>
                </a:tc>
                <a:tc>
                  <a:txBody>
                    <a:bodyPr wrap="square"/>
                    <a:lstStyle/>
                    <a:p>
                      <a:r>
                        <a:rPr sz="1500" b="1" i="0">
                          <a:solidFill>
                            <a:srgbClr val="FFFFFF"/>
                          </a:solidFill>
                          <a:latin typeface="Calibri"/>
                        </a:rPr>
                        <a:t>V.A.</a:t>
                      </a:r>
                    </a:p>
                  </a:txBody>
                  <a:tcPr anchor="ctr">
                    <a:solidFill>
                      <a:srgbClr val="2A78D6"/>
                    </a:solidFill>
                  </a:tcPr>
                </a:tc>
              </a:tr>
              <a:tr h="883310">
                <a:tc>
                  <a:txBody>
                    <a:bodyPr wrap="square"/>
                    <a:lstStyle/>
                    <a:p>
                      <a:r>
                        <a:rPr sz="1500" b="0" i="0">
                          <a:solidFill>
                            <a:srgbClr val="1A1A1A"/>
                          </a:solidFill>
                          <a:latin typeface="Calibri"/>
                        </a:rPr>
                        <a:t>Cleveland</a:t>
                      </a:r>
                    </a:p>
                  </a:txBody>
                  <a:tcPr anchor="ctr">
                    <a:solidFill>
                      <a:srgbClr val="FFFFFF"/>
                    </a:solidFill>
                  </a:tcPr>
                </a:tc>
                <a:tc>
                  <a:txBody>
                    <a:bodyPr wrap="square"/>
                    <a:lstStyle/>
                    <a:p>
                      <a:r>
                        <a:rPr sz="1500" b="0" i="0">
                          <a:solidFill>
                            <a:srgbClr val="1A1A1A"/>
                          </a:solidFill>
                          <a:latin typeface="Calibri"/>
                        </a:rPr>
                        <a:t>50 / 50</a:t>
                      </a:r>
                    </a:p>
                  </a:txBody>
                  <a:tcPr anchor="ctr">
                    <a:solidFill>
                      <a:srgbClr val="FFFFFF"/>
                    </a:solidFill>
                  </a:tcPr>
                </a:tc>
                <a:tc>
                  <a:txBody>
                    <a:bodyPr wrap="square"/>
                    <a:lstStyle/>
                    <a:p>
                      <a:r>
                        <a:rPr sz="1500" b="0" i="0">
                          <a:solidFill>
                            <a:srgbClr val="1A1A1A"/>
                          </a:solidFill>
                          <a:latin typeface="Calibri"/>
                        </a:rPr>
                        <a:t>89%</a:t>
                      </a:r>
                    </a:p>
                  </a:txBody>
                  <a:tcPr anchor="ctr">
                    <a:solidFill>
                      <a:srgbClr val="FFFFFF"/>
                    </a:solidFill>
                  </a:tcPr>
                </a:tc>
                <a:tc>
                  <a:txBody>
                    <a:bodyPr wrap="square"/>
                    <a:lstStyle/>
                    <a:p>
                      <a:r>
                        <a:rPr sz="1500" b="0" i="0">
                          <a:solidFill>
                            <a:srgbClr val="1A1A1A"/>
                          </a:solidFill>
                          <a:latin typeface="Calibri"/>
                        </a:rPr>
                        <a:t>100%</a:t>
                      </a:r>
                    </a:p>
                  </a:txBody>
                  <a:tcPr anchor="ctr">
                    <a:solidFill>
                      <a:srgbClr val="FFFFFF"/>
                    </a:solidFill>
                  </a:tcPr>
                </a:tc>
                <a:tc>
                  <a:txBody>
                    <a:bodyPr wrap="square"/>
                    <a:lstStyle/>
                    <a:p>
                      <a:r>
                        <a:rPr sz="1500" b="0" i="0">
                          <a:solidFill>
                            <a:srgbClr val="1A1A1A"/>
                          </a:solidFill>
                          <a:latin typeface="Calibri"/>
                        </a:rPr>
                        <a:t>88%</a:t>
                      </a:r>
                    </a:p>
                  </a:txBody>
                  <a:tcPr anchor="ctr">
                    <a:solidFill>
                      <a:srgbClr val="FFFFFF"/>
                    </a:solidFill>
                  </a:tcPr>
                </a:tc>
              </a:tr>
              <a:tr h="883310">
                <a:tc>
                  <a:txBody>
                    <a:bodyPr wrap="square"/>
                    <a:lstStyle/>
                    <a:p>
                      <a:r>
                        <a:rPr sz="1500" b="0" i="0">
                          <a:solidFill>
                            <a:srgbClr val="1A1A1A"/>
                          </a:solidFill>
                          <a:latin typeface="Calibri"/>
                        </a:rPr>
                        <a:t>Hungary</a:t>
                      </a:r>
                    </a:p>
                  </a:txBody>
                  <a:tcPr anchor="ctr">
                    <a:solidFill>
                      <a:srgbClr val="F0F4FA"/>
                    </a:solidFill>
                  </a:tcPr>
                </a:tc>
                <a:tc>
                  <a:txBody>
                    <a:bodyPr wrap="square"/>
                    <a:lstStyle/>
                    <a:p>
                      <a:r>
                        <a:rPr sz="1500" b="0" i="0">
                          <a:solidFill>
                            <a:srgbClr val="1A1A1A"/>
                          </a:solidFill>
                          <a:latin typeface="Calibri"/>
                        </a:rPr>
                        <a:t>89%</a:t>
                      </a:r>
                    </a:p>
                  </a:txBody>
                  <a:tcPr anchor="ctr">
                    <a:solidFill>
                      <a:srgbClr val="F0F4FA"/>
                    </a:solidFill>
                  </a:tcPr>
                </a:tc>
                <a:tc>
                  <a:txBody>
                    <a:bodyPr wrap="square"/>
                    <a:lstStyle/>
                    <a:p>
                      <a:r>
                        <a:rPr sz="1500" b="0" i="0">
                          <a:solidFill>
                            <a:srgbClr val="1A1A1A"/>
                          </a:solidFill>
                          <a:latin typeface="Calibri"/>
                        </a:rPr>
                        <a:t>50 / 50</a:t>
                      </a:r>
                    </a:p>
                  </a:txBody>
                  <a:tcPr anchor="ctr">
                    <a:solidFill>
                      <a:srgbClr val="F0F4FA"/>
                    </a:solidFill>
                  </a:tcPr>
                </a:tc>
                <a:tc>
                  <a:txBody>
                    <a:bodyPr wrap="square"/>
                    <a:lstStyle/>
                    <a:p>
                      <a:r>
                        <a:rPr sz="1500" b="0" i="0">
                          <a:solidFill>
                            <a:srgbClr val="1A1A1A"/>
                          </a:solidFill>
                          <a:latin typeface="Calibri"/>
                        </a:rPr>
                        <a:t>100%</a:t>
                      </a:r>
                    </a:p>
                  </a:txBody>
                  <a:tcPr anchor="ctr">
                    <a:solidFill>
                      <a:srgbClr val="F0F4FA"/>
                    </a:solidFill>
                  </a:tcPr>
                </a:tc>
                <a:tc>
                  <a:txBody>
                    <a:bodyPr wrap="square"/>
                    <a:lstStyle/>
                    <a:p>
                      <a:r>
                        <a:rPr sz="1500" b="0" i="0">
                          <a:solidFill>
                            <a:srgbClr val="1A1A1A"/>
                          </a:solidFill>
                          <a:latin typeface="Calibri"/>
                        </a:rPr>
                        <a:t>93%</a:t>
                      </a:r>
                    </a:p>
                  </a:txBody>
                  <a:tcPr anchor="ctr">
                    <a:solidFill>
                      <a:srgbClr val="F0F4FA"/>
                    </a:solidFill>
                  </a:tcPr>
                </a:tc>
              </a:tr>
              <a:tr h="883310">
                <a:tc>
                  <a:txBody>
                    <a:bodyPr wrap="square"/>
                    <a:lstStyle/>
                    <a:p>
                      <a:r>
                        <a:rPr sz="1500" b="0" i="0">
                          <a:solidFill>
                            <a:srgbClr val="1A1A1A"/>
                          </a:solidFill>
                          <a:latin typeface="Calibri"/>
                        </a:rPr>
                        <a:t>Switzerland</a:t>
                      </a:r>
                    </a:p>
                  </a:txBody>
                  <a:tcPr anchor="ctr">
                    <a:solidFill>
                      <a:srgbClr val="FFFFFF"/>
                    </a:solidFill>
                  </a:tcPr>
                </a:tc>
                <a:tc>
                  <a:txBody>
                    <a:bodyPr wrap="square"/>
                    <a:lstStyle/>
                    <a:p>
                      <a:r>
                        <a:rPr sz="1500" b="0" i="0">
                          <a:solidFill>
                            <a:srgbClr val="1A1A1A"/>
                          </a:solidFill>
                          <a:latin typeface="Calibri"/>
                        </a:rPr>
                        <a:t>100%</a:t>
                      </a:r>
                    </a:p>
                  </a:txBody>
                  <a:tcPr anchor="ctr">
                    <a:solidFill>
                      <a:srgbClr val="FFFFFF"/>
                    </a:solidFill>
                  </a:tcPr>
                </a:tc>
                <a:tc>
                  <a:txBody>
                    <a:bodyPr wrap="square"/>
                    <a:lstStyle/>
                    <a:p>
                      <a:r>
                        <a:rPr sz="1500" b="0" i="0">
                          <a:solidFill>
                            <a:srgbClr val="1A1A1A"/>
                          </a:solidFill>
                          <a:latin typeface="Calibri"/>
                        </a:rPr>
                        <a:t>100%</a:t>
                      </a:r>
                    </a:p>
                  </a:txBody>
                  <a:tcPr anchor="ctr">
                    <a:solidFill>
                      <a:srgbClr val="FFFFFF"/>
                    </a:solidFill>
                  </a:tcPr>
                </a:tc>
                <a:tc>
                  <a:txBody>
                    <a:bodyPr wrap="square"/>
                    <a:lstStyle/>
                    <a:p>
                      <a:r>
                        <a:rPr sz="1500" b="0" i="0">
                          <a:solidFill>
                            <a:srgbClr val="1A1A1A"/>
                          </a:solidFill>
                          <a:latin typeface="Calibri"/>
                        </a:rPr>
                        <a:t>50 / 50</a:t>
                      </a:r>
                    </a:p>
                  </a:txBody>
                  <a:tcPr anchor="ctr">
                    <a:solidFill>
                      <a:srgbClr val="FFFFFF"/>
                    </a:solidFill>
                  </a:tcPr>
                </a:tc>
                <a:tc>
                  <a:txBody>
                    <a:bodyPr wrap="square"/>
                    <a:lstStyle/>
                    <a:p>
                      <a:r>
                        <a:rPr sz="1500" b="0" i="0">
                          <a:solidFill>
                            <a:srgbClr val="1A1A1A"/>
                          </a:solidFill>
                          <a:latin typeface="Calibri"/>
                        </a:rPr>
                        <a:t>88%</a:t>
                      </a:r>
                    </a:p>
                  </a:txBody>
                  <a:tcPr anchor="ctr">
                    <a:solidFill>
                      <a:srgbClr val="FFFFFF"/>
                    </a:solidFill>
                  </a:tcPr>
                </a:tc>
              </a:tr>
              <a:tr h="883312">
                <a:tc>
                  <a:txBody>
                    <a:bodyPr wrap="square"/>
                    <a:lstStyle/>
                    <a:p>
                      <a:r>
                        <a:rPr sz="1500" b="0" i="0">
                          <a:solidFill>
                            <a:srgbClr val="1A1A1A"/>
                          </a:solidFill>
                          <a:latin typeface="Calibri"/>
                        </a:rPr>
                        <a:t>V.A.</a:t>
                      </a:r>
                    </a:p>
                  </a:txBody>
                  <a:tcPr anchor="ctr">
                    <a:solidFill>
                      <a:srgbClr val="F0F4FA"/>
                    </a:solidFill>
                  </a:tcPr>
                </a:tc>
                <a:tc>
                  <a:txBody>
                    <a:bodyPr wrap="square"/>
                    <a:lstStyle/>
                    <a:p>
                      <a:r>
                        <a:rPr sz="1500" b="0" i="0">
                          <a:solidFill>
                            <a:srgbClr val="1A1A1A"/>
                          </a:solidFill>
                          <a:latin typeface="Calibri"/>
                        </a:rPr>
                        <a:t>88%</a:t>
                      </a:r>
                    </a:p>
                  </a:txBody>
                  <a:tcPr anchor="ctr">
                    <a:solidFill>
                      <a:srgbClr val="F0F4FA"/>
                    </a:solidFill>
                  </a:tcPr>
                </a:tc>
                <a:tc>
                  <a:txBody>
                    <a:bodyPr wrap="square"/>
                    <a:lstStyle/>
                    <a:p>
                      <a:r>
                        <a:rPr sz="1500" b="0" i="0">
                          <a:solidFill>
                            <a:srgbClr val="1A1A1A"/>
                          </a:solidFill>
                          <a:latin typeface="Calibri"/>
                        </a:rPr>
                        <a:t>93%</a:t>
                      </a:r>
                    </a:p>
                  </a:txBody>
                  <a:tcPr anchor="ctr">
                    <a:solidFill>
                      <a:srgbClr val="F0F4FA"/>
                    </a:solidFill>
                  </a:tcPr>
                </a:tc>
                <a:tc>
                  <a:txBody>
                    <a:bodyPr wrap="square"/>
                    <a:lstStyle/>
                    <a:p>
                      <a:r>
                        <a:rPr sz="1500" b="0" i="0">
                          <a:solidFill>
                            <a:srgbClr val="1A1A1A"/>
                          </a:solidFill>
                          <a:latin typeface="Calibri"/>
                        </a:rPr>
                        <a:t>88%</a:t>
                      </a:r>
                    </a:p>
                  </a:txBody>
                  <a:tcPr anchor="ctr">
                    <a:solidFill>
                      <a:srgbClr val="F0F4FA"/>
                    </a:solidFill>
                  </a:tcPr>
                </a:tc>
                <a:tc>
                  <a:txBody>
                    <a:bodyPr wrap="square"/>
                    <a:lstStyle/>
                    <a:p>
                      <a:r>
                        <a:rPr sz="1500" b="0" i="0">
                          <a:solidFill>
                            <a:srgbClr val="1A1A1A"/>
                          </a:solidFill>
                          <a:latin typeface="Calibri"/>
                        </a:rPr>
                        <a:t>50 / 50</a:t>
                      </a:r>
                    </a:p>
                  </a:txBody>
                  <a:tcPr anchor="ctr">
                    <a:solidFill>
                      <a:srgbClr val="F0F4FA"/>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Train a simple classifier whose only job is to guess which hospital a patient came from, using nothing but their clinical measurements — no diagnosis, no label. Every off-diagonal number here is how often it guesses right for that pair. 88%+ everywhere means: yes, easily.</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same finding, confirmed a second, independent way</a:t>
            </a:r>
          </a:p>
        </p:txBody>
      </p:sp>
      <p:pic>
        <p:nvPicPr>
          <p:cNvPr id="5" name="Picture 4" descr="05_domain_auc.png"/>
          <p:cNvPicPr>
            <a:picLocks noChangeAspect="1"/>
          </p:cNvPicPr>
          <p:nvPr/>
        </p:nvPicPr>
        <p:blipFill>
          <a:blip r:embed="rId2"/>
          <a:stretch>
            <a:fillRect/>
          </a:stretch>
        </p:blipFill>
        <p:spPr>
          <a:xfrm>
            <a:off x="763624" y="1508760"/>
            <a:ext cx="4934358" cy="4206240"/>
          </a:xfrm>
          <a:prstGeom prst="rect">
            <a:avLst/>
          </a:prstGeom>
        </p:spPr>
      </p:pic>
      <p:pic>
        <p:nvPicPr>
          <p:cNvPr id="6" name="Picture 5" descr="04_js_divergence.png"/>
          <p:cNvPicPr>
            <a:picLocks noChangeAspect="1"/>
          </p:cNvPicPr>
          <p:nvPr/>
        </p:nvPicPr>
        <p:blipFill>
          <a:blip r:embed="rId3"/>
          <a:stretch>
            <a:fillRect/>
          </a:stretch>
        </p:blipFill>
        <p:spPr>
          <a:xfrm>
            <a:off x="6493712" y="1508760"/>
            <a:ext cx="4934358" cy="4206240"/>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the previous table's guess-the-hospital accuracy, drawn as a heatmap. Right: a completely different, classifier-free way of measuring how differently shaped two hospitals' data is — applied here to maximum heart rate — pointing to the same conclusion.</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Which measurements matter most for telling severity apart</a:t>
            </a:r>
          </a:p>
        </p:txBody>
      </p:sp>
      <p:pic>
        <p:nvPicPr>
          <p:cNvPr id="5" name="Picture 4" descr="e03_continuous_grid.png"/>
          <p:cNvPicPr>
            <a:picLocks noChangeAspect="1"/>
          </p:cNvPicPr>
          <p:nvPr/>
        </p:nvPicPr>
        <p:blipFill>
          <a:blip r:embed="rId2"/>
          <a:stretch>
            <a:fillRect/>
          </a:stretch>
        </p:blipFill>
        <p:spPr>
          <a:xfrm>
            <a:off x="2737381" y="1508760"/>
            <a:ext cx="6716933"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Each panel is one continuous measurement, with five curves (one per severity level, lightest = no disease, darkest = critical). Where the curves pull apart from each other, that measurement is genuinely useful for predicting severity; where they sit on top of each other, it isn't.</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One measurement, isolated by hospital instead of by severity</a:t>
            </a:r>
          </a:p>
        </p:txBody>
      </p:sp>
      <p:pic>
        <p:nvPicPr>
          <p:cNvPr id="5" name="Picture 4" descr="e04_thalach_by_site.png"/>
          <p:cNvPicPr>
            <a:picLocks noChangeAspect="1"/>
          </p:cNvPicPr>
          <p:nvPr/>
        </p:nvPicPr>
        <p:blipFill>
          <a:blip r:embed="rId2"/>
          <a:stretch>
            <a:fillRect/>
          </a:stretch>
        </p:blipFill>
        <p:spPr>
          <a:xfrm>
            <a:off x="2255367" y="1508760"/>
            <a:ext cx="7680960" cy="3964366"/>
          </a:xfrm>
          <a:prstGeom prst="rect">
            <a:avLst/>
          </a:prstGeom>
        </p:spPr>
      </p:pic>
      <p:sp>
        <p:nvSpPr>
          <p:cNvPr id="6" name="TextBox 5"/>
          <p:cNvSpPr txBox="1"/>
          <p:nvPr/>
        </p:nvSpPr>
        <p:spPr>
          <a:xfrm>
            <a:off x="731520" y="5582854"/>
            <a:ext cx="10728655" cy="777240"/>
          </a:xfrm>
          <a:prstGeom prst="rect">
            <a:avLst/>
          </a:prstGeom>
          <a:noFill/>
        </p:spPr>
        <p:txBody>
          <a:bodyPr wrap="square">
            <a:spAutoFit/>
          </a:bodyPr>
          <a:lstStyle/>
          <a:p>
            <a:r>
              <a:rPr sz="1250" b="0" i="1">
                <a:solidFill>
                  <a:srgbClr val="606060"/>
                </a:solidFill>
                <a:latin typeface="Calibri"/>
              </a:rPr>
              <a:t>Maximum heart rate stood out on the previous slide as one of the more informative measurements for severity. Here it's the same measurement, but grouped by hospital instead — a cleaner look at how its typical range shifts from one hospital to the next.</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rest of the measurements, by severity</a:t>
            </a:r>
          </a:p>
        </p:txBody>
      </p:sp>
      <p:pic>
        <p:nvPicPr>
          <p:cNvPr id="5" name="Picture 4" descr="e05_categorical_grid.png"/>
          <p:cNvPicPr>
            <a:picLocks noChangeAspect="1"/>
          </p:cNvPicPr>
          <p:nvPr/>
        </p:nvPicPr>
        <p:blipFill>
          <a:blip r:embed="rId2"/>
          <a:stretch>
            <a:fillRect/>
          </a:stretch>
        </p:blipFill>
        <p:spPr>
          <a:xfrm>
            <a:off x="1889607" y="1508760"/>
            <a:ext cx="8412480" cy="4013847"/>
          </a:xfrm>
          <a:prstGeom prst="rect">
            <a:avLst/>
          </a:prstGeom>
        </p:spPr>
      </p:pic>
      <p:sp>
        <p:nvSpPr>
          <p:cNvPr id="6" name="TextBox 5"/>
          <p:cNvSpPr txBox="1"/>
          <p:nvPr/>
        </p:nvSpPr>
        <p:spPr>
          <a:xfrm>
            <a:off x="731520" y="5632335"/>
            <a:ext cx="10728655" cy="777240"/>
          </a:xfrm>
          <a:prstGeom prst="rect">
            <a:avLst/>
          </a:prstGeom>
          <a:noFill/>
        </p:spPr>
        <p:txBody>
          <a:bodyPr wrap="square">
            <a:spAutoFit/>
          </a:bodyPr>
          <a:lstStyle/>
          <a:p>
            <a:r>
              <a:rPr sz="1250" b="0" i="1">
                <a:solidFill>
                  <a:srgbClr val="606060"/>
                </a:solidFill>
                <a:latin typeface="Calibri"/>
              </a:rPr>
              <a:t>Average severity within each category, for all eight non-numeric measurements — chest-pain type, sex, blood sugar, exercise-induced chest pain, resting-ECG result, ST-segment slope, vessel count, and thalassemia test result. Several show a clear pattern: asymptomatic chest pain, exercise-induced chest pain, an abnormal ST slope, high blood sugar, more affected vessels, and an abnormal thalassemia result all line up with higher average severity.</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How every measurement relates to severity, at a glance</a:t>
            </a:r>
          </a:p>
        </p:txBody>
      </p:sp>
      <p:pic>
        <p:nvPicPr>
          <p:cNvPr id="5" name="Picture 4" descr="e06_correlation.png"/>
          <p:cNvPicPr>
            <a:picLocks noChangeAspect="1"/>
          </p:cNvPicPr>
          <p:nvPr/>
        </p:nvPicPr>
        <p:blipFill>
          <a:blip r:embed="rId2"/>
          <a:stretch>
            <a:fillRect/>
          </a:stretch>
        </p:blipFill>
        <p:spPr>
          <a:xfrm>
            <a:off x="3640817" y="1508760"/>
            <a:ext cx="4910061"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How strongly every pair of measurements (and the severity target) move together. Chest-pain type, exercise-induced chest pain, ST depression, maximum heart rate, and vessel count are the strongest, most reliable signals.</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same story, on a completely different question</a:t>
            </a:r>
          </a:p>
        </p:txBody>
      </p:sp>
      <p:pic>
        <p:nvPicPr>
          <p:cNvPr id="5" name="Picture 4" descr="c01_class_distribution.png"/>
          <p:cNvPicPr>
            <a:picLocks noChangeAspect="1"/>
          </p:cNvPicPr>
          <p:nvPr/>
        </p:nvPicPr>
        <p:blipFill>
          <a:blip r:embed="rId2"/>
          <a:stretch>
            <a:fillRect/>
          </a:stretch>
        </p:blipFill>
        <p:spPr>
          <a:xfrm>
            <a:off x="2163927" y="1508760"/>
            <a:ext cx="7863840" cy="3943763"/>
          </a:xfrm>
          <a:prstGeom prst="rect">
            <a:avLst/>
          </a:prstGeom>
        </p:spPr>
      </p:pic>
      <p:sp>
        <p:nvSpPr>
          <p:cNvPr id="6" name="TextBox 5"/>
          <p:cNvSpPr txBox="1"/>
          <p:nvPr/>
        </p:nvSpPr>
        <p:spPr>
          <a:xfrm>
            <a:off x="731520" y="5562251"/>
            <a:ext cx="10728655" cy="777240"/>
          </a:xfrm>
          <a:prstGeom prst="rect">
            <a:avLst/>
          </a:prstGeom>
          <a:noFill/>
        </p:spPr>
        <p:txBody>
          <a:bodyPr wrap="square">
            <a:spAutoFit/>
          </a:bodyPr>
          <a:lstStyle/>
          <a:p>
            <a:r>
              <a:rPr sz="1250" b="0" i="1">
                <a:solidFill>
                  <a:srgbClr val="606060"/>
                </a:solidFill>
                <a:latin typeface="Calibri"/>
              </a:rPr>
              <a:t>Instead of disease severity, this predicts chest-pain type — a different clinical question, same four hospitals. Hungary sees mostly atypical chest pain; Switzerland is roughly 80% asymptomatic. The same hospital-to-hospital differences show up again here, confirming this isn't specific to one particular question.</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Recap: what makes this dataset unusually good for teaching this</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Genuinely shareable — all four hospitals used the exact same 13-measurement intake form.</a:t>
            </a:r>
          </a:p>
          <a:p>
            <a:pPr>
              <a:spcAft>
                <a:spcPts val="1200"/>
              </a:spcAft>
            </a:pPr>
            <a:r>
              <a:rPr sz="1800" b="1" i="0">
                <a:solidFill>
                  <a:srgbClr val="2A78D6"/>
                </a:solidFill>
                <a:latin typeface="Calibri"/>
              </a:rPr>
              <a:t>▪  </a:t>
            </a:r>
            <a:r>
              <a:rPr sz="1800" b="0" i="0">
                <a:solidFill>
                  <a:srgbClr val="1A1A1A"/>
                </a:solidFill>
                <a:latin typeface="Calibri"/>
              </a:rPr>
              <a:t>Genuinely different underneath, in two distinguishable ways: real differences between patient populations (disease rates ranging 36%-94%) and simple measurement-habit gaps (cholesterol, and much more severely, vessel count and thalassemia results).</a:t>
            </a:r>
          </a:p>
          <a:p>
            <a:pPr>
              <a:spcAft>
                <a:spcPts val="1200"/>
              </a:spcAft>
            </a:pPr>
            <a:r>
              <a:rPr sz="1800" b="1" i="0">
                <a:solidFill>
                  <a:srgbClr val="2A78D6"/>
                </a:solidFill>
                <a:latin typeface="Calibri"/>
              </a:rPr>
              <a:t>▪  </a:t>
            </a:r>
            <a:r>
              <a:rPr sz="1800" b="0" i="0">
                <a:solidFill>
                  <a:srgbClr val="1A1A1A"/>
                </a:solidFill>
                <a:latin typeface="Calibri"/>
              </a:rPr>
              <a:t>Small enough to train and calibrate live during a single workshop (920 patients total), yet large enough that every effect shown is statistically real, not noise.</a:t>
            </a:r>
          </a:p>
          <a:p>
            <a:pPr>
              <a:spcAft>
                <a:spcPts val="1200"/>
              </a:spcAft>
            </a:pPr>
            <a:r>
              <a:rPr sz="1800" b="1" i="0">
                <a:solidFill>
                  <a:srgbClr val="2A78D6"/>
                </a:solidFill>
                <a:latin typeface="Calibri"/>
              </a:rPr>
              <a:t>▪  </a:t>
            </a:r>
            <a:r>
              <a:rPr sz="1800" b="0" i="0">
                <a:solidFill>
                  <a:srgbClr val="1A1A1A"/>
                </a:solidFill>
                <a:latin typeface="Calibri"/>
              </a:rPr>
              <a:t>Open and free to use — no legal agreement stands between anyone in this room and running the code today.</a:t>
            </a:r>
          </a:p>
          <a:p>
            <a:pPr>
              <a:spcAft>
                <a:spcPts val="1200"/>
              </a:spcAft>
            </a:pPr>
            <a:r>
              <a:rPr sz="1800" b="1" i="0">
                <a:solidFill>
                  <a:srgbClr val="2A78D6"/>
                </a:solidFill>
                <a:latin typeface="Calibri"/>
              </a:rPr>
              <a:t>▪  </a:t>
            </a:r>
            <a:r>
              <a:rPr sz="1800" b="0" i="0">
                <a:solidFill>
                  <a:srgbClr val="1A1A1A"/>
                </a:solidFill>
                <a:latin typeface="Calibri"/>
              </a:rPr>
              <a:t>Every finding shown here reappears on a second, independently chosen clinical question from the same four hospitals.</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6</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Methods of Interoperability</a:t>
            </a:r>
          </a:p>
          <a:p>
            <a:r>
              <a:rPr sz="1500" b="0" i="1">
                <a:solidFill>
                  <a:srgbClr val="CDDCEF"/>
                </a:solidFill>
                <a:latin typeface="Calibri"/>
              </a:rPr>
              <a:t>Choosing a Standard</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INTEROPERABILITY</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“Interoperable” isn't just one thing — it comes in degrees</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Think of it as four separate levels: can the data move at all? Is its format standardized? Does a given value mean the same clinical fact everywhere? And is there shared agreement on the policies and workflows around it?</a:t>
            </a:r>
          </a:p>
          <a:p>
            <a:pPr>
              <a:spcAft>
                <a:spcPts val="1200"/>
              </a:spcAft>
            </a:pPr>
            <a:r>
              <a:rPr sz="1800" b="1" i="0">
                <a:solidFill>
                  <a:srgbClr val="2A78D6"/>
                </a:solidFill>
                <a:latin typeface="Calibri"/>
              </a:rPr>
              <a:t>▪  </a:t>
            </a:r>
            <a:r>
              <a:rPr sz="1800" b="0" i="0">
                <a:solidFill>
                  <a:srgbClr val="1A1A1A"/>
                </a:solidFill>
                <a:latin typeface="Calibri"/>
              </a:rPr>
              <a:t>Most of today's regulations do a good job on the first two levels — getting data to move, in a standard format.</a:t>
            </a:r>
          </a:p>
          <a:p>
            <a:pPr>
              <a:spcAft>
                <a:spcPts val="1200"/>
              </a:spcAft>
            </a:pPr>
            <a:r>
              <a:rPr sz="1800" b="1" i="0">
                <a:solidFill>
                  <a:srgbClr val="2A78D6"/>
                </a:solidFill>
                <a:latin typeface="Calibri"/>
              </a:rPr>
              <a:t>▪  </a:t>
            </a:r>
            <a:r>
              <a:rPr sz="1800" b="0" i="0">
                <a:solidFill>
                  <a:srgbClr val="1A1A1A"/>
                </a:solidFill>
                <a:latin typeface="Calibri"/>
              </a:rPr>
              <a:t>The third level — a value actually meaning the same thing everywhere — is where this entire project's heterogeneity findings live. It's the hardest level to mandate by law, and the easiest one to think you've solved when you've really only gotten partway there.</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Interoperability</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INTEROPERABILITY</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A quick tour of today's data-sharing standards</a:t>
            </a:r>
          </a:p>
        </p:txBody>
      </p:sp>
      <p:graphicFrame>
        <p:nvGraphicFramePr>
          <p:cNvPr id="5" name="Table 4"/>
          <p:cNvGraphicFramePr>
            <a:graphicFrameLocks noGrp="1"/>
          </p:cNvGraphicFramePr>
          <p:nvPr/>
        </p:nvGraphicFramePr>
        <p:xfrm>
          <a:off x="640080" y="1508760"/>
          <a:ext cx="10911533" cy="4846320"/>
        </p:xfrm>
        <a:graphic>
          <a:graphicData uri="http://schemas.openxmlformats.org/drawingml/2006/table">
            <a:tbl>
              <a:tblPr firstRow="1" bandRow="1">
                <a:tableStyleId>{5C22544A-7EE6-4342-B048-85BDC9FD1C3A}</a:tableStyleId>
              </a:tblPr>
              <a:tblGrid>
                <a:gridCol w="2105734"/>
                <a:gridCol w="4211469"/>
                <a:gridCol w="4594330"/>
              </a:tblGrid>
              <a:tr h="692331">
                <a:tc>
                  <a:txBody>
                    <a:bodyPr wrap="square"/>
                    <a:lstStyle/>
                    <a:p>
                      <a:r>
                        <a:rPr sz="1300" b="1" i="0">
                          <a:solidFill>
                            <a:srgbClr val="FFFFFF"/>
                          </a:solidFill>
                          <a:latin typeface="Calibri"/>
                        </a:rPr>
                        <a:t>Standard</a:t>
                      </a:r>
                    </a:p>
                  </a:txBody>
                  <a:tcPr anchor="ctr">
                    <a:solidFill>
                      <a:srgbClr val="2A78D6"/>
                    </a:solidFill>
                  </a:tcPr>
                </a:tc>
                <a:tc>
                  <a:txBody>
                    <a:bodyPr wrap="square"/>
                    <a:lstStyle/>
                    <a:p>
                      <a:r>
                        <a:rPr sz="1300" b="1" i="0">
                          <a:solidFill>
                            <a:srgbClr val="FFFFFF"/>
                          </a:solidFill>
                          <a:latin typeface="Calibri"/>
                        </a:rPr>
                        <a:t>What it's mainly used for</a:t>
                      </a:r>
                    </a:p>
                  </a:txBody>
                  <a:tcPr anchor="ctr">
                    <a:solidFill>
                      <a:srgbClr val="2A78D6"/>
                    </a:solidFill>
                  </a:tcPr>
                </a:tc>
                <a:tc>
                  <a:txBody>
                    <a:bodyPr wrap="square"/>
                    <a:lstStyle/>
                    <a:p>
                      <a:r>
                        <a:rPr sz="1300" b="1" i="0">
                          <a:solidFill>
                            <a:srgbClr val="FFFFFF"/>
                          </a:solidFill>
                          <a:latin typeface="Calibri"/>
                        </a:rPr>
                        <a:t>How well it fits multi-hospital research</a:t>
                      </a:r>
                    </a:p>
                  </a:txBody>
                  <a:tcPr anchor="ctr">
                    <a:solidFill>
                      <a:srgbClr val="2A78D6"/>
                    </a:solidFill>
                  </a:tcPr>
                </a:tc>
              </a:tr>
              <a:tr h="692331">
                <a:tc>
                  <a:txBody>
                    <a:bodyPr wrap="square"/>
                    <a:lstStyle/>
                    <a:p>
                      <a:r>
                        <a:rPr sz="1300" b="0" i="0">
                          <a:solidFill>
                            <a:srgbClr val="1A1A1A"/>
                          </a:solidFill>
                          <a:latin typeface="Calibri"/>
                        </a:rPr>
                        <a:t>HL7 v2 messaging</a:t>
                      </a:r>
                    </a:p>
                  </a:txBody>
                  <a:tcPr anchor="ctr">
                    <a:solidFill>
                      <a:srgbClr val="FFFFFF"/>
                    </a:solidFill>
                  </a:tcPr>
                </a:tc>
                <a:tc>
                  <a:txBody>
                    <a:bodyPr wrap="square"/>
                    <a:lstStyle/>
                    <a:p>
                      <a:r>
                        <a:rPr sz="1300" b="0" i="0">
                          <a:solidFill>
                            <a:srgbClr val="1A1A1A"/>
                          </a:solidFill>
                          <a:latin typeface="Calibri"/>
                        </a:rPr>
                        <a:t>Older-generation, point-to-point clinical messaging</a:t>
                      </a:r>
                    </a:p>
                  </a:txBody>
                  <a:tcPr anchor="ctr">
                    <a:solidFill>
                      <a:srgbClr val="FFFFFF"/>
                    </a:solidFill>
                  </a:tcPr>
                </a:tc>
                <a:tc>
                  <a:txBody>
                    <a:bodyPr wrap="square"/>
                    <a:lstStyle/>
                    <a:p>
                      <a:r>
                        <a:rPr sz="1300" b="0" i="0">
                          <a:solidFill>
                            <a:srgbClr val="1A1A1A"/>
                          </a:solidFill>
                          <a:latin typeface="Calibri"/>
                        </a:rPr>
                        <a:t>Weak fit — built to run hospital operations, not pooled research</a:t>
                      </a:r>
                    </a:p>
                  </a:txBody>
                  <a:tcPr anchor="ctr">
                    <a:solidFill>
                      <a:srgbClr val="FFFFFF"/>
                    </a:solidFill>
                  </a:tcPr>
                </a:tc>
              </a:tr>
              <a:tr h="692331">
                <a:tc>
                  <a:txBody>
                    <a:bodyPr wrap="square"/>
                    <a:lstStyle/>
                    <a:p>
                      <a:r>
                        <a:rPr sz="1300" b="0" i="0">
                          <a:solidFill>
                            <a:srgbClr val="1A1A1A"/>
                          </a:solidFill>
                          <a:latin typeface="Calibri"/>
                        </a:rPr>
                        <a:t>HL7 FHIR</a:t>
                      </a:r>
                    </a:p>
                  </a:txBody>
                  <a:tcPr anchor="ctr">
                    <a:solidFill>
                      <a:srgbClr val="F0F4FA"/>
                    </a:solidFill>
                  </a:tcPr>
                </a:tc>
                <a:tc>
                  <a:txBody>
                    <a:bodyPr wrap="square"/>
                    <a:lstStyle/>
                    <a:p>
                      <a:r>
                        <a:rPr sz="1300" b="0" i="0">
                          <a:solidFill>
                            <a:srgbClr val="1A1A1A"/>
                          </a:solidFill>
                          <a:latin typeface="Calibri"/>
                        </a:rPr>
                        <a:t>Modern web-API-style data exchange (what current mandates require)</a:t>
                      </a:r>
                    </a:p>
                  </a:txBody>
                  <a:tcPr anchor="ctr">
                    <a:solidFill>
                      <a:srgbClr val="F0F4FA"/>
                    </a:solidFill>
                  </a:tcPr>
                </a:tc>
                <a:tc>
                  <a:txBody>
                    <a:bodyPr wrap="square"/>
                    <a:lstStyle/>
                    <a:p>
                      <a:r>
                        <a:rPr sz="1300" b="0" i="0">
                          <a:solidFill>
                            <a:srgbClr val="1A1A1A"/>
                          </a:solidFill>
                          <a:latin typeface="Calibri"/>
                        </a:rPr>
                        <a:t>Good for moving data live; not itself a research-analysis format</a:t>
                      </a:r>
                    </a:p>
                  </a:txBody>
                  <a:tcPr anchor="ctr">
                    <a:solidFill>
                      <a:srgbClr val="F0F4FA"/>
                    </a:solidFill>
                  </a:tcPr>
                </a:tc>
              </a:tr>
              <a:tr h="692331">
                <a:tc>
                  <a:txBody>
                    <a:bodyPr wrap="square"/>
                    <a:lstStyle/>
                    <a:p>
                      <a:r>
                        <a:rPr sz="1300" b="0" i="0">
                          <a:solidFill>
                            <a:srgbClr val="1A1A1A"/>
                          </a:solidFill>
                          <a:latin typeface="Calibri"/>
                        </a:rPr>
                        <a:t>OMOP (OHDSI)</a:t>
                      </a:r>
                    </a:p>
                  </a:txBody>
                  <a:tcPr anchor="ctr">
                    <a:solidFill>
                      <a:srgbClr val="FFFFFF"/>
                    </a:solidFill>
                  </a:tcPr>
                </a:tc>
                <a:tc>
                  <a:txBody>
                    <a:bodyPr wrap="square"/>
                    <a:lstStyle/>
                    <a:p>
                      <a:r>
                        <a:rPr sz="1300" b="0" i="0">
                          <a:solidFill>
                            <a:srgbClr val="1A1A1A"/>
                          </a:solidFill>
                          <a:latin typeface="Calibri"/>
                        </a:rPr>
                        <a:t>Standardizing observational data specifically across institutions</a:t>
                      </a:r>
                    </a:p>
                  </a:txBody>
                  <a:tcPr anchor="ctr">
                    <a:solidFill>
                      <a:srgbClr val="FFFFFF"/>
                    </a:solidFill>
                  </a:tcPr>
                </a:tc>
                <a:tc>
                  <a:txBody>
                    <a:bodyPr wrap="square"/>
                    <a:lstStyle/>
                    <a:p>
                      <a:r>
                        <a:rPr sz="1300" b="0" i="0">
                          <a:solidFill>
                            <a:srgbClr val="1A1A1A"/>
                          </a:solidFill>
                          <a:latin typeface="Calibri"/>
                        </a:rPr>
                        <a:t>Excellent — built specifically for this exact use case</a:t>
                      </a:r>
                    </a:p>
                  </a:txBody>
                  <a:tcPr anchor="ctr">
                    <a:solidFill>
                      <a:srgbClr val="FFFFFF"/>
                    </a:solidFill>
                  </a:tcPr>
                </a:tc>
              </a:tr>
              <a:tr h="692331">
                <a:tc>
                  <a:txBody>
                    <a:bodyPr wrap="square"/>
                    <a:lstStyle/>
                    <a:p>
                      <a:r>
                        <a:rPr sz="1300" b="0" i="0">
                          <a:solidFill>
                            <a:srgbClr val="1A1A1A"/>
                          </a:solidFill>
                          <a:latin typeface="Calibri"/>
                        </a:rPr>
                        <a:t>openEHR</a:t>
                      </a:r>
                    </a:p>
                  </a:txBody>
                  <a:tcPr anchor="ctr">
                    <a:solidFill>
                      <a:srgbClr val="F0F4FA"/>
                    </a:solidFill>
                  </a:tcPr>
                </a:tc>
                <a:tc>
                  <a:txBody>
                    <a:bodyPr wrap="square"/>
                    <a:lstStyle/>
                    <a:p>
                      <a:r>
                        <a:rPr sz="1300" b="0" i="0">
                          <a:solidFill>
                            <a:srgbClr val="1A1A1A"/>
                          </a:solidFill>
                          <a:latin typeface="Calibri"/>
                        </a:rPr>
                        <a:t>Detailed, template-based clinical record modeling</a:t>
                      </a:r>
                    </a:p>
                  </a:txBody>
                  <a:tcPr anchor="ctr">
                    <a:solidFill>
                      <a:srgbClr val="F0F4FA"/>
                    </a:solidFill>
                  </a:tcPr>
                </a:tc>
                <a:tc>
                  <a:txBody>
                    <a:bodyPr wrap="square"/>
                    <a:lstStyle/>
                    <a:p>
                      <a:r>
                        <a:rPr sz="1300" b="0" i="0">
                          <a:solidFill>
                            <a:srgbClr val="1A1A1A"/>
                          </a:solidFill>
                          <a:latin typeface="Calibri"/>
                        </a:rPr>
                        <a:t>Good in principle; not widely adopted by US hospitals yet</a:t>
                      </a:r>
                    </a:p>
                  </a:txBody>
                  <a:tcPr anchor="ctr">
                    <a:solidFill>
                      <a:srgbClr val="F0F4FA"/>
                    </a:solidFill>
                  </a:tcPr>
                </a:tc>
              </a:tr>
              <a:tr h="692331">
                <a:tc>
                  <a:txBody>
                    <a:bodyPr wrap="square"/>
                    <a:lstStyle/>
                    <a:p>
                      <a:r>
                        <a:rPr sz="1300" b="0" i="0">
                          <a:solidFill>
                            <a:srgbClr val="1A1A1A"/>
                          </a:solidFill>
                          <a:latin typeface="Calibri"/>
                        </a:rPr>
                        <a:t>CDISC SDTM/ADaM</a:t>
                      </a:r>
                    </a:p>
                  </a:txBody>
                  <a:tcPr anchor="ctr">
                    <a:solidFill>
                      <a:srgbClr val="FFFFFF"/>
                    </a:solidFill>
                  </a:tcPr>
                </a:tc>
                <a:tc>
                  <a:txBody>
                    <a:bodyPr wrap="square"/>
                    <a:lstStyle/>
                    <a:p>
                      <a:r>
                        <a:rPr sz="1300" b="0" i="0">
                          <a:solidFill>
                            <a:srgbClr val="1A1A1A"/>
                          </a:solidFill>
                          <a:latin typeface="Calibri"/>
                        </a:rPr>
                        <a:t>Formal clinical-trial data submission to regulators</a:t>
                      </a:r>
                    </a:p>
                  </a:txBody>
                  <a:tcPr anchor="ctr">
                    <a:solidFill>
                      <a:srgbClr val="FFFFFF"/>
                    </a:solidFill>
                  </a:tcPr>
                </a:tc>
                <a:tc>
                  <a:txBody>
                    <a:bodyPr wrap="square"/>
                    <a:lstStyle/>
                    <a:p>
                      <a:r>
                        <a:rPr sz="1300" b="0" i="0">
                          <a:solidFill>
                            <a:srgbClr val="1A1A1A"/>
                          </a:solidFill>
                          <a:latin typeface="Calibri"/>
                        </a:rPr>
                        <a:t>Weak fit — built for trials, not everyday hospital records</a:t>
                      </a:r>
                    </a:p>
                  </a:txBody>
                  <a:tcPr anchor="ctr">
                    <a:solidFill>
                      <a:srgbClr val="FFFFFF"/>
                    </a:solidFill>
                  </a:tcPr>
                </a:tc>
              </a:tr>
              <a:tr h="692334">
                <a:tc>
                  <a:txBody>
                    <a:bodyPr wrap="square"/>
                    <a:lstStyle/>
                    <a:p>
                      <a:r>
                        <a:rPr sz="1300" b="0" i="0">
                          <a:solidFill>
                            <a:srgbClr val="1A1A1A"/>
                          </a:solidFill>
                          <a:latin typeface="Calibri"/>
                        </a:rPr>
                        <a:t>DICOM</a:t>
                      </a:r>
                    </a:p>
                  </a:txBody>
                  <a:tcPr anchor="ctr">
                    <a:solidFill>
                      <a:srgbClr val="F0F4FA"/>
                    </a:solidFill>
                  </a:tcPr>
                </a:tc>
                <a:tc>
                  <a:txBody>
                    <a:bodyPr wrap="square"/>
                    <a:lstStyle/>
                    <a:p>
                      <a:r>
                        <a:rPr sz="1300" b="0" i="0">
                          <a:solidFill>
                            <a:srgbClr val="1A1A1A"/>
                          </a:solidFill>
                          <a:latin typeface="Calibri"/>
                        </a:rPr>
                        <a:t>Medical imaging exchange and storage</a:t>
                      </a:r>
                    </a:p>
                  </a:txBody>
                  <a:tcPr anchor="ctr">
                    <a:solidFill>
                      <a:srgbClr val="F0F4FA"/>
                    </a:solidFill>
                  </a:tcPr>
                </a:tc>
                <a:tc>
                  <a:txBody>
                    <a:bodyPr wrap="square"/>
                    <a:lstStyle/>
                    <a:p>
                      <a:r>
                        <a:rPr sz="1300" b="0" i="0">
                          <a:solidFill>
                            <a:srgbClr val="1A1A1A"/>
                          </a:solidFill>
                          <a:latin typeface="Calibri"/>
                        </a:rPr>
                        <a:t>Not applicable to this kind of tabular data — but the right choice once imaging enters the picture</a:t>
                      </a:r>
                    </a:p>
                  </a:txBody>
                  <a:tcPr anchor="ctr">
                    <a:solidFill>
                      <a:srgbClr val="F0F4FA"/>
                    </a:solidFill>
                  </a:tcPr>
                </a:tc>
              </a:tr>
            </a:tbl>
          </a:graphicData>
        </a:graphic>
      </p:graphicFrame>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Interoperability</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INTEROPERABILITY</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What a shared format can fix, and what it can't</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700" b="1" i="0">
                <a:solidFill>
                  <a:srgbClr val="2A78D6"/>
                </a:solidFill>
                <a:latin typeface="Calibri"/>
              </a:rPr>
              <a:t>▪  </a:t>
            </a:r>
            <a:r>
              <a:rPr sz="1700" b="0" i="0">
                <a:solidFill>
                  <a:srgbClr val="1A1A1A"/>
                </a:solidFill>
                <a:latin typeface="Calibri"/>
              </a:rPr>
              <a:t>It reduces measurement-habit differences between hospitals, but it doesn't eliminate them.</a:t>
            </a:r>
          </a:p>
          <a:p>
            <a:pPr>
              <a:spcAft>
                <a:spcPts val="1200"/>
              </a:spcAft>
            </a:pPr>
            <a:r>
              <a:rPr sz="1700" b="1" i="0">
                <a:solidFill>
                  <a:srgbClr val="2A78D6"/>
                </a:solidFill>
                <a:latin typeface="Calibri"/>
              </a:rPr>
              <a:t>▪  </a:t>
            </a:r>
            <a:r>
              <a:rPr sz="1700" b="0" i="0">
                <a:solidFill>
                  <a:srgbClr val="1A1A1A"/>
                </a:solidFill>
                <a:latin typeface="Calibri"/>
              </a:rPr>
              <a:t>A hospital can code cholesterol using the exact correct standard term and still simply order that test far less often than another hospital does — no format fixes that.</a:t>
            </a:r>
          </a:p>
          <a:p>
            <a:pPr>
              <a:spcAft>
                <a:spcPts val="1200"/>
              </a:spcAft>
            </a:pPr>
            <a:r>
              <a:rPr sz="1700" b="1" i="0">
                <a:solidFill>
                  <a:srgbClr val="2A78D6"/>
                </a:solidFill>
                <a:latin typeface="Calibri"/>
              </a:rPr>
              <a:t>▪  </a:t>
            </a:r>
            <a:r>
              <a:rPr sz="1700" b="0" i="0">
                <a:solidFill>
                  <a:srgbClr val="1A1A1A"/>
                </a:solidFill>
                <a:latin typeface="Calibri"/>
              </a:rPr>
              <a:t>No shared format changes the fact that a specialist referral center sees a sicker, pre-selected group of patients to begin with — that's about who walks in the door, not how the data is written down.</a:t>
            </a:r>
          </a:p>
          <a:p>
            <a:pPr>
              <a:spcAft>
                <a:spcPts val="1200"/>
              </a:spcAft>
            </a:pPr>
            <a:r>
              <a:rPr sz="1700" b="1" i="0">
                <a:solidFill>
                  <a:srgbClr val="2A78D6"/>
                </a:solidFill>
                <a:latin typeface="Calibri"/>
              </a:rPr>
              <a:t>▪  </a:t>
            </a:r>
            <a:r>
              <a:rPr sz="1700" b="0" i="0">
                <a:solidFill>
                  <a:srgbClr val="1A1A1A"/>
                </a:solidFill>
                <a:latin typeface="Calibri"/>
              </a:rPr>
              <a:t>Checking for these gaps has to happen after adopting a shared format, as an ongoing check — not as a one-time substitute for doing that checking at all.</a:t>
            </a:r>
          </a:p>
          <a:p>
            <a:pPr>
              <a:spcAft>
                <a:spcPts val="1200"/>
              </a:spcAft>
            </a:pPr>
            <a:r>
              <a:rPr sz="1700" b="1" i="0">
                <a:solidFill>
                  <a:srgbClr val="2A78D6"/>
                </a:solidFill>
                <a:latin typeface="Calibri"/>
              </a:rPr>
              <a:t>▪  </a:t>
            </a:r>
            <a:r>
              <a:rPr sz="1700" b="0" i="0">
                <a:solidFill>
                  <a:srgbClr val="1A1A1A"/>
                </a:solidFill>
                <a:latin typeface="Calibri"/>
              </a:rPr>
              <a:t>Worth remembering: this project's own dataset predates every standard in the table above — an honest, unfiltered look at what hospital data looks like before any of this standardization happened.</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Interoperability</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7</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Why Conformal Prediction Helps</a:t>
            </a:r>
          </a:p>
          <a:p>
            <a:r>
              <a:rPr sz="1500" b="0" i="1">
                <a:solidFill>
                  <a:srgbClr val="CDDCEF"/>
                </a:solidFill>
                <a:latin typeface="Calibri"/>
              </a:rPr>
              <a:t>With Site-Level Heterogeneity</a:t>
            </a:r>
          </a:p>
          <a:p>
            <a:pPr>
              <a:spcBef>
                <a:spcPts val="1400"/>
              </a:spcBef>
            </a:pPr>
            <a:r>
              <a:rPr sz="1300" b="1" i="0">
                <a:solidFill>
                  <a:srgbClr val="FFD67E"/>
                </a:solidFill>
                <a:latin typeface="Calibri"/>
              </a:rPr>
              <a:t>HANDS-ON: notebooks 02, 04</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CONFORMAL PREDICTION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An everyday version of the problem</a:t>
            </a:r>
          </a:p>
        </p:txBody>
      </p:sp>
      <p:sp>
        <p:nvSpPr>
          <p:cNvPr id="5" name="Rounded Rectangle 4"/>
          <p:cNvSpPr/>
          <p:nvPr/>
        </p:nvSpPr>
        <p:spPr>
          <a:xfrm>
            <a:off x="1188720" y="2377440"/>
            <a:ext cx="9814255" cy="2377440"/>
          </a:xfrm>
          <a:prstGeom prst="roundRect">
            <a:avLst/>
          </a:prstGeom>
          <a:solidFill>
            <a:srgbClr val="FFFFFF"/>
          </a:solidFill>
          <a:ln w="1905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a:lstStyle/>
          <a:p>
            <a:pPr algn="ctr"/>
            <a:r>
              <a:rPr sz="2200" b="1" i="1">
                <a:solidFill>
                  <a:srgbClr val="1C5CAB"/>
                </a:solidFill>
                <a:latin typeface="Calibri"/>
              </a:rPr>
              <a:t>A weather forecaster who says “90% chance of rain” should be right about 9 days out of 10 whenever they say that. If they're only right 6 times out of 10, you stop trusting the number — even though every individual forecast still sounded confident.</a:t>
            </a:r>
          </a:p>
        </p:txBody>
      </p:sp>
      <p:sp>
        <p:nvSpPr>
          <p:cNvPr id="6" name="TextBox 5"/>
          <p:cNvSpPr txBox="1"/>
          <p:nvPr/>
        </p:nvSpPr>
        <p:spPr>
          <a:xfrm>
            <a:off x="1188720" y="4937760"/>
            <a:ext cx="9814255" cy="457200"/>
          </a:xfrm>
          <a:prstGeom prst="rect">
            <a:avLst/>
          </a:prstGeom>
          <a:noFill/>
        </p:spPr>
        <p:txBody>
          <a:bodyPr wrap="square">
            <a:spAutoFit/>
          </a:bodyPr>
          <a:lstStyle/>
          <a:p>
            <a:pPr algn="ctr"/>
            <a:r>
              <a:rPr sz="1300" b="0" i="0">
                <a:solidFill>
                  <a:srgbClr val="606060"/>
                </a:solidFill>
                <a:latin typeface="Calibri"/>
              </a:rPr>
              <a:t>A model that reports “92% confident” should work the same way. Conformal prediction is the tool that checks whether it actually does — and says so honestly when it doesn't.</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Conformal Prediction</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CONFORMAL PREDICTION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The problem: a model can sound confident and still be wrong</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A model says “92% chance of heart disease.” That number is not automatically trustworthy — nothing forces the model to actually be right 92% of the time.</a:t>
            </a:r>
          </a:p>
          <a:p>
            <a:pPr>
              <a:spcAft>
                <a:spcPts val="1200"/>
              </a:spcAft>
            </a:pPr>
            <a:r>
              <a:rPr sz="1800" b="1" i="0">
                <a:solidFill>
                  <a:srgbClr val="2A78D6"/>
                </a:solidFill>
                <a:latin typeface="Calibri"/>
              </a:rPr>
              <a:t>▪  </a:t>
            </a:r>
            <a:r>
              <a:rPr sz="1800" b="0" i="0">
                <a:solidFill>
                  <a:srgbClr val="1A1A1A"/>
                </a:solidFill>
                <a:latin typeface="Calibri"/>
              </a:rPr>
              <a:t>Move that same model to a new hospital, and it often keeps sounding just as confident even while its real, checkable accuracy quietly drops.</a:t>
            </a:r>
          </a:p>
          <a:p>
            <a:pPr>
              <a:spcAft>
                <a:spcPts val="1200"/>
              </a:spcAft>
            </a:pPr>
            <a:r>
              <a:rPr sz="1800" b="1" i="0">
                <a:solidFill>
                  <a:srgbClr val="2A78D6"/>
                </a:solidFill>
                <a:latin typeface="Calibri"/>
              </a:rPr>
              <a:t>▪  </a:t>
            </a:r>
            <a:r>
              <a:rPr sz="1800" b="0" i="0">
                <a:solidFill>
                  <a:srgbClr val="1A1A1A"/>
                </a:solidFill>
                <a:latin typeface="Calibri"/>
              </a:rPr>
              <a:t>The model has no way to know it has left home. It can't tell you it's now guessing in unfamiliar territory — that silence is the dangerous part.</a:t>
            </a:r>
          </a:p>
          <a:p>
            <a:pPr>
              <a:spcAft>
                <a:spcPts val="1200"/>
              </a:spcAft>
            </a:pPr>
            <a:r>
              <a:rPr sz="1800" b="1" i="0">
                <a:solidFill>
                  <a:srgbClr val="2A78D6"/>
                </a:solidFill>
                <a:latin typeface="Calibri"/>
              </a:rPr>
              <a:t>▪  </a:t>
            </a:r>
            <a:r>
              <a:rPr sz="1800" b="0" i="0">
                <a:solidFill>
                  <a:srgbClr val="1A1A1A"/>
                </a:solidFill>
                <a:latin typeface="Calibri"/>
              </a:rPr>
              <a:t>Getting the data to move between hospitals (interoperability) is a separate problem from whether the model's judgment still holds once it arrives. Solving the first does nothing for the second.</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Conformal Prediction</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CONFORMAL PREDICTION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What conformal prediction actually gives you</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Instead of one confident guess, it hands back a short list of plausible answers — for example, “the true severity is somewhere in {1, 2, 3}.”</a:t>
            </a:r>
          </a:p>
          <a:p>
            <a:pPr>
              <a:spcAft>
                <a:spcPts val="1200"/>
              </a:spcAft>
            </a:pPr>
            <a:r>
              <a:rPr sz="1800" b="1" i="0">
                <a:solidFill>
                  <a:srgbClr val="2A78D6"/>
                </a:solidFill>
                <a:latin typeface="Calibri"/>
              </a:rPr>
              <a:t>▪  </a:t>
            </a:r>
            <a:r>
              <a:rPr sz="1800" b="0" i="0">
                <a:solidFill>
                  <a:srgbClr val="1A1A1A"/>
                </a:solidFill>
                <a:latin typeface="Calibri"/>
              </a:rPr>
              <a:t>That list comes with a promise attached: statements built this way are right at least 90% of the time, if you ask for 90%. Not a hope — a guarantee you can go check.</a:t>
            </a:r>
          </a:p>
          <a:p>
            <a:pPr>
              <a:spcAft>
                <a:spcPts val="1200"/>
              </a:spcAft>
            </a:pPr>
            <a:r>
              <a:rPr sz="1800" b="1" i="0">
                <a:solidFill>
                  <a:srgbClr val="2A78D6"/>
                </a:solidFill>
                <a:latin typeface="Calibri"/>
              </a:rPr>
              <a:t>▪  </a:t>
            </a:r>
            <a:r>
              <a:rPr sz="1800" b="0" i="0">
                <a:solidFill>
                  <a:srgbClr val="1A1A1A"/>
                </a:solidFill>
                <a:latin typeface="Calibri"/>
              </a:rPr>
              <a:t>The guarantee holds no matter how good or bad the underlying model is — the only thing it needs is that the patients used to set the threshold look statistically like the patients it's later asked to judge.</a:t>
            </a:r>
          </a:p>
          <a:p>
            <a:pPr>
              <a:spcAft>
                <a:spcPts val="1200"/>
              </a:spcAft>
            </a:pPr>
            <a:r>
              <a:rPr sz="1800" b="1" i="0">
                <a:solidFill>
                  <a:srgbClr val="2A78D6"/>
                </a:solidFill>
                <a:latin typeface="Calibri"/>
              </a:rPr>
              <a:t>▪  </a:t>
            </a:r>
            <a:r>
              <a:rPr sz="1800" b="0" i="0">
                <a:solidFill>
                  <a:srgbClr val="1A1A1A"/>
                </a:solidFill>
                <a:latin typeface="Calibri"/>
              </a:rPr>
              <a:t>When a new hospital's patients don't look like that anymore, the promise breaks — and because we can measure the promise, we can catch the break instead of it happening silently.</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Conformal Prediction</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CONFORMAL PREDICTION</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Two ways an average can lie to you</a:t>
            </a:r>
          </a:p>
        </p:txBody>
      </p:sp>
      <p:pic>
        <p:nvPicPr>
          <p:cNvPr id="5" name="Picture 4" descr="fig10_coverage_notions.png"/>
          <p:cNvPicPr>
            <a:picLocks noChangeAspect="1"/>
          </p:cNvPicPr>
          <p:nvPr/>
        </p:nvPicPr>
        <p:blipFill>
          <a:blip r:embed="rId2"/>
          <a:stretch>
            <a:fillRect/>
          </a:stretch>
        </p:blipFill>
        <p:spPr>
          <a:xfrm>
            <a:off x="2438247" y="1508760"/>
            <a:ext cx="7315200" cy="2728905"/>
          </a:xfrm>
          <a:prstGeom prst="rect">
            <a:avLst/>
          </a:prstGeom>
        </p:spPr>
      </p:pic>
      <p:sp>
        <p:nvSpPr>
          <p:cNvPr id="6" name="TextBox 5"/>
          <p:cNvSpPr txBox="1"/>
          <p:nvPr/>
        </p:nvSpPr>
        <p:spPr>
          <a:xfrm>
            <a:off x="731520" y="4347393"/>
            <a:ext cx="10728655" cy="777240"/>
          </a:xfrm>
          <a:prstGeom prst="rect">
            <a:avLst/>
          </a:prstGeom>
          <a:noFill/>
        </p:spPr>
        <p:txBody>
          <a:bodyPr wrap="square">
            <a:spAutoFit/>
          </a:bodyPr>
          <a:lstStyle/>
          <a:p>
            <a:r>
              <a:rPr sz="1250" b="0" i="1">
                <a:solidFill>
                  <a:srgbClr val="606060"/>
                </a:solidFill>
                <a:latin typeface="Calibri"/>
              </a:rPr>
              <a:t>Picture two patient groups. Left: no promise at all — the model could be right any fraction of the time. Middle: the promise holds only on average — the two groups' results are blended together, so one can quietly fail while the blended number still looks fine. Right: the promise holds for every group separately — nothing is hidden by blending. Recreation of Angelopoulos &amp; Bates (2022), Figure 10.</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Conformal Prediction</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CONFORMAL PREDICTION</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headline result: watch the promise break</a:t>
            </a:r>
          </a:p>
        </p:txBody>
      </p:sp>
      <p:pic>
        <p:nvPicPr>
          <p:cNvPr id="5" name="Picture 4" descr="09_coverage_by_site.png"/>
          <p:cNvPicPr>
            <a:picLocks noChangeAspect="1"/>
          </p:cNvPicPr>
          <p:nvPr/>
        </p:nvPicPr>
        <p:blipFill>
          <a:blip r:embed="rId2"/>
          <a:stretch>
            <a:fillRect/>
          </a:stretch>
        </p:blipFill>
        <p:spPr>
          <a:xfrm>
            <a:off x="2372738" y="1508760"/>
            <a:ext cx="7446218"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A conformal predictor is calibrated using only Cleveland's patients, then deployed at all four hospitals unchanged. It keeps its 90% promise at Cleveland, Hungary and the V.A. — and silently drops to 71% at Switzerland. The shaded band marks ordinary random wobble; 71% falls well outside it, so this is a real effect, not noise.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Conformal Prediction</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CONFORMAL PREDICTION</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Why you have to check every site, not just the average</a:t>
            </a:r>
          </a:p>
        </p:txBody>
      </p:sp>
      <p:graphicFrame>
        <p:nvGraphicFramePr>
          <p:cNvPr id="5" name="Table 4"/>
          <p:cNvGraphicFramePr>
            <a:graphicFrameLocks noGrp="1"/>
          </p:cNvGraphicFramePr>
          <p:nvPr/>
        </p:nvGraphicFramePr>
        <p:xfrm>
          <a:off x="640080" y="1508760"/>
          <a:ext cx="10911533" cy="4416552"/>
        </p:xfrm>
        <a:graphic>
          <a:graphicData uri="http://schemas.openxmlformats.org/drawingml/2006/table">
            <a:tbl>
              <a:tblPr firstRow="1" bandRow="1">
                <a:tableStyleId>{5C22544A-7EE6-4342-B048-85BDC9FD1C3A}</a:tableStyleId>
              </a:tblPr>
              <a:tblGrid>
                <a:gridCol w="3637178"/>
                <a:gridCol w="2424785"/>
                <a:gridCol w="2424785"/>
                <a:gridCol w="2424785"/>
              </a:tblGrid>
              <a:tr h="883310">
                <a:tc>
                  <a:txBody>
                    <a:bodyPr wrap="square"/>
                    <a:lstStyle/>
                    <a:p>
                      <a:r>
                        <a:rPr sz="1500" b="1" i="0">
                          <a:solidFill>
                            <a:srgbClr val="FFFFFF"/>
                          </a:solidFill>
                          <a:latin typeface="Calibri"/>
                        </a:rPr>
                        <a:t>Deployment site</a:t>
                      </a:r>
                    </a:p>
                  </a:txBody>
                  <a:tcPr anchor="ctr">
                    <a:solidFill>
                      <a:srgbClr val="2A78D6"/>
                    </a:solidFill>
                  </a:tcPr>
                </a:tc>
                <a:tc>
                  <a:txBody>
                    <a:bodyPr wrap="square"/>
                    <a:lstStyle/>
                    <a:p>
                      <a:r>
                        <a:rPr sz="1500" b="1" i="0">
                          <a:solidFill>
                            <a:srgbClr val="FFFFFF"/>
                          </a:solidFill>
                          <a:latin typeface="Calibri"/>
                        </a:rPr>
                        <a:t>Empirical coverage</a:t>
                      </a:r>
                    </a:p>
                  </a:txBody>
                  <a:tcPr anchor="ctr">
                    <a:solidFill>
                      <a:srgbClr val="2A78D6"/>
                    </a:solidFill>
                  </a:tcPr>
                </a:tc>
                <a:tc>
                  <a:txBody>
                    <a:bodyPr wrap="square"/>
                    <a:lstStyle/>
                    <a:p>
                      <a:r>
                        <a:rPr sz="1500" b="1" i="0">
                          <a:solidFill>
                            <a:srgbClr val="FFFFFF"/>
                          </a:solidFill>
                          <a:latin typeface="Calibri"/>
                        </a:rPr>
                        <a:t>Gap vs. 90% promise</a:t>
                      </a:r>
                    </a:p>
                  </a:txBody>
                  <a:tcPr anchor="ctr">
                    <a:solidFill>
                      <a:srgbClr val="2A78D6"/>
                    </a:solidFill>
                  </a:tcPr>
                </a:tc>
                <a:tc>
                  <a:txBody>
                    <a:bodyPr wrap="square"/>
                    <a:lstStyle/>
                    <a:p>
                      <a:r>
                        <a:rPr sz="1500" b="1" i="0">
                          <a:solidFill>
                            <a:srgbClr val="FFFFFF"/>
                          </a:solidFill>
                          <a:latin typeface="Calibri"/>
                        </a:rPr>
                        <a:t>Verdict</a:t>
                      </a:r>
                    </a:p>
                  </a:txBody>
                  <a:tcPr anchor="ctr">
                    <a:solidFill>
                      <a:srgbClr val="2A78D6"/>
                    </a:solidFill>
                  </a:tcPr>
                </a:tc>
              </a:tr>
              <a:tr h="883310">
                <a:tc>
                  <a:txBody>
                    <a:bodyPr wrap="square"/>
                    <a:lstStyle/>
                    <a:p>
                      <a:r>
                        <a:rPr sz="1500" b="0" i="0">
                          <a:solidFill>
                            <a:srgbClr val="1A1A1A"/>
                          </a:solidFill>
                          <a:latin typeface="Calibri"/>
                        </a:rPr>
                        <a:t>Cleveland (calibration site)</a:t>
                      </a:r>
                    </a:p>
                  </a:txBody>
                  <a:tcPr anchor="ctr">
                    <a:solidFill>
                      <a:srgbClr val="FFFFFF"/>
                    </a:solidFill>
                  </a:tcPr>
                </a:tc>
                <a:tc>
                  <a:txBody>
                    <a:bodyPr wrap="square"/>
                    <a:lstStyle/>
                    <a:p>
                      <a:r>
                        <a:rPr sz="1500" b="0" i="0">
                          <a:solidFill>
                            <a:srgbClr val="1A1A1A"/>
                          </a:solidFill>
                          <a:latin typeface="Calibri"/>
                        </a:rPr>
                        <a:t>90.8%</a:t>
                      </a:r>
                    </a:p>
                  </a:txBody>
                  <a:tcPr anchor="ctr">
                    <a:solidFill>
                      <a:srgbClr val="FFFFFF"/>
                    </a:solidFill>
                  </a:tcPr>
                </a:tc>
                <a:tc>
                  <a:txBody>
                    <a:bodyPr wrap="square"/>
                    <a:lstStyle/>
                    <a:p>
                      <a:r>
                        <a:rPr sz="1500" b="0" i="0">
                          <a:solidFill>
                            <a:srgbClr val="1A1A1A"/>
                          </a:solidFill>
                          <a:latin typeface="Calibri"/>
                        </a:rPr>
                        <a:t>+0.8 pp</a:t>
                      </a:r>
                    </a:p>
                  </a:txBody>
                  <a:tcPr anchor="ctr">
                    <a:solidFill>
                      <a:srgbClr val="FFFFFF"/>
                    </a:solidFill>
                  </a:tcPr>
                </a:tc>
                <a:tc>
                  <a:txBody>
                    <a:bodyPr wrap="square"/>
                    <a:lstStyle/>
                    <a:p>
                      <a:r>
                        <a:rPr sz="1500" b="0" i="0">
                          <a:solidFill>
                            <a:srgbClr val="1A1A1A"/>
                          </a:solidFill>
                          <a:latin typeface="Calibri"/>
                        </a:rPr>
                        <a:t>Promise kept</a:t>
                      </a:r>
                    </a:p>
                  </a:txBody>
                  <a:tcPr anchor="ctr">
                    <a:solidFill>
                      <a:srgbClr val="FFFFFF"/>
                    </a:solidFill>
                  </a:tcPr>
                </a:tc>
              </a:tr>
              <a:tr h="883310">
                <a:tc>
                  <a:txBody>
                    <a:bodyPr wrap="square"/>
                    <a:lstStyle/>
                    <a:p>
                      <a:r>
                        <a:rPr sz="1500" b="0" i="0">
                          <a:solidFill>
                            <a:srgbClr val="1A1A1A"/>
                          </a:solidFill>
                          <a:latin typeface="Calibri"/>
                        </a:rPr>
                        <a:t>Hungary</a:t>
                      </a:r>
                    </a:p>
                  </a:txBody>
                  <a:tcPr anchor="ctr">
                    <a:solidFill>
                      <a:srgbClr val="F0F4FA"/>
                    </a:solidFill>
                  </a:tcPr>
                </a:tc>
                <a:tc>
                  <a:txBody>
                    <a:bodyPr wrap="square"/>
                    <a:lstStyle/>
                    <a:p>
                      <a:r>
                        <a:rPr sz="1500" b="0" i="0">
                          <a:solidFill>
                            <a:srgbClr val="1A1A1A"/>
                          </a:solidFill>
                          <a:latin typeface="Calibri"/>
                        </a:rPr>
                        <a:t>90.8%</a:t>
                      </a:r>
                    </a:p>
                  </a:txBody>
                  <a:tcPr anchor="ctr">
                    <a:solidFill>
                      <a:srgbClr val="F0F4FA"/>
                    </a:solidFill>
                  </a:tcPr>
                </a:tc>
                <a:tc>
                  <a:txBody>
                    <a:bodyPr wrap="square"/>
                    <a:lstStyle/>
                    <a:p>
                      <a:r>
                        <a:rPr sz="1500" b="0" i="0">
                          <a:solidFill>
                            <a:srgbClr val="1A1A1A"/>
                          </a:solidFill>
                          <a:latin typeface="Calibri"/>
                        </a:rPr>
                        <a:t>+0.8 pp</a:t>
                      </a:r>
                    </a:p>
                  </a:txBody>
                  <a:tcPr anchor="ctr">
                    <a:solidFill>
                      <a:srgbClr val="F0F4FA"/>
                    </a:solidFill>
                  </a:tcPr>
                </a:tc>
                <a:tc>
                  <a:txBody>
                    <a:bodyPr wrap="square"/>
                    <a:lstStyle/>
                    <a:p>
                      <a:r>
                        <a:rPr sz="1500" b="0" i="0">
                          <a:solidFill>
                            <a:srgbClr val="1A1A1A"/>
                          </a:solidFill>
                          <a:latin typeface="Calibri"/>
                        </a:rPr>
                        <a:t>Promise kept</a:t>
                      </a:r>
                    </a:p>
                  </a:txBody>
                  <a:tcPr anchor="ctr">
                    <a:solidFill>
                      <a:srgbClr val="F0F4FA"/>
                    </a:solidFill>
                  </a:tcPr>
                </a:tc>
              </a:tr>
              <a:tr h="883310">
                <a:tc>
                  <a:txBody>
                    <a:bodyPr wrap="square"/>
                    <a:lstStyle/>
                    <a:p>
                      <a:r>
                        <a:rPr sz="1500" b="0" i="0">
                          <a:solidFill>
                            <a:srgbClr val="1A1A1A"/>
                          </a:solidFill>
                          <a:latin typeface="Calibri"/>
                        </a:rPr>
                        <a:t>V.A. Long Beach</a:t>
                      </a:r>
                    </a:p>
                  </a:txBody>
                  <a:tcPr anchor="ctr">
                    <a:solidFill>
                      <a:srgbClr val="FFFFFF"/>
                    </a:solidFill>
                  </a:tcPr>
                </a:tc>
                <a:tc>
                  <a:txBody>
                    <a:bodyPr wrap="square"/>
                    <a:lstStyle/>
                    <a:p>
                      <a:r>
                        <a:rPr sz="1500" b="0" i="0">
                          <a:solidFill>
                            <a:srgbClr val="1A1A1A"/>
                          </a:solidFill>
                          <a:latin typeface="Calibri"/>
                        </a:rPr>
                        <a:t>90.5%</a:t>
                      </a:r>
                    </a:p>
                  </a:txBody>
                  <a:tcPr anchor="ctr">
                    <a:solidFill>
                      <a:srgbClr val="FFFFFF"/>
                    </a:solidFill>
                  </a:tcPr>
                </a:tc>
                <a:tc>
                  <a:txBody>
                    <a:bodyPr wrap="square"/>
                    <a:lstStyle/>
                    <a:p>
                      <a:r>
                        <a:rPr sz="1500" b="0" i="0">
                          <a:solidFill>
                            <a:srgbClr val="1A1A1A"/>
                          </a:solidFill>
                          <a:latin typeface="Calibri"/>
                        </a:rPr>
                        <a:t>+0.5 pp</a:t>
                      </a:r>
                    </a:p>
                  </a:txBody>
                  <a:tcPr anchor="ctr">
                    <a:solidFill>
                      <a:srgbClr val="FFFFFF"/>
                    </a:solidFill>
                  </a:tcPr>
                </a:tc>
                <a:tc>
                  <a:txBody>
                    <a:bodyPr wrap="square"/>
                    <a:lstStyle/>
                    <a:p>
                      <a:r>
                        <a:rPr sz="1500" b="0" i="0">
                          <a:solidFill>
                            <a:srgbClr val="1A1A1A"/>
                          </a:solidFill>
                          <a:latin typeface="Calibri"/>
                        </a:rPr>
                        <a:t>Promise kept</a:t>
                      </a:r>
                    </a:p>
                  </a:txBody>
                  <a:tcPr anchor="ctr">
                    <a:solidFill>
                      <a:srgbClr val="FFFFFF"/>
                    </a:solidFill>
                  </a:tcPr>
                </a:tc>
              </a:tr>
              <a:tr h="883312">
                <a:tc>
                  <a:txBody>
                    <a:bodyPr wrap="square"/>
                    <a:lstStyle/>
                    <a:p>
                      <a:r>
                        <a:rPr sz="1500" b="0" i="0">
                          <a:solidFill>
                            <a:srgbClr val="1A1A1A"/>
                          </a:solidFill>
                          <a:latin typeface="Calibri"/>
                        </a:rPr>
                        <a:t>Switzerland (held out entirely)</a:t>
                      </a:r>
                    </a:p>
                  </a:txBody>
                  <a:tcPr anchor="ctr">
                    <a:solidFill>
                      <a:srgbClr val="F0F4FA"/>
                    </a:solidFill>
                  </a:tcPr>
                </a:tc>
                <a:tc>
                  <a:txBody>
                    <a:bodyPr wrap="square"/>
                    <a:lstStyle/>
                    <a:p>
                      <a:r>
                        <a:rPr sz="1500" b="0" i="0">
                          <a:solidFill>
                            <a:srgbClr val="1A1A1A"/>
                          </a:solidFill>
                          <a:latin typeface="Calibri"/>
                        </a:rPr>
                        <a:t>70.7%</a:t>
                      </a:r>
                    </a:p>
                  </a:txBody>
                  <a:tcPr anchor="ctr">
                    <a:solidFill>
                      <a:srgbClr val="F0F4FA"/>
                    </a:solidFill>
                  </a:tcPr>
                </a:tc>
                <a:tc>
                  <a:txBody>
                    <a:bodyPr wrap="square"/>
                    <a:lstStyle/>
                    <a:p>
                      <a:r>
                        <a:rPr sz="1500" b="0" i="0">
                          <a:solidFill>
                            <a:srgbClr val="1A1A1A"/>
                          </a:solidFill>
                          <a:latin typeface="Calibri"/>
                        </a:rPr>
                        <a:t>−19.3 pp</a:t>
                      </a:r>
                    </a:p>
                  </a:txBody>
                  <a:tcPr anchor="ctr">
                    <a:solidFill>
                      <a:srgbClr val="F0F4FA"/>
                    </a:solidFill>
                  </a:tcPr>
                </a:tc>
                <a:tc>
                  <a:txBody>
                    <a:bodyPr wrap="square"/>
                    <a:lstStyle/>
                    <a:p>
                      <a:r>
                        <a:rPr sz="1500" b="0" i="0">
                          <a:solidFill>
                            <a:srgbClr val="1A1A1A"/>
                          </a:solidFill>
                          <a:latin typeface="Calibri"/>
                        </a:rPr>
                        <a:t>Promise broken, silently</a:t>
                      </a:r>
                    </a:p>
                  </a:txBody>
                  <a:tcPr anchor="ctr">
                    <a:solidFill>
                      <a:srgbClr val="F0F4FA"/>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Calibrated only on Cleveland's 303 patients. Blend all four sites into one overall coverage number and it lands close to 90% — looking perfectly healthy. Only by checking Switzerland on its own does the 19-point failure become visible.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Conformal Prediction</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CONFORMAL PREDICTION</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Every hospital pair, tested at once</a:t>
            </a:r>
          </a:p>
        </p:txBody>
      </p:sp>
      <p:pic>
        <p:nvPicPr>
          <p:cNvPr id="5" name="Picture 4" descr="08_transfer_matrix.png"/>
          <p:cNvPicPr>
            <a:picLocks noChangeAspect="1"/>
          </p:cNvPicPr>
          <p:nvPr/>
        </p:nvPicPr>
        <p:blipFill>
          <a:blip r:embed="rId2"/>
          <a:stretch>
            <a:fillRect/>
          </a:stretch>
        </p:blipFill>
        <p:spPr>
          <a:xfrm>
            <a:off x="3681302" y="1508760"/>
            <a:ext cx="4829091"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Each row is 'the hospital we set the threshold using'; each column is 'the hospital we then deploy at.' Reading straight down the diagonal (same hospital both times) is always healthy. Anything set using Cleveland, Hungary or the V.A. and then deployed at Switzerland lands around 70-72%; a threshold set using Switzerland instead over-delivers everywhere else.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Conformal Prediction</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8</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The Mathematics</a:t>
            </a:r>
          </a:p>
          <a:p>
            <a:r>
              <a:rPr sz="1500" b="0" i="1">
                <a:solidFill>
                  <a:srgbClr val="CDDCEF"/>
                </a:solidFill>
                <a:latin typeface="Calibri"/>
              </a:rPr>
              <a:t>And What Every Piece of Code Produces</a:t>
            </a:r>
          </a:p>
          <a:p>
            <a:pPr>
              <a:spcBef>
                <a:spcPts val="1400"/>
              </a:spcBef>
            </a:pPr>
            <a:r>
              <a:rPr sz="1300" b="1" i="0">
                <a:solidFill>
                  <a:srgbClr val="FFD67E"/>
                </a:solidFill>
                <a:latin typeface="Calibri"/>
              </a:rPr>
              <a:t>HANDS-ON: notebooks 02, 05</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What a prediction set actually looks like</a:t>
            </a:r>
          </a:p>
        </p:txBody>
      </p:sp>
      <p:pic>
        <p:nvPicPr>
          <p:cNvPr id="5" name="Picture 4" descr="fig01_prediction_set_examples.png"/>
          <p:cNvPicPr>
            <a:picLocks noChangeAspect="1"/>
          </p:cNvPicPr>
          <p:nvPr/>
        </p:nvPicPr>
        <p:blipFill>
          <a:blip r:embed="rId2"/>
          <a:stretch>
            <a:fillRect/>
          </a:stretch>
        </p:blipFill>
        <p:spPr>
          <a:xfrm>
            <a:off x="1798167" y="1508760"/>
            <a:ext cx="8595360" cy="3576508"/>
          </a:xfrm>
          <a:prstGeom prst="rect">
            <a:avLst/>
          </a:prstGeom>
        </p:spPr>
      </p:pic>
      <p:sp>
        <p:nvSpPr>
          <p:cNvPr id="6" name="TextBox 5"/>
          <p:cNvSpPr txBox="1"/>
          <p:nvPr/>
        </p:nvSpPr>
        <p:spPr>
          <a:xfrm>
            <a:off x="731520" y="5194996"/>
            <a:ext cx="10728655" cy="777240"/>
          </a:xfrm>
          <a:prstGeom prst="rect">
            <a:avLst/>
          </a:prstGeom>
          <a:noFill/>
        </p:spPr>
        <p:txBody>
          <a:bodyPr wrap="square">
            <a:spAutoFit/>
          </a:bodyPr>
          <a:lstStyle/>
          <a:p>
            <a:r>
              <a:rPr sz="1250" b="0" i="1">
                <a:solidFill>
                  <a:srgbClr val="606060"/>
                </a:solidFill>
                <a:latin typeface="Calibri"/>
              </a:rPr>
              <a:t>Three real patients from this project's data, all truly "No disease," and the list of plausible answers the calibrated model actually returns for each — a confident single answer, a so-so 3-answer list, and a genuinely unsure 4-answer list. In that hardest case, the model's own best guess is wrong — yet the correct answer, "No disease," still made the list. That is the whole point of the guarantee: even when the model is confused, the true answer still shows up somewhere in what it hands you.</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The one assumption everything rests on</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In plain terms: the patients used to set the threshold have to look statistically like the patients the model will later be asked to judge. Statisticians call this “exchangeability” — think of it as “no surprises between calibration and deployment.”</a:t>
            </a:r>
          </a:p>
          <a:p>
            <a:pPr>
              <a:spcAft>
                <a:spcPts val="1200"/>
              </a:spcAft>
            </a:pPr>
            <a:r>
              <a:rPr sz="1800" b="1" i="0">
                <a:solidFill>
                  <a:srgbClr val="2A78D6"/>
                </a:solidFill>
                <a:latin typeface="Calibri"/>
              </a:rPr>
              <a:t>▪  </a:t>
            </a:r>
            <a:r>
              <a:rPr sz="1800" b="0" i="0">
                <a:solidFill>
                  <a:srgbClr val="1A1A1A"/>
                </a:solidFill>
                <a:latin typeface="Calibri"/>
              </a:rPr>
              <a:t>It does not require the data to follow a bell curve, or be cleanly separable, or come from any particular kind of model — about as weak and general an assumption as a guarantee can rest on.</a:t>
            </a:r>
          </a:p>
          <a:p>
            <a:pPr>
              <a:spcAft>
                <a:spcPts val="1200"/>
              </a:spcAft>
            </a:pPr>
            <a:r>
              <a:rPr sz="1800" b="1" i="0">
                <a:solidFill>
                  <a:srgbClr val="2A78D6"/>
                </a:solidFill>
                <a:latin typeface="Calibri"/>
              </a:rPr>
              <a:t>▪  </a:t>
            </a:r>
            <a:r>
              <a:rPr sz="1800" b="0" i="0">
                <a:solidFill>
                  <a:srgbClr val="1A1A1A"/>
                </a:solidFill>
                <a:latin typeface="Calibri"/>
              </a:rPr>
              <a:t>This is exactly the assumption cross-hospital deployment can break outright: Cleveland's patients (46% have any disease) and Switzerland's patients (94% have any disease) simply don't look alike statistically.</a:t>
            </a:r>
          </a:p>
          <a:p>
            <a:pPr>
              <a:spcAft>
                <a:spcPts val="1200"/>
              </a:spcAft>
            </a:pPr>
            <a:r>
              <a:rPr sz="1800" b="1" i="0">
                <a:solidFill>
                  <a:srgbClr val="2A78D6"/>
                </a:solidFill>
                <a:latin typeface="Calibri"/>
              </a:rPr>
              <a:t>▪  </a:t>
            </a:r>
            <a:r>
              <a:rPr sz="1800" b="0" i="0">
                <a:solidFill>
                  <a:srgbClr val="1A1A1A"/>
                </a:solidFill>
                <a:latin typeface="Calibri"/>
              </a:rPr>
              <a:t>This dataset was chosen specifically because it breaks that assumption in a real, measurable way — so the failure is something you can see and quantify, not just describe.</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The recipe, in three steps: score, find a cutoff, draw the boundary</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550" b="1" i="0">
                <a:solidFill>
                  <a:srgbClr val="2A78D6"/>
                </a:solidFill>
                <a:latin typeface="Calibri"/>
              </a:rPr>
              <a:t>▪  </a:t>
            </a:r>
            <a:r>
              <a:rPr sz="1550" b="0" i="0">
                <a:solidFill>
                  <a:srgbClr val="1A1A1A"/>
                </a:solidFill>
                <a:latin typeface="Calibri"/>
              </a:rPr>
              <a:t>Step 1 — score: for every calibration patient, ask “how surprising was their true answer to the model?” (a nonconformity score, written s(x, y)). A confident, correct answer scores low; a confident, wrong answer scores high.</a:t>
            </a:r>
          </a:p>
          <a:p>
            <a:pPr>
              <a:spcAft>
                <a:spcPts val="1200"/>
              </a:spcAft>
            </a:pPr>
            <a:r>
              <a:rPr sz="1550" b="1" i="0">
                <a:solidFill>
                  <a:srgbClr val="2A78D6"/>
                </a:solidFill>
                <a:latin typeface="Calibri"/>
              </a:rPr>
              <a:t>▪  </a:t>
            </a:r>
            <a:r>
              <a:rPr sz="1550" b="0" i="0">
                <a:solidFill>
                  <a:srgbClr val="1A1A1A"/>
                </a:solidFill>
                <a:latin typeface="Calibri"/>
              </a:rPr>
              <a:t>Step 2 — find a cutoff: sort those scores and take a percentile near the top, called q̂. Formally,  q̂ = Quantile(calibration scores;  ⌈(n + 1)(1 − α)⌉ / n) — the ⌈⌉ and the “+1” are just a small correction so the guarantee is exact even with a limited number of patients, not just true on average over many repeats.</a:t>
            </a:r>
          </a:p>
          <a:p>
            <a:pPr>
              <a:spcAft>
                <a:spcPts val="1200"/>
              </a:spcAft>
            </a:pPr>
            <a:r>
              <a:rPr sz="1550" b="1" i="0">
                <a:solidFill>
                  <a:srgbClr val="2A78D6"/>
                </a:solidFill>
                <a:latin typeface="Calibri"/>
              </a:rPr>
              <a:t>▪  </a:t>
            </a:r>
            <a:r>
              <a:rPr sz="1550" b="0" i="0">
                <a:solidFill>
                  <a:srgbClr val="1A1A1A"/>
                </a:solidFill>
                <a:latin typeface="Calibri"/>
              </a:rPr>
              <a:t>Step 3 — draw the boundary: for a new patient, keep every possible answer whose surprise score doesn't clear that cutoff:  C(x) = { y : s(x, y) ≤ q̂ }.</a:t>
            </a:r>
          </a:p>
          <a:p>
            <a:pPr>
              <a:spcAft>
                <a:spcPts val="1200"/>
              </a:spcAft>
            </a:pPr>
            <a:r>
              <a:rPr sz="1550" b="1" i="0">
                <a:solidFill>
                  <a:srgbClr val="2A78D6"/>
                </a:solidFill>
                <a:latin typeface="Calibri"/>
              </a:rPr>
              <a:t>▪  </a:t>
            </a:r>
            <a:r>
              <a:rPr sz="1550" b="0" i="0">
                <a:solidFill>
                  <a:srgbClr val="1A1A1A"/>
                </a:solidFill>
                <a:latin typeface="Calibri"/>
              </a:rPr>
              <a:t>The guarantee this produces:  P(true answer is in the returned list) ≥ 1 − α — true for any scoring rule, and any underlying model, confident or not.</a:t>
            </a:r>
          </a:p>
          <a:p>
            <a:pPr>
              <a:spcAft>
                <a:spcPts val="1200"/>
              </a:spcAft>
            </a:pPr>
            <a:r>
              <a:rPr sz="1550" b="1" i="0">
                <a:solidFill>
                  <a:srgbClr val="2A78D6"/>
                </a:solidFill>
                <a:latin typeface="Calibri"/>
              </a:rPr>
              <a:t>▪  </a:t>
            </a:r>
            <a:r>
              <a:rPr sz="1550" b="0" i="0">
                <a:solidFill>
                  <a:srgbClr val="1A1A1A"/>
                </a:solidFill>
                <a:latin typeface="Calibri"/>
              </a:rPr>
              <a:t>Two scoring rules used in this toolkit: LAC keeps things simple (score = 1 − the model's probability on the true class) and tends to return the shortest lists. APS is a bit more adaptive — it adds up sorted probabilities until they cover the true class — and tends to size each list to how genuinely uncertain that particular patient is.</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two scoring rules, worked through visually</a:t>
            </a:r>
          </a:p>
        </p:txBody>
      </p:sp>
      <p:pic>
        <p:nvPicPr>
          <p:cNvPr id="5" name="Picture 4" descr="fig02_conformal_illustration.png"/>
          <p:cNvPicPr>
            <a:picLocks noChangeAspect="1"/>
          </p:cNvPicPr>
          <p:nvPr/>
        </p:nvPicPr>
        <p:blipFill>
          <a:blip r:embed="rId2"/>
          <a:stretch>
            <a:fillRect/>
          </a:stretch>
        </p:blipFill>
        <p:spPr>
          <a:xfrm>
            <a:off x="640080" y="1508760"/>
            <a:ext cx="5181447" cy="1649010"/>
          </a:xfrm>
          <a:prstGeom prst="rect">
            <a:avLst/>
          </a:prstGeom>
        </p:spPr>
      </p:pic>
      <p:pic>
        <p:nvPicPr>
          <p:cNvPr id="6" name="Picture 5" descr="fig04_adaptive_prediction_sets.png"/>
          <p:cNvPicPr>
            <a:picLocks noChangeAspect="1"/>
          </p:cNvPicPr>
          <p:nvPr/>
        </p:nvPicPr>
        <p:blipFill>
          <a:blip r:embed="rId3"/>
          <a:stretch>
            <a:fillRect/>
          </a:stretch>
        </p:blipFill>
        <p:spPr>
          <a:xfrm>
            <a:off x="6370167" y="1508760"/>
            <a:ext cx="5181447" cy="1826422"/>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(LAC): score a calibration patient → plot all the calibration scores as a histogram and mark the cutoff q̂ → for a new patient, keep every answer whose probability clears that bar. Right (APS): same three steps, but answers are sorted from most to least likely and added up until the running total crosses q̂.</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LAC vs. APS, head to head on the same model</a:t>
            </a:r>
          </a:p>
        </p:txBody>
      </p:sp>
      <p:graphicFrame>
        <p:nvGraphicFramePr>
          <p:cNvPr id="5" name="Table 4"/>
          <p:cNvGraphicFramePr>
            <a:graphicFrameLocks noGrp="1"/>
          </p:cNvGraphicFramePr>
          <p:nvPr/>
        </p:nvGraphicFramePr>
        <p:xfrm>
          <a:off x="640080" y="1508760"/>
          <a:ext cx="10911533" cy="4416552"/>
        </p:xfrm>
        <a:graphic>
          <a:graphicData uri="http://schemas.openxmlformats.org/drawingml/2006/table">
            <a:tbl>
              <a:tblPr firstRow="1" bandRow="1">
                <a:tableStyleId>{5C22544A-7EE6-4342-B048-85BDC9FD1C3A}</a:tableStyleId>
              </a:tblPr>
              <a:tblGrid>
                <a:gridCol w="3777069"/>
                <a:gridCol w="3777069"/>
                <a:gridCol w="3357395"/>
              </a:tblGrid>
              <a:tr h="1472184">
                <a:tc>
                  <a:txBody>
                    <a:bodyPr wrap="square"/>
                    <a:lstStyle/>
                    <a:p>
                      <a:r>
                        <a:rPr sz="1550" b="1" i="0">
                          <a:solidFill>
                            <a:srgbClr val="FFFFFF"/>
                          </a:solidFill>
                          <a:latin typeface="Calibri"/>
                        </a:rPr>
                        <a:t>Scoring rule</a:t>
                      </a:r>
                    </a:p>
                  </a:txBody>
                  <a:tcPr anchor="ctr">
                    <a:solidFill>
                      <a:srgbClr val="2A78D6"/>
                    </a:solidFill>
                  </a:tcPr>
                </a:tc>
                <a:tc>
                  <a:txBody>
                    <a:bodyPr wrap="square"/>
                    <a:lstStyle/>
                    <a:p>
                      <a:r>
                        <a:rPr sz="1550" b="1" i="0">
                          <a:solidFill>
                            <a:srgbClr val="FFFFFF"/>
                          </a:solidFill>
                          <a:latin typeface="Calibri"/>
                        </a:rPr>
                        <a:t>Average list length</a:t>
                      </a:r>
                    </a:p>
                  </a:txBody>
                  <a:tcPr anchor="ctr">
                    <a:solidFill>
                      <a:srgbClr val="2A78D6"/>
                    </a:solidFill>
                  </a:tcPr>
                </a:tc>
                <a:tc>
                  <a:txBody>
                    <a:bodyPr wrap="square"/>
                    <a:lstStyle/>
                    <a:p>
                      <a:r>
                        <a:rPr sz="1550" b="1" i="0">
                          <a:solidFill>
                            <a:srgbClr val="FFFFFF"/>
                          </a:solidFill>
                          <a:latin typeface="Calibri"/>
                        </a:rPr>
                        <a:t>Coverage achieved</a:t>
                      </a:r>
                    </a:p>
                  </a:txBody>
                  <a:tcPr anchor="ctr">
                    <a:solidFill>
                      <a:srgbClr val="2A78D6"/>
                    </a:solidFill>
                  </a:tcPr>
                </a:tc>
              </a:tr>
              <a:tr h="1472184">
                <a:tc>
                  <a:txBody>
                    <a:bodyPr wrap="square"/>
                    <a:lstStyle/>
                    <a:p>
                      <a:r>
                        <a:rPr sz="1550" b="0" i="0">
                          <a:solidFill>
                            <a:srgbClr val="1A1A1A"/>
                          </a:solidFill>
                          <a:latin typeface="Calibri"/>
                        </a:rPr>
                        <a:t>LAC (simpler rule)</a:t>
                      </a:r>
                    </a:p>
                  </a:txBody>
                  <a:tcPr anchor="ctr">
                    <a:solidFill>
                      <a:srgbClr val="FFFFFF"/>
                    </a:solidFill>
                  </a:tcPr>
                </a:tc>
                <a:tc>
                  <a:txBody>
                    <a:bodyPr wrap="square"/>
                    <a:lstStyle/>
                    <a:p>
                      <a:r>
                        <a:rPr sz="1550" b="0" i="0">
                          <a:solidFill>
                            <a:srgbClr val="1A1A1A"/>
                          </a:solidFill>
                          <a:latin typeface="Calibri"/>
                        </a:rPr>
                        <a:t>3.09 out of 5 answers</a:t>
                      </a:r>
                    </a:p>
                  </a:txBody>
                  <a:tcPr anchor="ctr">
                    <a:solidFill>
                      <a:srgbClr val="FFFFFF"/>
                    </a:solidFill>
                  </a:tcPr>
                </a:tc>
                <a:tc>
                  <a:txBody>
                    <a:bodyPr wrap="square"/>
                    <a:lstStyle/>
                    <a:p>
                      <a:r>
                        <a:rPr sz="1550" b="0" i="0">
                          <a:solidFill>
                            <a:srgbClr val="1A1A1A"/>
                          </a:solidFill>
                          <a:latin typeface="Calibri"/>
                        </a:rPr>
                        <a:t>90.3% (target 90%)</a:t>
                      </a:r>
                    </a:p>
                  </a:txBody>
                  <a:tcPr anchor="ctr">
                    <a:solidFill>
                      <a:srgbClr val="FFFFFF"/>
                    </a:solidFill>
                  </a:tcPr>
                </a:tc>
              </a:tr>
              <a:tr h="1472184">
                <a:tc>
                  <a:txBody>
                    <a:bodyPr wrap="square"/>
                    <a:lstStyle/>
                    <a:p>
                      <a:r>
                        <a:rPr sz="1550" b="0" i="0">
                          <a:solidFill>
                            <a:srgbClr val="1A1A1A"/>
                          </a:solidFill>
                          <a:latin typeface="Calibri"/>
                        </a:rPr>
                        <a:t>APS (adaptive rule)</a:t>
                      </a:r>
                    </a:p>
                  </a:txBody>
                  <a:tcPr anchor="ctr">
                    <a:solidFill>
                      <a:srgbClr val="F0F4FA"/>
                    </a:solidFill>
                  </a:tcPr>
                </a:tc>
                <a:tc>
                  <a:txBody>
                    <a:bodyPr wrap="square"/>
                    <a:lstStyle/>
                    <a:p>
                      <a:r>
                        <a:rPr sz="1550" b="0" i="0">
                          <a:solidFill>
                            <a:srgbClr val="1A1A1A"/>
                          </a:solidFill>
                          <a:latin typeface="Calibri"/>
                        </a:rPr>
                        <a:t>2.96 out of 5 answers</a:t>
                      </a:r>
                    </a:p>
                  </a:txBody>
                  <a:tcPr anchor="ctr">
                    <a:solidFill>
                      <a:srgbClr val="F0F4FA"/>
                    </a:solidFill>
                  </a:tcPr>
                </a:tc>
                <a:tc>
                  <a:txBody>
                    <a:bodyPr wrap="square"/>
                    <a:lstStyle/>
                    <a:p>
                      <a:r>
                        <a:rPr sz="1550" b="0" i="0">
                          <a:solidFill>
                            <a:srgbClr val="1A1A1A"/>
                          </a:solidFill>
                          <a:latin typeface="Calibri"/>
                        </a:rPr>
                        <a:t>90.3% (target 90%)</a:t>
                      </a:r>
                    </a:p>
                  </a:txBody>
                  <a:tcPr anchor="ctr">
                    <a:solidFill>
                      <a:srgbClr val="F0F4FA"/>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Same model, same calibration data, same 90% target — only the scoring rule changes. Both keep their promise; APS does it with slightly shorter lists on average, because it adapts list length to how uncertain each individual patient is rather than using one fixed rule for everyone.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Not a toy example — this project's own numbers</a:t>
            </a:r>
          </a:p>
        </p:txBody>
      </p:sp>
      <p:pic>
        <p:nvPicPr>
          <p:cNvPr id="5" name="Picture 4" descr="07_calibration_scores.png"/>
          <p:cNvPicPr>
            <a:picLocks noChangeAspect="1"/>
          </p:cNvPicPr>
          <p:nvPr/>
        </p:nvPicPr>
        <p:blipFill>
          <a:blip r:embed="rId2"/>
          <a:stretch>
            <a:fillRect/>
          </a:stretch>
        </p:blipFill>
        <p:spPr>
          <a:xfrm>
            <a:off x="2255367" y="1508760"/>
            <a:ext cx="7680960" cy="3970666"/>
          </a:xfrm>
          <a:prstGeom prst="rect">
            <a:avLst/>
          </a:prstGeom>
        </p:spPr>
      </p:pic>
      <p:sp>
        <p:nvSpPr>
          <p:cNvPr id="6" name="TextBox 5"/>
          <p:cNvSpPr txBox="1"/>
          <p:nvPr/>
        </p:nvSpPr>
        <p:spPr>
          <a:xfrm>
            <a:off x="731520" y="5589154"/>
            <a:ext cx="10728655" cy="777240"/>
          </a:xfrm>
          <a:prstGeom prst="rect">
            <a:avLst/>
          </a:prstGeom>
          <a:noFill/>
        </p:spPr>
        <p:txBody>
          <a:bodyPr wrap="square">
            <a:spAutoFit/>
          </a:bodyPr>
          <a:lstStyle/>
          <a:p>
            <a:r>
              <a:rPr sz="1250" b="0" i="1">
                <a:solidFill>
                  <a:srgbClr val="606060"/>
                </a:solidFill>
                <a:latin typeface="Calibri"/>
              </a:rPr>
              <a:t>Every one of these bars is a real calibration score from this project's own federated model, trained across Cleveland, Hungary and the V.A. The red line is the cutoff q̂ — everything to its left is what makes the 90% promise hold.</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How many patients do you need before you can trust the number?</a:t>
            </a:r>
          </a:p>
        </p:txBody>
      </p:sp>
      <p:pic>
        <p:nvPicPr>
          <p:cNvPr id="5" name="Picture 4" descr="11_coverage_beta.png"/>
          <p:cNvPicPr>
            <a:picLocks noChangeAspect="1"/>
          </p:cNvPicPr>
          <p:nvPr/>
        </p:nvPicPr>
        <p:blipFill>
          <a:blip r:embed="rId2"/>
          <a:stretch>
            <a:fillRect/>
          </a:stretch>
        </p:blipFill>
        <p:spPr>
          <a:xfrm>
            <a:off x="2392599" y="1508760"/>
            <a:ext cx="7406497"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Run the calibration step many times on small random samples and the achieved coverage bounces around — sometimes a little high, sometimes a little low, just from the luck of which patients happened to land in the sample. At 50 patients that bounce is wide; at 1,000 it's tight. Switzerland's 71% sits far outside even the widest realistic bounce at Cleveland's own scale (303 patients) — so it isn't bad luck, it's a genuine site effect.</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same reassurance, at a much bigger scale</a:t>
            </a:r>
          </a:p>
        </p:txBody>
      </p:sp>
      <p:pic>
        <p:nvPicPr>
          <p:cNvPr id="5" name="Picture 4" descr="fig11_coverage_distribution.png"/>
          <p:cNvPicPr>
            <a:picLocks noChangeAspect="1"/>
          </p:cNvPicPr>
          <p:nvPr/>
        </p:nvPicPr>
        <p:blipFill>
          <a:blip r:embed="rId2"/>
          <a:stretch>
            <a:fillRect/>
          </a:stretch>
        </p:blipFill>
        <p:spPr>
          <a:xfrm>
            <a:off x="2372738" y="1508760"/>
            <a:ext cx="7446218"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The same bounce-from-sample-size idea, now shown at the much larger scales used in the original paper (100, 1,000, and 10,000 calibration patients) — the spread narrows sharply as the sample grows. Recreation of Angelopoulos &amp; Bates (2022), Figure 11.</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Coverage alone isn't the whole story</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There's a cheap, useless way to hit 90% coverage: always return every possible answer. Technically correct, completely unhelpful to a clinician.</a:t>
            </a:r>
          </a:p>
          <a:p>
            <a:pPr>
              <a:spcAft>
                <a:spcPts val="1200"/>
              </a:spcAft>
            </a:pPr>
            <a:r>
              <a:rPr sz="1800" b="1" i="0">
                <a:solidFill>
                  <a:srgbClr val="2A78D6"/>
                </a:solidFill>
                <a:latin typeface="Calibri"/>
              </a:rPr>
              <a:t>▪  </a:t>
            </a:r>
            <a:r>
              <a:rPr sz="1800" b="0" i="0">
                <a:solidFill>
                  <a:srgbClr val="1A1A1A"/>
                </a:solidFill>
                <a:latin typeface="Calibri"/>
              </a:rPr>
              <a:t>A genuinely useful list is short when the model is confident and long when it's genuinely unsure — and it should visibly grow at hospitals where that particular patient's outcome is harder to call.</a:t>
            </a:r>
          </a:p>
          <a:p>
            <a:pPr>
              <a:spcAft>
                <a:spcPts val="1200"/>
              </a:spcAft>
            </a:pPr>
            <a:r>
              <a:rPr sz="1800" b="1" i="0">
                <a:solidFill>
                  <a:srgbClr val="2A78D6"/>
                </a:solidFill>
                <a:latin typeface="Calibri"/>
              </a:rPr>
              <a:t>▪  </a:t>
            </a:r>
            <a:r>
              <a:rPr sz="1800" b="0" i="0">
                <a:solidFill>
                  <a:srgbClr val="1A1A1A"/>
                </a:solidFill>
                <a:latin typeface="Calibri"/>
              </a:rPr>
              <a:t>One overall coverage number can also hide a second, subtler failure: it can be right on average across all patients while being badly wrong for one specific true diagnosis.</a:t>
            </a:r>
          </a:p>
          <a:p>
            <a:pPr>
              <a:spcAft>
                <a:spcPts val="1200"/>
              </a:spcAft>
            </a:pPr>
            <a:r>
              <a:rPr sz="1800" b="1" i="0">
                <a:solidFill>
                  <a:srgbClr val="2A78D6"/>
                </a:solidFill>
                <a:latin typeface="Calibri"/>
              </a:rPr>
              <a:t>▪  </a:t>
            </a:r>
            <a:r>
              <a:rPr sz="1800" b="0" i="0">
                <a:solidFill>
                  <a:srgbClr val="1A1A1A"/>
                </a:solidFill>
                <a:latin typeface="Calibri"/>
              </a:rPr>
              <a:t>Concrete example: on the chest-pain task, the rarest true diagnosis (typical angina, only 23 patients) is only covered 26% of the time against a 90% promise — a failure that's completely invisible in the overall pooled number.</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Two more things worth checking, side by side</a:t>
            </a:r>
          </a:p>
        </p:txBody>
      </p:sp>
      <p:pic>
        <p:nvPicPr>
          <p:cNvPr id="5" name="Picture 4" descr="10_set_sizes.png"/>
          <p:cNvPicPr>
            <a:picLocks noChangeAspect="1"/>
          </p:cNvPicPr>
          <p:nvPr/>
        </p:nvPicPr>
        <p:blipFill>
          <a:blip r:embed="rId2"/>
          <a:stretch>
            <a:fillRect/>
          </a:stretch>
        </p:blipFill>
        <p:spPr>
          <a:xfrm>
            <a:off x="640080" y="1508760"/>
            <a:ext cx="5181447" cy="2493328"/>
          </a:xfrm>
          <a:prstGeom prst="rect">
            <a:avLst/>
          </a:prstGeom>
        </p:spPr>
      </p:pic>
      <p:pic>
        <p:nvPicPr>
          <p:cNvPr id="6" name="Picture 5" descr="c04_class_conditional.png"/>
          <p:cNvPicPr>
            <a:picLocks noChangeAspect="1"/>
          </p:cNvPicPr>
          <p:nvPr/>
        </p:nvPicPr>
        <p:blipFill>
          <a:blip r:embed="rId3"/>
          <a:stretch>
            <a:fillRect/>
          </a:stretch>
        </p:blipFill>
        <p:spPr>
          <a:xfrm>
            <a:off x="6370167" y="1508760"/>
            <a:ext cx="5181447" cy="2610203"/>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how long the returned lists are, by hospital (disease task) — longer lists at a hospital mean the model is systematically less sure about that hospital's patients. Right: coverage broken out by true chest-pain diagnosis — the rarest diagnosis (typical angina, 23 patients) is covered only 26% of the time, a failure the overall 90% number never reveals.</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The same trick works well beyond classification</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The three-step recipe from earlier — score how surprising something is, find a cutoff, use the cutoff to draw a boundary — isn't specific to picking from a list of diagnoses.</a:t>
            </a:r>
          </a:p>
          <a:p>
            <a:pPr>
              <a:spcAft>
                <a:spcPts val="1200"/>
              </a:spcAft>
            </a:pPr>
            <a:r>
              <a:rPr sz="1800" b="1" i="0">
                <a:solidFill>
                  <a:srgbClr val="2A78D6"/>
                </a:solidFill>
                <a:latin typeface="Calibri"/>
              </a:rPr>
              <a:t>▪  </a:t>
            </a:r>
            <a:r>
              <a:rPr sz="1800" b="0" i="0">
                <a:solidFill>
                  <a:srgbClr val="1A1A1A"/>
                </a:solidFill>
                <a:latin typeface="Calibri"/>
              </a:rPr>
              <a:t>Predicting a number instead of a category (e.g. a lab value)? Take a fitted range and widen it by exactly the cutoff amount to reach the same guarantee.</a:t>
            </a:r>
          </a:p>
          <a:p>
            <a:pPr>
              <a:spcAft>
                <a:spcPts val="1200"/>
              </a:spcAft>
            </a:pPr>
            <a:r>
              <a:rPr sz="1800" b="1" i="0">
                <a:solidFill>
                  <a:srgbClr val="2A78D6"/>
                </a:solidFill>
                <a:latin typeface="Calibri"/>
              </a:rPr>
              <a:t>▪  </a:t>
            </a:r>
            <a:r>
              <a:rPr sz="1800" b="0" i="0">
                <a:solidFill>
                  <a:srgbClr val="1A1A1A"/>
                </a:solidFill>
                <a:latin typeface="Calibri"/>
              </a:rPr>
              <a:t>Have a single best-guess number plus some notion of how uncertain it is? Widen a band around that guess the same way.</a:t>
            </a:r>
          </a:p>
          <a:p>
            <a:pPr>
              <a:spcAft>
                <a:spcPts val="1200"/>
              </a:spcAft>
            </a:pPr>
            <a:r>
              <a:rPr sz="1800" b="1" i="0">
                <a:solidFill>
                  <a:srgbClr val="2A78D6"/>
                </a:solidFill>
                <a:latin typeface="Calibri"/>
              </a:rPr>
              <a:t>▪  </a:t>
            </a:r>
            <a:r>
              <a:rPr sz="1800" b="0" i="0">
                <a:solidFill>
                  <a:srgbClr val="1A1A1A"/>
                </a:solidFill>
                <a:latin typeface="Calibri"/>
              </a:rPr>
              <a:t>Working with a full Bayesian model instead? The same idea turns its output into a region above a probability threshold.</a:t>
            </a:r>
          </a:p>
          <a:p>
            <a:pPr>
              <a:spcAft>
                <a:spcPts val="1200"/>
              </a:spcAft>
            </a:pPr>
            <a:r>
              <a:rPr sz="1800" b="1" i="0">
                <a:solidFill>
                  <a:srgbClr val="2A78D6"/>
                </a:solidFill>
                <a:latin typeface="Calibri"/>
              </a:rPr>
              <a:t>▪  </a:t>
            </a:r>
            <a:r>
              <a:rPr sz="1800" b="0" i="0">
                <a:solidFill>
                  <a:srgbClr val="1A1A1A"/>
                </a:solidFill>
                <a:latin typeface="Calibri"/>
              </a:rPr>
              <a:t>These next three slides use small made-up examples, exactly as the original paper does — they're here to show the idea generalizes, not as results from this project's own clinical data.</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same trick, applied to numbers instead of categories</a:t>
            </a:r>
          </a:p>
        </p:txBody>
      </p:sp>
      <p:pic>
        <p:nvPicPr>
          <p:cNvPr id="5" name="Picture 4" descr="fig06_conformalized_quantile_regression.png"/>
          <p:cNvPicPr>
            <a:picLocks noChangeAspect="1"/>
          </p:cNvPicPr>
          <p:nvPr/>
        </p:nvPicPr>
        <p:blipFill>
          <a:blip r:embed="rId2"/>
          <a:stretch>
            <a:fillRect/>
          </a:stretch>
        </p:blipFill>
        <p:spPr>
          <a:xfrm>
            <a:off x="640080" y="1508760"/>
            <a:ext cx="5181447" cy="3073740"/>
          </a:xfrm>
          <a:prstGeom prst="rect">
            <a:avLst/>
          </a:prstGeom>
        </p:spPr>
      </p:pic>
      <p:pic>
        <p:nvPicPr>
          <p:cNvPr id="6" name="Picture 5" descr="fig08_uncertainty_scalar.png"/>
          <p:cNvPicPr>
            <a:picLocks noChangeAspect="1"/>
          </p:cNvPicPr>
          <p:nvPr/>
        </p:nvPicPr>
        <p:blipFill>
          <a:blip r:embed="rId3"/>
          <a:stretch>
            <a:fillRect/>
          </a:stretch>
        </p:blipFill>
        <p:spPr>
          <a:xfrm>
            <a:off x="6370167" y="1508760"/>
            <a:ext cx="5181447" cy="3073740"/>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a fitted range of likely numeric values (dashed) widened by the cutoff amount to reach the guarantee (solid). Right: a single best-guess number with a symmetric widened band around it. Both are made-up illustrative examples, recreating Angelopoulos &amp; Bates (2022), Figures 6 and 8.</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same trick, inside a Bayesian model</a:t>
            </a:r>
          </a:p>
        </p:txBody>
      </p:sp>
      <p:pic>
        <p:nvPicPr>
          <p:cNvPr id="5" name="Picture 4" descr="fig09_conformalized_bayes.png"/>
          <p:cNvPicPr>
            <a:picLocks noChangeAspect="1"/>
          </p:cNvPicPr>
          <p:nvPr/>
        </p:nvPicPr>
        <p:blipFill>
          <a:blip r:embed="rId2"/>
          <a:stretch>
            <a:fillRect/>
          </a:stretch>
        </p:blipFill>
        <p:spPr>
          <a:xfrm>
            <a:off x="2895447" y="1508760"/>
            <a:ext cx="6400800" cy="3634353"/>
          </a:xfrm>
          <a:prstGeom prst="rect">
            <a:avLst/>
          </a:prstGeom>
        </p:spPr>
      </p:pic>
      <p:sp>
        <p:nvSpPr>
          <p:cNvPr id="6" name="TextBox 5"/>
          <p:cNvSpPr txBox="1"/>
          <p:nvPr/>
        </p:nvSpPr>
        <p:spPr>
          <a:xfrm>
            <a:off x="731520" y="5252841"/>
            <a:ext cx="10728655" cy="777240"/>
          </a:xfrm>
          <a:prstGeom prst="rect">
            <a:avLst/>
          </a:prstGeom>
          <a:noFill/>
        </p:spPr>
        <p:txBody>
          <a:bodyPr wrap="square">
            <a:spAutoFit/>
          </a:bodyPr>
          <a:lstStyle/>
          <a:p>
            <a:r>
              <a:rPr sz="1250" b="0" i="1">
                <a:solidFill>
                  <a:srgbClr val="606060"/>
                </a:solidFill>
                <a:latin typeface="Calibri"/>
              </a:rPr>
              <a:t>Instead of a category list or a numeric range, the returned answer is a region: every outcome whose estimated probability clears a threshold. Made-up illustrative example, recreating Angelopoulos &amp; Bates (2022), Figure 9.</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9</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Pipeline Walkthrough</a:t>
            </a:r>
          </a:p>
          <a:p>
            <a:r>
              <a:rPr sz="1500" b="0" i="1">
                <a:solidFill>
                  <a:srgbClr val="CDDCEF"/>
                </a:solidFill>
                <a:latin typeface="Calibri"/>
              </a:rPr>
              <a:t>and Justification: Is This Enough?</a:t>
            </a:r>
          </a:p>
          <a:p>
            <a:pPr>
              <a:spcBef>
                <a:spcPts val="1400"/>
              </a:spcBef>
            </a:pPr>
            <a:r>
              <a:rPr sz="1300" b="1" i="0">
                <a:solidFill>
                  <a:srgbClr val="FFD67E"/>
                </a:solidFill>
                <a:latin typeface="Calibri"/>
              </a:rPr>
              <a:t>HANDS-ON: notebooks 03, 04, 06, 07</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TRAINING</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How the hospitals train one shared model together</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650" b="1" i="0">
                <a:solidFill>
                  <a:srgbClr val="2A78D6"/>
                </a:solidFill>
                <a:latin typeface="Calibri"/>
              </a:rPr>
              <a:t>▪  </a:t>
            </a:r>
            <a:r>
              <a:rPr sz="1650" b="0" i="0">
                <a:solidFill>
                  <a:srgbClr val="1A1A1A"/>
                </a:solidFill>
                <a:latin typeface="Calibri"/>
              </a:rPr>
              <a:t>One shared model learns to weigh each of the 13 patient measurements and combine them into a severity guess — nothing fancier than a weighted combination, about 70 numbers total, small enough to print out and read.</a:t>
            </a:r>
          </a:p>
          <a:p>
            <a:pPr>
              <a:spcAft>
                <a:spcPts val="1200"/>
              </a:spcAft>
            </a:pPr>
            <a:r>
              <a:rPr sz="1650" b="1" i="0">
                <a:solidFill>
                  <a:srgbClr val="2A78D6"/>
                </a:solidFill>
                <a:latin typeface="Calibri"/>
              </a:rPr>
              <a:t>▪  </a:t>
            </a:r>
            <a:r>
              <a:rPr sz="1650" b="0" i="0">
                <a:solidFill>
                  <a:srgbClr val="1A1A1A"/>
                </a:solidFill>
                <a:latin typeface="Calibri"/>
              </a:rPr>
              <a:t>Each round, the server sends the current shared model out to the three training hospitals — Cleveland, Hungary, the V.A. Patient records themselves never leave any hospital; only the model's numbers travel.</a:t>
            </a:r>
          </a:p>
          <a:p>
            <a:pPr>
              <a:spcAft>
                <a:spcPts val="1200"/>
              </a:spcAft>
            </a:pPr>
            <a:r>
              <a:rPr sz="1650" b="1" i="0">
                <a:solidFill>
                  <a:srgbClr val="2A78D6"/>
                </a:solidFill>
                <a:latin typeface="Calibri"/>
              </a:rPr>
              <a:t>▪  </a:t>
            </a:r>
            <a:r>
              <a:rPr sz="1650" b="0" i="0">
                <a:solidFill>
                  <a:srgbClr val="1A1A1A"/>
                </a:solidFill>
                <a:latin typeface="Calibri"/>
              </a:rPr>
              <a:t>Each hospital nudges its own copy slightly, using only its own patients, to make it fit its local data a bit better.</a:t>
            </a:r>
          </a:p>
          <a:p>
            <a:pPr>
              <a:spcAft>
                <a:spcPts val="1200"/>
              </a:spcAft>
            </a:pPr>
            <a:r>
              <a:rPr sz="1650" b="1" i="0">
                <a:solidFill>
                  <a:srgbClr val="2A78D6"/>
                </a:solidFill>
                <a:latin typeface="Calibri"/>
              </a:rPr>
              <a:t>▪  </a:t>
            </a:r>
            <a:r>
              <a:rPr sz="1650" b="0" i="0">
                <a:solidFill>
                  <a:srgbClr val="1A1A1A"/>
                </a:solidFill>
                <a:latin typeface="Calibri"/>
              </a:rPr>
              <a:t>The server then averages the three nudged copies back into one, weighting each hospital by how many patients it contributed — a bigger hospital's nudge counts for more.</a:t>
            </a:r>
          </a:p>
          <a:p>
            <a:pPr>
              <a:spcAft>
                <a:spcPts val="1200"/>
              </a:spcAft>
            </a:pPr>
            <a:r>
              <a:rPr sz="1650" b="1" i="0">
                <a:solidFill>
                  <a:srgbClr val="2A78D6"/>
                </a:solidFill>
                <a:latin typeface="Calibri"/>
              </a:rPr>
              <a:t>▪  </a:t>
            </a:r>
            <a:r>
              <a:rPr sz="1650" b="0" i="0">
                <a:solidFill>
                  <a:srgbClr val="1A1A1A"/>
                </a:solidFill>
                <a:latin typeface="Calibri"/>
              </a:rPr>
              <a:t>That whole cycle repeats 200 times. Switzerland is deliberately left out of training entirely, so it can later serve as a genuinely unseen hospital.</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Training</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TRAINING</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Confirming the training actually finished learning</a:t>
            </a:r>
          </a:p>
        </p:txBody>
      </p:sp>
      <p:pic>
        <p:nvPicPr>
          <p:cNvPr id="5" name="Picture 4" descr="06_fed_curves.png"/>
          <p:cNvPicPr>
            <a:picLocks noChangeAspect="1"/>
          </p:cNvPicPr>
          <p:nvPr/>
        </p:nvPicPr>
        <p:blipFill>
          <a:blip r:embed="rId2"/>
          <a:stretch>
            <a:fillRect/>
          </a:stretch>
        </p:blipFill>
        <p:spPr>
          <a:xfrm>
            <a:off x="2386812" y="1508760"/>
            <a:ext cx="7418070"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Each line is one hospital's error rate as training progresses. All three are still dropping visibly early on and go essentially flat by round ~150 — a sign that training ran long enough to settle, rather than being cut off partway through.</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Training</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TRAINING</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Same check, a completely different prediction target</a:t>
            </a:r>
          </a:p>
        </p:txBody>
      </p:sp>
      <p:pic>
        <p:nvPicPr>
          <p:cNvPr id="5" name="Picture 4" descr="c02_fed_curves.png"/>
          <p:cNvPicPr>
            <a:picLocks noChangeAspect="1"/>
          </p:cNvPicPr>
          <p:nvPr/>
        </p:nvPicPr>
        <p:blipFill>
          <a:blip r:embed="rId2"/>
          <a:stretch>
            <a:fillRect/>
          </a:stretch>
        </p:blipFill>
        <p:spPr>
          <a:xfrm>
            <a:off x="2386812" y="1508760"/>
            <a:ext cx="7418070"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The identical training setup, now predicting chest-pain type instead of disease severity. Same settling-down pattern — a sign this behavior is a property of the method, not a coincidence specific to one target.</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Training</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TRAINING</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Does sharing models beat pooling all the data?</a:t>
            </a:r>
          </a:p>
        </p:txBody>
      </p:sp>
      <p:graphicFrame>
        <p:nvGraphicFramePr>
          <p:cNvPr id="5" name="Table 4"/>
          <p:cNvGraphicFramePr>
            <a:graphicFrameLocks noGrp="1"/>
          </p:cNvGraphicFramePr>
          <p:nvPr/>
        </p:nvGraphicFramePr>
        <p:xfrm>
          <a:off x="640080" y="1508760"/>
          <a:ext cx="10911533" cy="4416552"/>
        </p:xfrm>
        <a:graphic>
          <a:graphicData uri="http://schemas.openxmlformats.org/drawingml/2006/table">
            <a:tbl>
              <a:tblPr firstRow="1" bandRow="1">
                <a:tableStyleId>{5C22544A-7EE6-4342-B048-85BDC9FD1C3A}</a:tableStyleId>
              </a:tblPr>
              <a:tblGrid>
                <a:gridCol w="3567232"/>
                <a:gridCol w="3567232"/>
                <a:gridCol w="3777069"/>
              </a:tblGrid>
              <a:tr h="883310">
                <a:tc>
                  <a:txBody>
                    <a:bodyPr wrap="square"/>
                    <a:lstStyle/>
                    <a:p>
                      <a:r>
                        <a:rPr sz="1500" b="1" i="0">
                          <a:solidFill>
                            <a:srgbClr val="FFFFFF"/>
                          </a:solidFill>
                          <a:latin typeface="Calibri"/>
                        </a:rPr>
                        <a:t>Hospital</a:t>
                      </a:r>
                    </a:p>
                  </a:txBody>
                  <a:tcPr anchor="ctr">
                    <a:solidFill>
                      <a:srgbClr val="2A78D6"/>
                    </a:solidFill>
                  </a:tcPr>
                </a:tc>
                <a:tc>
                  <a:txBody>
                    <a:bodyPr wrap="square"/>
                    <a:lstStyle/>
                    <a:p>
                      <a:r>
                        <a:rPr sz="1500" b="1" i="0">
                          <a:solidFill>
                            <a:srgbClr val="FFFFFF"/>
                          </a:solidFill>
                          <a:latin typeface="Calibri"/>
                        </a:rPr>
                        <a:t>Shared-model accuracy</a:t>
                      </a:r>
                    </a:p>
                  </a:txBody>
                  <a:tcPr anchor="ctr">
                    <a:solidFill>
                      <a:srgbClr val="2A78D6"/>
                    </a:solidFill>
                  </a:tcPr>
                </a:tc>
                <a:tc>
                  <a:txBody>
                    <a:bodyPr wrap="square"/>
                    <a:lstStyle/>
                    <a:p>
                      <a:r>
                        <a:rPr sz="1500" b="1" i="0">
                          <a:solidFill>
                            <a:srgbClr val="FFFFFF"/>
                          </a:solidFill>
                          <a:latin typeface="Calibri"/>
                        </a:rPr>
                        <a:t>Hypothetically-pooled accuracy</a:t>
                      </a:r>
                    </a:p>
                  </a:txBody>
                  <a:tcPr anchor="ctr">
                    <a:solidFill>
                      <a:srgbClr val="2A78D6"/>
                    </a:solidFill>
                  </a:tcPr>
                </a:tc>
              </a:tr>
              <a:tr h="883310">
                <a:tc>
                  <a:txBody>
                    <a:bodyPr wrap="square"/>
                    <a:lstStyle/>
                    <a:p>
                      <a:r>
                        <a:rPr sz="1500" b="0" i="0">
                          <a:solidFill>
                            <a:srgbClr val="1A1A1A"/>
                          </a:solidFill>
                          <a:latin typeface="Calibri"/>
                        </a:rPr>
                        <a:t>Cleveland</a:t>
                      </a:r>
                    </a:p>
                  </a:txBody>
                  <a:tcPr anchor="ctr">
                    <a:solidFill>
                      <a:srgbClr val="FFFFFF"/>
                    </a:solidFill>
                  </a:tcPr>
                </a:tc>
                <a:tc>
                  <a:txBody>
                    <a:bodyPr wrap="square"/>
                    <a:lstStyle/>
                    <a:p>
                      <a:r>
                        <a:rPr sz="1500" b="0" i="0">
                          <a:solidFill>
                            <a:srgbClr val="1A1A1A"/>
                          </a:solidFill>
                          <a:latin typeface="Calibri"/>
                        </a:rPr>
                        <a:t>60.7%</a:t>
                      </a:r>
                    </a:p>
                  </a:txBody>
                  <a:tcPr anchor="ctr">
                    <a:solidFill>
                      <a:srgbClr val="FFFFFF"/>
                    </a:solidFill>
                  </a:tcPr>
                </a:tc>
                <a:tc>
                  <a:txBody>
                    <a:bodyPr wrap="square"/>
                    <a:lstStyle/>
                    <a:p>
                      <a:r>
                        <a:rPr sz="1500" b="0" i="0">
                          <a:solidFill>
                            <a:srgbClr val="1A1A1A"/>
                          </a:solidFill>
                          <a:latin typeface="Calibri"/>
                        </a:rPr>
                        <a:t>61.1%</a:t>
                      </a:r>
                    </a:p>
                  </a:txBody>
                  <a:tcPr anchor="ctr">
                    <a:solidFill>
                      <a:srgbClr val="FFFFFF"/>
                    </a:solidFill>
                  </a:tcPr>
                </a:tc>
              </a:tr>
              <a:tr h="883310">
                <a:tc>
                  <a:txBody>
                    <a:bodyPr wrap="square"/>
                    <a:lstStyle/>
                    <a:p>
                      <a:r>
                        <a:rPr sz="1500" b="0" i="0">
                          <a:solidFill>
                            <a:srgbClr val="1A1A1A"/>
                          </a:solidFill>
                          <a:latin typeface="Calibri"/>
                        </a:rPr>
                        <a:t>Hungary</a:t>
                      </a:r>
                    </a:p>
                  </a:txBody>
                  <a:tcPr anchor="ctr">
                    <a:solidFill>
                      <a:srgbClr val="F0F4FA"/>
                    </a:solidFill>
                  </a:tcPr>
                </a:tc>
                <a:tc>
                  <a:txBody>
                    <a:bodyPr wrap="square"/>
                    <a:lstStyle/>
                    <a:p>
                      <a:r>
                        <a:rPr sz="1500" b="0" i="0">
                          <a:solidFill>
                            <a:srgbClr val="1A1A1A"/>
                          </a:solidFill>
                          <a:latin typeface="Calibri"/>
                        </a:rPr>
                        <a:t>71.1%</a:t>
                      </a:r>
                    </a:p>
                  </a:txBody>
                  <a:tcPr anchor="ctr">
                    <a:solidFill>
                      <a:srgbClr val="F0F4FA"/>
                    </a:solidFill>
                  </a:tcPr>
                </a:tc>
                <a:tc>
                  <a:txBody>
                    <a:bodyPr wrap="square"/>
                    <a:lstStyle/>
                    <a:p>
                      <a:r>
                        <a:rPr sz="1500" b="0" i="0">
                          <a:solidFill>
                            <a:srgbClr val="1A1A1A"/>
                          </a:solidFill>
                          <a:latin typeface="Calibri"/>
                        </a:rPr>
                        <a:t>70.7%</a:t>
                      </a:r>
                    </a:p>
                  </a:txBody>
                  <a:tcPr anchor="ctr">
                    <a:solidFill>
                      <a:srgbClr val="F0F4FA"/>
                    </a:solidFill>
                  </a:tcPr>
                </a:tc>
              </a:tr>
              <a:tr h="883310">
                <a:tc>
                  <a:txBody>
                    <a:bodyPr wrap="square"/>
                    <a:lstStyle/>
                    <a:p>
                      <a:r>
                        <a:rPr sz="1500" b="0" i="0">
                          <a:solidFill>
                            <a:srgbClr val="1A1A1A"/>
                          </a:solidFill>
                          <a:latin typeface="Calibri"/>
                        </a:rPr>
                        <a:t>Switzerland (never trained on)</a:t>
                      </a:r>
                    </a:p>
                  </a:txBody>
                  <a:tcPr anchor="ctr">
                    <a:solidFill>
                      <a:srgbClr val="FFFFFF"/>
                    </a:solidFill>
                  </a:tcPr>
                </a:tc>
                <a:tc>
                  <a:txBody>
                    <a:bodyPr wrap="square"/>
                    <a:lstStyle/>
                    <a:p>
                      <a:r>
                        <a:rPr sz="1500" b="0" i="0">
                          <a:solidFill>
                            <a:srgbClr val="1A1A1A"/>
                          </a:solidFill>
                          <a:latin typeface="Calibri"/>
                        </a:rPr>
                        <a:t>21.1%</a:t>
                      </a:r>
                    </a:p>
                  </a:txBody>
                  <a:tcPr anchor="ctr">
                    <a:solidFill>
                      <a:srgbClr val="FFFFFF"/>
                    </a:solidFill>
                  </a:tcPr>
                </a:tc>
                <a:tc>
                  <a:txBody>
                    <a:bodyPr wrap="square"/>
                    <a:lstStyle/>
                    <a:p>
                      <a:r>
                        <a:rPr sz="1500" b="0" i="0">
                          <a:solidFill>
                            <a:srgbClr val="1A1A1A"/>
                          </a:solidFill>
                          <a:latin typeface="Calibri"/>
                        </a:rPr>
                        <a:t>20.3%</a:t>
                      </a:r>
                    </a:p>
                  </a:txBody>
                  <a:tcPr anchor="ctr">
                    <a:solidFill>
                      <a:srgbClr val="FFFFFF"/>
                    </a:solidFill>
                  </a:tcPr>
                </a:tc>
              </a:tr>
              <a:tr h="883312">
                <a:tc>
                  <a:txBody>
                    <a:bodyPr wrap="square"/>
                    <a:lstStyle/>
                    <a:p>
                      <a:r>
                        <a:rPr sz="1500" b="0" i="0">
                          <a:solidFill>
                            <a:srgbClr val="1A1A1A"/>
                          </a:solidFill>
                          <a:latin typeface="Calibri"/>
                        </a:rPr>
                        <a:t>V.A. Long Beach</a:t>
                      </a:r>
                    </a:p>
                  </a:txBody>
                  <a:tcPr anchor="ctr">
                    <a:solidFill>
                      <a:srgbClr val="F0F4FA"/>
                    </a:solidFill>
                  </a:tcPr>
                </a:tc>
                <a:tc>
                  <a:txBody>
                    <a:bodyPr wrap="square"/>
                    <a:lstStyle/>
                    <a:p>
                      <a:r>
                        <a:rPr sz="1500" b="0" i="0">
                          <a:solidFill>
                            <a:srgbClr val="1A1A1A"/>
                          </a:solidFill>
                          <a:latin typeface="Calibri"/>
                        </a:rPr>
                        <a:t>44.0%</a:t>
                      </a:r>
                    </a:p>
                  </a:txBody>
                  <a:tcPr anchor="ctr">
                    <a:solidFill>
                      <a:srgbClr val="F0F4FA"/>
                    </a:solidFill>
                  </a:tcPr>
                </a:tc>
                <a:tc>
                  <a:txBody>
                    <a:bodyPr wrap="square"/>
                    <a:lstStyle/>
                    <a:p>
                      <a:r>
                        <a:rPr sz="1500" b="0" i="0">
                          <a:solidFill>
                            <a:srgbClr val="1A1A1A"/>
                          </a:solidFill>
                          <a:latin typeface="Calibri"/>
                        </a:rPr>
                        <a:t>44.0%</a:t>
                      </a:r>
                    </a:p>
                  </a:txBody>
                  <a:tcPr anchor="ctr">
                    <a:solidFill>
                      <a:srgbClr val="F0F4FA"/>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“Pooled” means a hypothetical model trained as if every patient record could sit in one place — the comparison this project is not allowed to run in a real hospital setting, only here as a reference point. The shared model trained without ever pooling data lands within a point of it everywhere — the privacy-preserving approach costs almost nothing in accuracy.</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Training</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TRAINING</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Under the hood: how each hospital's nudge is computed</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550" b="1" i="0">
                <a:solidFill>
                  <a:srgbClr val="2A78D6"/>
                </a:solidFill>
                <a:latin typeface="Calibri"/>
              </a:rPr>
              <a:t>▪  </a:t>
            </a:r>
            <a:r>
              <a:rPr sz="1550" b="0" i="0">
                <a:solidFill>
                  <a:srgbClr val="1A1A1A"/>
                </a:solidFill>
                <a:latin typeface="Calibri"/>
              </a:rPr>
              <a:t>In plain terms: after each hospital scores its own patients, it looks at how far off those scores were and adjusts its copy of the model a small step in the direction that would have made them less wrong. Repeated a few times, that's "training."</a:t>
            </a:r>
          </a:p>
          <a:p>
            <a:pPr>
              <a:spcAft>
                <a:spcPts val="1200"/>
              </a:spcAft>
            </a:pPr>
            <a:r>
              <a:rPr sz="1550" b="1" i="0">
                <a:solidFill>
                  <a:srgbClr val="2A78D6"/>
                </a:solidFill>
                <a:latin typeface="Calibri"/>
              </a:rPr>
              <a:t>▪  </a:t>
            </a:r>
            <a:r>
              <a:rPr sz="1550" b="0" i="0">
                <a:solidFill>
                  <a:srgbClr val="1A1A1A"/>
                </a:solidFill>
                <a:latin typeface="Calibri"/>
              </a:rPr>
              <a:t>The formal version, for anyone who wants it: the loss is cross-entropy plus a small penalty that discourages overly large weights (L(θ) = −mean(log P[i, yᵢ]) + (λ/2)·‖W‖², λ = 1e-2, applied only to the weights, not the bias).</a:t>
            </a:r>
          </a:p>
          <a:p>
            <a:pPr>
              <a:spcAft>
                <a:spcPts val="1200"/>
              </a:spcAft>
            </a:pPr>
            <a:r>
              <a:rPr sz="1550" b="1" i="0">
                <a:solidFill>
                  <a:srgbClr val="2A78D6"/>
                </a:solidFill>
                <a:latin typeface="Calibri"/>
              </a:rPr>
              <a:t>▪  </a:t>
            </a:r>
            <a:r>
              <a:rPr sz="1550" b="0" i="0">
                <a:solidFill>
                  <a:srgbClr val="1A1A1A"/>
                </a:solidFill>
                <a:latin typeface="Calibri"/>
              </a:rPr>
              <a:t>Weight gradient:  ∇W = Xᵀ(P − Y) / n + λW  — “P minus Y” is just “what the model guessed minus what actually happened,” averaged over patients.</a:t>
            </a:r>
          </a:p>
          <a:p>
            <a:pPr>
              <a:spcAft>
                <a:spcPts val="1200"/>
              </a:spcAft>
            </a:pPr>
            <a:r>
              <a:rPr sz="1550" b="1" i="0">
                <a:solidFill>
                  <a:srgbClr val="2A78D6"/>
                </a:solidFill>
                <a:latin typeface="Calibri"/>
              </a:rPr>
              <a:t>▪  </a:t>
            </a:r>
            <a:r>
              <a:rPr sz="1550" b="0" i="0">
                <a:solidFill>
                  <a:srgbClr val="1A1A1A"/>
                </a:solidFill>
                <a:latin typeface="Calibri"/>
              </a:rPr>
              <a:t>Bias gradient:  ∇b = mean(P − Y, axis=0)  — the same idea, just for the model's baseline offset.</a:t>
            </a:r>
          </a:p>
          <a:p>
            <a:pPr>
              <a:spcAft>
                <a:spcPts val="1200"/>
              </a:spcAft>
            </a:pPr>
            <a:r>
              <a:rPr sz="1550" b="1" i="0">
                <a:solidFill>
                  <a:srgbClr val="2A78D6"/>
                </a:solidFill>
                <a:latin typeface="Calibri"/>
              </a:rPr>
              <a:t>▪  </a:t>
            </a:r>
            <a:r>
              <a:rPr sz="1550" b="0" i="0">
                <a:solidFill>
                  <a:srgbClr val="1A1A1A"/>
                </a:solidFill>
                <a:latin typeface="Calibri"/>
              </a:rPr>
              <a:t>Update rule — the plainest possible version, no shortcuts or acceleration tricks:  θ ← θ − lr·∇L(θ), a fixed step size applied a few times per round at every hospital, so every line of it can be read and hand-verified rather than trusted as a black box.</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Training</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CALIBRATION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Setting the threshold that makes the promise exact</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600" b="1" i="0">
                <a:solidFill>
                  <a:srgbClr val="2A78D6"/>
                </a:solidFill>
                <a:latin typeface="Calibri"/>
              </a:rPr>
              <a:t>▪  </a:t>
            </a:r>
            <a:r>
              <a:rPr sz="1600" b="0" i="0">
                <a:solidFill>
                  <a:srgbClr val="1A1A1A"/>
                </a:solidFill>
                <a:latin typeface="Calibri"/>
              </a:rPr>
              <a:t>Once the shared training rounds finish, the model's numbers are frozen — nothing about the model itself changes again from this point on.</a:t>
            </a:r>
          </a:p>
          <a:p>
            <a:pPr>
              <a:spcAft>
                <a:spcPts val="1200"/>
              </a:spcAft>
            </a:pPr>
            <a:r>
              <a:rPr sz="1600" b="1" i="0">
                <a:solidFill>
                  <a:srgbClr val="2A78D6"/>
                </a:solidFill>
                <a:latin typeface="Calibri"/>
              </a:rPr>
              <a:t>▪  </a:t>
            </a:r>
            <a:r>
              <a:rPr sz="1600" b="0" i="0">
                <a:solidFill>
                  <a:srgbClr val="1A1A1A"/>
                </a:solidFill>
                <a:latin typeface="Calibri"/>
              </a:rPr>
              <a:t>Each training hospital's patients are then split in half: one half sets the threshold (calibration), the other half is kept aside purely to double-check it later — neither half was used to train the model in the first place.</a:t>
            </a:r>
          </a:p>
          <a:p>
            <a:pPr>
              <a:spcAft>
                <a:spcPts val="1200"/>
              </a:spcAft>
            </a:pPr>
            <a:r>
              <a:rPr sz="1600" b="1" i="0">
                <a:solidFill>
                  <a:srgbClr val="2A78D6"/>
                </a:solidFill>
                <a:latin typeface="Calibri"/>
              </a:rPr>
              <a:t>▪  </a:t>
            </a:r>
            <a:r>
              <a:rPr sz="1600" b="0" i="0">
                <a:solidFill>
                  <a:srgbClr val="1A1A1A"/>
                </a:solidFill>
                <a:latin typeface="Calibri"/>
              </a:rPr>
              <a:t>The frozen model scores the calibration half only; those scores are what Section 8's “how surprising was this” recipe runs on.</a:t>
            </a:r>
          </a:p>
          <a:p>
            <a:pPr>
              <a:spcAft>
                <a:spcPts val="1200"/>
              </a:spcAft>
            </a:pPr>
            <a:r>
              <a:rPr sz="1600" b="1" i="0">
                <a:solidFill>
                  <a:srgbClr val="2A78D6"/>
                </a:solidFill>
                <a:latin typeface="Calibri"/>
              </a:rPr>
              <a:t>▪  </a:t>
            </a:r>
            <a:r>
              <a:rPr sz="1600" b="0" i="0">
                <a:solidFill>
                  <a:srgbClr val="1A1A1A"/>
                </a:solidFill>
                <a:latin typeface="Calibri"/>
              </a:rPr>
              <a:t>The cutoff picked from those scores becomes q̂ — the one and only number this whole process still has to “fit” once the model itself is done training.</a:t>
            </a:r>
          </a:p>
          <a:p>
            <a:pPr>
              <a:spcAft>
                <a:spcPts val="1200"/>
              </a:spcAft>
            </a:pPr>
            <a:r>
              <a:rPr sz="1600" b="1" i="0">
                <a:solidFill>
                  <a:srgbClr val="2A78D6"/>
                </a:solidFill>
                <a:latin typeface="Calibri"/>
              </a:rPr>
              <a:t>▪  </a:t>
            </a:r>
            <a:r>
              <a:rPr sz="1600" b="0" i="0">
                <a:solidFill>
                  <a:srgbClr val="1A1A1A"/>
                </a:solidFill>
                <a:latin typeface="Calibri"/>
              </a:rPr>
              <a:t>That cutoff is only trustworthy for patients who look statistically like the ones it was set on — which is exactly the assumption the next slide puts to the test.</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Calibration</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DEPLOYMENT</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The real test: an entirely unfamiliar hospital</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650" b="1" i="0">
                <a:solidFill>
                  <a:srgbClr val="2A78D6"/>
                </a:solidFill>
                <a:latin typeface="Calibri"/>
              </a:rPr>
              <a:t>▪  </a:t>
            </a:r>
            <a:r>
              <a:rPr sz="1650" b="0" i="0">
                <a:solidFill>
                  <a:srgbClr val="1A1A1A"/>
                </a:solidFill>
                <a:latin typeface="Calibri"/>
              </a:rPr>
              <a:t>The toughest version of the test: set the threshold using only Cleveland's patients (303 of them) — nothing from any other hospital.</a:t>
            </a:r>
          </a:p>
          <a:p>
            <a:pPr>
              <a:spcAft>
                <a:spcPts val="1200"/>
              </a:spcAft>
            </a:pPr>
            <a:r>
              <a:rPr sz="1650" b="1" i="0">
                <a:solidFill>
                  <a:srgbClr val="2A78D6"/>
                </a:solidFill>
                <a:latin typeface="Calibri"/>
              </a:rPr>
              <a:t>▪  </a:t>
            </a:r>
            <a:r>
              <a:rPr sz="1650" b="0" i="0">
                <a:solidFill>
                  <a:srgbClr val="1A1A1A"/>
                </a:solidFill>
                <a:latin typeface="Calibri"/>
              </a:rPr>
              <a:t>Then deploy that frozen model and fixed threshold at every hospital, including Switzerland — a hospital the model never trained on and the threshold never saw.</a:t>
            </a:r>
          </a:p>
          <a:p>
            <a:pPr>
              <a:spcAft>
                <a:spcPts val="1200"/>
              </a:spcAft>
            </a:pPr>
            <a:r>
              <a:rPr sz="1650" b="1" i="0">
                <a:solidFill>
                  <a:srgbClr val="2A78D6"/>
                </a:solidFill>
                <a:latin typeface="Calibri"/>
              </a:rPr>
              <a:t>▪  </a:t>
            </a:r>
            <a:r>
              <a:rPr sz="1650" b="0" i="0">
                <a:solidFill>
                  <a:srgbClr val="1A1A1A"/>
                </a:solidFill>
                <a:latin typeface="Calibri"/>
              </a:rPr>
              <a:t>No retraining, no adjusting, no sneaking a look at Switzerland's answers first — just running the frozen model forward and applying the same fixed threshold everywhere.</a:t>
            </a:r>
          </a:p>
          <a:p>
            <a:pPr>
              <a:spcAft>
                <a:spcPts val="1200"/>
              </a:spcAft>
            </a:pPr>
            <a:r>
              <a:rPr sz="1650" b="1" i="0">
                <a:solidFill>
                  <a:srgbClr val="2A78D6"/>
                </a:solidFill>
                <a:latin typeface="Calibri"/>
              </a:rPr>
              <a:t>▪  </a:t>
            </a:r>
            <a:r>
              <a:rPr sz="1650" b="0" i="0">
                <a:solidFill>
                  <a:srgbClr val="1A1A1A"/>
                </a:solidFill>
                <a:latin typeface="Calibri"/>
              </a:rPr>
              <a:t>The result: the 90% promise holds at Cleveland, Hungary and the V.A. — and quietly slips to 70.7% at Switzerland (see the table earlier in this section). The promise breaks exactly where Switzerland's patients stop looking statistically like Cleveland's.</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Deployment</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ROBUSTNESS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Is this specific to one clinical question?</a:t>
            </a:r>
          </a:p>
        </p:txBody>
      </p:sp>
      <p:graphicFrame>
        <p:nvGraphicFramePr>
          <p:cNvPr id="5" name="Table 4"/>
          <p:cNvGraphicFramePr>
            <a:graphicFrameLocks noGrp="1"/>
          </p:cNvGraphicFramePr>
          <p:nvPr/>
        </p:nvGraphicFramePr>
        <p:xfrm>
          <a:off x="640080" y="1508760"/>
          <a:ext cx="10911534" cy="4416552"/>
        </p:xfrm>
        <a:graphic>
          <a:graphicData uri="http://schemas.openxmlformats.org/drawingml/2006/table">
            <a:tbl>
              <a:tblPr firstRow="1" bandRow="1">
                <a:tableStyleId>{5C22544A-7EE6-4342-B048-85BDC9FD1C3A}</a:tableStyleId>
              </a:tblPr>
              <a:tblGrid>
                <a:gridCol w="5146950"/>
                <a:gridCol w="2882292"/>
                <a:gridCol w="2882292"/>
              </a:tblGrid>
              <a:tr h="736092">
                <a:tc>
                  <a:txBody>
                    <a:bodyPr wrap="square"/>
                    <a:lstStyle/>
                    <a:p>
                      <a:r>
                        <a:rPr sz="1350" b="1" i="0">
                          <a:solidFill>
                            <a:srgbClr val="FFFFFF"/>
                          </a:solidFill>
                          <a:latin typeface="Calibri"/>
                        </a:rPr>
                        <a:t>What we're measuring</a:t>
                      </a:r>
                    </a:p>
                  </a:txBody>
                  <a:tcPr anchor="ctr">
                    <a:solidFill>
                      <a:srgbClr val="2A78D6"/>
                    </a:solidFill>
                  </a:tcPr>
                </a:tc>
                <a:tc>
                  <a:txBody>
                    <a:bodyPr wrap="square"/>
                    <a:lstStyle/>
                    <a:p>
                      <a:r>
                        <a:rPr sz="1350" b="1" i="0">
                          <a:solidFill>
                            <a:srgbClr val="FFFFFF"/>
                          </a:solidFill>
                          <a:latin typeface="Calibri"/>
                        </a:rPr>
                        <a:t>Disease severity (5 possible answers)</a:t>
                      </a:r>
                    </a:p>
                  </a:txBody>
                  <a:tcPr anchor="ctr">
                    <a:solidFill>
                      <a:srgbClr val="2A78D6"/>
                    </a:solidFill>
                  </a:tcPr>
                </a:tc>
                <a:tc>
                  <a:txBody>
                    <a:bodyPr wrap="square"/>
                    <a:lstStyle/>
                    <a:p>
                      <a:r>
                        <a:rPr sz="1350" b="1" i="0">
                          <a:solidFill>
                            <a:srgbClr val="FFFFFF"/>
                          </a:solidFill>
                          <a:latin typeface="Calibri"/>
                        </a:rPr>
                        <a:t>Chest-pain type (4 possible answers)</a:t>
                      </a:r>
                    </a:p>
                  </a:txBody>
                  <a:tcPr anchor="ctr">
                    <a:solidFill>
                      <a:srgbClr val="2A78D6"/>
                    </a:solidFill>
                  </a:tcPr>
                </a:tc>
              </a:tr>
              <a:tr h="736092">
                <a:tc>
                  <a:txBody>
                    <a:bodyPr wrap="square"/>
                    <a:lstStyle/>
                    <a:p>
                      <a:r>
                        <a:rPr sz="1350" b="0" i="0">
                          <a:solidFill>
                            <a:srgbClr val="1A1A1A"/>
                          </a:solidFill>
                          <a:latin typeface="Calibri"/>
                        </a:rPr>
                        <a:t>How differently the answer is distributed across hospitals</a:t>
                      </a:r>
                    </a:p>
                  </a:txBody>
                  <a:tcPr anchor="ctr">
                    <a:solidFill>
                      <a:srgbClr val="FFFFFF"/>
                    </a:solidFill>
                  </a:tcPr>
                </a:tc>
                <a:tc>
                  <a:txBody>
                    <a:bodyPr wrap="square"/>
                    <a:lstStyle/>
                    <a:p>
                      <a:r>
                        <a:rPr sz="1350" b="0" i="0">
                          <a:solidFill>
                            <a:srgbClr val="1A1A1A"/>
                          </a:solidFill>
                          <a:latin typeface="Calibri"/>
                        </a:rPr>
                        <a:t>0.128 (bigger gap)</a:t>
                      </a:r>
                    </a:p>
                  </a:txBody>
                  <a:tcPr anchor="ctr">
                    <a:solidFill>
                      <a:srgbClr val="FFFFFF"/>
                    </a:solidFill>
                  </a:tcPr>
                </a:tc>
                <a:tc>
                  <a:txBody>
                    <a:bodyPr wrap="square"/>
                    <a:lstStyle/>
                    <a:p>
                      <a:r>
                        <a:rPr sz="1350" b="0" i="0">
                          <a:solidFill>
                            <a:srgbClr val="1A1A1A"/>
                          </a:solidFill>
                          <a:latin typeface="Calibri"/>
                        </a:rPr>
                        <a:t>0.073</a:t>
                      </a:r>
                    </a:p>
                  </a:txBody>
                  <a:tcPr anchor="ctr">
                    <a:solidFill>
                      <a:srgbClr val="FFFFFF"/>
                    </a:solidFill>
                  </a:tcPr>
                </a:tc>
              </a:tr>
              <a:tr h="736092">
                <a:tc>
                  <a:txBody>
                    <a:bodyPr wrap="square"/>
                    <a:lstStyle/>
                    <a:p>
                      <a:r>
                        <a:rPr sz="1350" b="0" i="0">
                          <a:solidFill>
                            <a:srgbClr val="1A1A1A"/>
                          </a:solidFill>
                          <a:latin typeface="Calibri"/>
                        </a:rPr>
                        <a:t>How easily a hospital can be told apart from its patients alone</a:t>
                      </a:r>
                    </a:p>
                  </a:txBody>
                  <a:tcPr anchor="ctr">
                    <a:solidFill>
                      <a:srgbClr val="F0F4FA"/>
                    </a:solidFill>
                  </a:tcPr>
                </a:tc>
                <a:tc>
                  <a:txBody>
                    <a:bodyPr wrap="square"/>
                    <a:lstStyle/>
                    <a:p>
                      <a:r>
                        <a:rPr sz="1350" b="0" i="0">
                          <a:solidFill>
                            <a:srgbClr val="1A1A1A"/>
                          </a:solidFill>
                          <a:latin typeface="Calibri"/>
                        </a:rPr>
                        <a:t>0.930</a:t>
                      </a:r>
                    </a:p>
                  </a:txBody>
                  <a:tcPr anchor="ctr">
                    <a:solidFill>
                      <a:srgbClr val="F0F4FA"/>
                    </a:solidFill>
                  </a:tcPr>
                </a:tc>
                <a:tc>
                  <a:txBody>
                    <a:bodyPr wrap="square"/>
                    <a:lstStyle/>
                    <a:p>
                      <a:r>
                        <a:rPr sz="1350" b="0" i="0">
                          <a:solidFill>
                            <a:srgbClr val="1A1A1A"/>
                          </a:solidFill>
                          <a:latin typeface="Calibri"/>
                        </a:rPr>
                        <a:t>0.929 (essentially the same)</a:t>
                      </a:r>
                    </a:p>
                  </a:txBody>
                  <a:tcPr anchor="ctr">
                    <a:solidFill>
                      <a:srgbClr val="F0F4FA"/>
                    </a:solidFill>
                  </a:tcPr>
                </a:tc>
              </a:tr>
              <a:tr h="736092">
                <a:tc>
                  <a:txBody>
                    <a:bodyPr wrap="square"/>
                    <a:lstStyle/>
                    <a:p>
                      <a:r>
                        <a:rPr sz="1350" b="0" i="0">
                          <a:solidFill>
                            <a:srgbClr val="1A1A1A"/>
                          </a:solidFill>
                          <a:latin typeface="Calibri"/>
                        </a:rPr>
                        <a:t>Average promise kept across all four hospitals (target 90%)</a:t>
                      </a:r>
                    </a:p>
                  </a:txBody>
                  <a:tcPr anchor="ctr">
                    <a:solidFill>
                      <a:srgbClr val="FFFFFF"/>
                    </a:solidFill>
                  </a:tcPr>
                </a:tc>
                <a:tc>
                  <a:txBody>
                    <a:bodyPr wrap="square"/>
                    <a:lstStyle/>
                    <a:p>
                      <a:r>
                        <a:rPr sz="1350" b="0" i="0">
                          <a:solidFill>
                            <a:srgbClr val="1A1A1A"/>
                          </a:solidFill>
                          <a:latin typeface="Calibri"/>
                        </a:rPr>
                        <a:t>90.9%</a:t>
                      </a:r>
                    </a:p>
                  </a:txBody>
                  <a:tcPr anchor="ctr">
                    <a:solidFill>
                      <a:srgbClr val="FFFFFF"/>
                    </a:solidFill>
                  </a:tcPr>
                </a:tc>
                <a:tc>
                  <a:txBody>
                    <a:bodyPr wrap="square"/>
                    <a:lstStyle/>
                    <a:p>
                      <a:r>
                        <a:rPr sz="1350" b="0" i="0">
                          <a:solidFill>
                            <a:srgbClr val="1A1A1A"/>
                          </a:solidFill>
                          <a:latin typeface="Calibri"/>
                        </a:rPr>
                        <a:t>91.0%</a:t>
                      </a:r>
                    </a:p>
                  </a:txBody>
                  <a:tcPr anchor="ctr">
                    <a:solidFill>
                      <a:srgbClr val="FFFFFF"/>
                    </a:solidFill>
                  </a:tcPr>
                </a:tc>
              </a:tr>
              <a:tr h="736092">
                <a:tc>
                  <a:txBody>
                    <a:bodyPr wrap="square"/>
                    <a:lstStyle/>
                    <a:p>
                      <a:r>
                        <a:rPr sz="1350" b="0" i="0">
                          <a:solidFill>
                            <a:srgbClr val="1A1A1A"/>
                          </a:solidFill>
                          <a:latin typeface="Calibri"/>
                        </a:rPr>
                        <a:t>Worst single hospital's promise kept</a:t>
                      </a:r>
                    </a:p>
                  </a:txBody>
                  <a:tcPr anchor="ctr">
                    <a:solidFill>
                      <a:srgbClr val="F0F4FA"/>
                    </a:solidFill>
                  </a:tcPr>
                </a:tc>
                <a:tc>
                  <a:txBody>
                    <a:bodyPr wrap="square"/>
                    <a:lstStyle/>
                    <a:p>
                      <a:r>
                        <a:rPr sz="1350" b="0" i="0">
                          <a:solidFill>
                            <a:srgbClr val="1A1A1A"/>
                          </a:solidFill>
                          <a:latin typeface="Calibri"/>
                        </a:rPr>
                        <a:t>87%</a:t>
                      </a:r>
                    </a:p>
                  </a:txBody>
                  <a:tcPr anchor="ctr">
                    <a:solidFill>
                      <a:srgbClr val="F0F4FA"/>
                    </a:solidFill>
                  </a:tcPr>
                </a:tc>
                <a:tc>
                  <a:txBody>
                    <a:bodyPr wrap="square"/>
                    <a:lstStyle/>
                    <a:p>
                      <a:r>
                        <a:rPr sz="1350" b="0" i="0">
                          <a:solidFill>
                            <a:srgbClr val="1A1A1A"/>
                          </a:solidFill>
                          <a:latin typeface="Calibri"/>
                        </a:rPr>
                        <a:t>88%</a:t>
                      </a:r>
                    </a:p>
                  </a:txBody>
                  <a:tcPr anchor="ctr">
                    <a:solidFill>
                      <a:srgbClr val="F0F4FA"/>
                    </a:solidFill>
                  </a:tcPr>
                </a:tc>
              </a:tr>
              <a:tr h="736092">
                <a:tc>
                  <a:txBody>
                    <a:bodyPr wrap="square"/>
                    <a:lstStyle/>
                    <a:p>
                      <a:r>
                        <a:rPr sz="1350" b="0" i="0">
                          <a:solidFill>
                            <a:srgbClr val="1A1A1A"/>
                          </a:solidFill>
                          <a:latin typeface="Calibri"/>
                        </a:rPr>
                        <a:t>Average list length returned</a:t>
                      </a:r>
                    </a:p>
                  </a:txBody>
                  <a:tcPr anchor="ctr">
                    <a:solidFill>
                      <a:srgbClr val="FFFFFF"/>
                    </a:solidFill>
                  </a:tcPr>
                </a:tc>
                <a:tc>
                  <a:txBody>
                    <a:bodyPr wrap="square"/>
                    <a:lstStyle/>
                    <a:p>
                      <a:r>
                        <a:rPr sz="1350" b="0" i="0">
                          <a:solidFill>
                            <a:srgbClr val="1A1A1A"/>
                          </a:solidFill>
                          <a:latin typeface="Calibri"/>
                        </a:rPr>
                        <a:t>2.68 out of 5</a:t>
                      </a:r>
                    </a:p>
                  </a:txBody>
                  <a:tcPr anchor="ctr">
                    <a:solidFill>
                      <a:srgbClr val="FFFFFF"/>
                    </a:solidFill>
                  </a:tcPr>
                </a:tc>
                <a:tc>
                  <a:txBody>
                    <a:bodyPr wrap="square"/>
                    <a:lstStyle/>
                    <a:p>
                      <a:r>
                        <a:rPr sz="1350" b="0" i="0">
                          <a:solidFill>
                            <a:srgbClr val="1A1A1A"/>
                          </a:solidFill>
                          <a:latin typeface="Calibri"/>
                        </a:rPr>
                        <a:t>2.25 out of 4</a:t>
                      </a:r>
                    </a:p>
                  </a:txBody>
                  <a:tcPr anchor="ctr">
                    <a:solidFill>
                      <a:srgbClr val="FFFFFF"/>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Same full pipeline, run start to finish a second time on a completely different clinical question. Disease severity shows a bigger gap across hospitals — no surprise, since its prevalence swings further (36%–94%) than chest-pain type's does — but both questions keep every hospital close to the 90% promise.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Robustness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ROBUSTNESS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same comparison, as a picture</a:t>
            </a:r>
          </a:p>
        </p:txBody>
      </p:sp>
      <p:pic>
        <p:nvPicPr>
          <p:cNvPr id="5" name="Picture 4" descr="task_comparison.png"/>
          <p:cNvPicPr>
            <a:picLocks noChangeAspect="1"/>
          </p:cNvPicPr>
          <p:nvPr/>
        </p:nvPicPr>
        <p:blipFill>
          <a:blip r:embed="rId2"/>
          <a:stretch>
            <a:fillRect/>
          </a:stretch>
        </p:blipFill>
        <p:spPr>
          <a:xfrm>
            <a:off x="1706727" y="1508760"/>
            <a:ext cx="8778240" cy="2994671"/>
          </a:xfrm>
          <a:prstGeom prst="rect">
            <a:avLst/>
          </a:prstGeom>
        </p:spPr>
      </p:pic>
      <p:sp>
        <p:nvSpPr>
          <p:cNvPr id="6" name="TextBox 5"/>
          <p:cNvSpPr txBox="1"/>
          <p:nvPr/>
        </p:nvSpPr>
        <p:spPr>
          <a:xfrm>
            <a:off x="731520" y="4613159"/>
            <a:ext cx="10728655" cy="777240"/>
          </a:xfrm>
          <a:prstGeom prst="rect">
            <a:avLst/>
          </a:prstGeom>
          <a:noFill/>
        </p:spPr>
        <p:txBody>
          <a:bodyPr wrap="square">
            <a:spAutoFit/>
          </a:bodyPr>
          <a:lstStyle/>
          <a:p>
            <a:r>
              <a:rPr sz="1250" b="0" i="1">
                <a:solidFill>
                  <a:srgbClr val="606060"/>
                </a:solidFill>
                <a:latin typeface="Calibri"/>
              </a:rPr>
              <a:t>The five numbers from the previous table, side by side, disease-severity vs. chest-pain-type. The same story shows up in both: real cross-hospital differences, but the 90% promise holds close to target everywhere.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Robustness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CHEST-PAIN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Running the full headline test a second time</a:t>
            </a:r>
          </a:p>
        </p:txBody>
      </p:sp>
      <p:pic>
        <p:nvPicPr>
          <p:cNvPr id="5" name="Picture 4" descr="c05_transfer_matrix.png"/>
          <p:cNvPicPr>
            <a:picLocks noChangeAspect="1"/>
          </p:cNvPicPr>
          <p:nvPr/>
        </p:nvPicPr>
        <p:blipFill>
          <a:blip r:embed="rId2"/>
          <a:stretch>
            <a:fillRect/>
          </a:stretch>
        </p:blipFill>
        <p:spPr>
          <a:xfrm>
            <a:off x="706506" y="1508760"/>
            <a:ext cx="5048595" cy="4206240"/>
          </a:xfrm>
          <a:prstGeom prst="rect">
            <a:avLst/>
          </a:prstGeom>
        </p:spPr>
      </p:pic>
      <p:pic>
        <p:nvPicPr>
          <p:cNvPr id="6" name="Picture 5" descr="c06_coverage_by_site.png"/>
          <p:cNvPicPr>
            <a:picLocks noChangeAspect="1"/>
          </p:cNvPicPr>
          <p:nvPr/>
        </p:nvPicPr>
        <p:blipFill>
          <a:blip r:embed="rId3"/>
          <a:stretch>
            <a:fillRect/>
          </a:stretch>
        </p:blipFill>
        <p:spPr>
          <a:xfrm>
            <a:off x="6370167" y="1508760"/>
            <a:ext cx="5181447" cy="2799653"/>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every hospital-pair combination for the chest-pain question — the same all-pairs test as Section 7's disease-severity version, just applied to a different diagnosis. Right: a Cleveland-only threshold, tested at all four hospitals.</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Chest-Pain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CHEST-PAIN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Calibration scores and per-diagnosis coverage</a:t>
            </a:r>
          </a:p>
        </p:txBody>
      </p:sp>
      <p:pic>
        <p:nvPicPr>
          <p:cNvPr id="5" name="Picture 4" descr="c03_calibration_scores.png"/>
          <p:cNvPicPr>
            <a:picLocks noChangeAspect="1"/>
          </p:cNvPicPr>
          <p:nvPr/>
        </p:nvPicPr>
        <p:blipFill>
          <a:blip r:embed="rId2"/>
          <a:stretch>
            <a:fillRect/>
          </a:stretch>
        </p:blipFill>
        <p:spPr>
          <a:xfrm>
            <a:off x="640080" y="1508760"/>
            <a:ext cx="5181447" cy="2678545"/>
          </a:xfrm>
          <a:prstGeom prst="rect">
            <a:avLst/>
          </a:prstGeom>
        </p:spPr>
      </p:pic>
      <p:pic>
        <p:nvPicPr>
          <p:cNvPr id="6" name="Picture 5" descr="c04_class_conditional.png"/>
          <p:cNvPicPr>
            <a:picLocks noChangeAspect="1"/>
          </p:cNvPicPr>
          <p:nvPr/>
        </p:nvPicPr>
        <p:blipFill>
          <a:blip r:embed="rId3"/>
          <a:stretch>
            <a:fillRect/>
          </a:stretch>
        </p:blipFill>
        <p:spPr>
          <a:xfrm>
            <a:off x="6370167" y="1508760"/>
            <a:ext cx="5181447" cy="2610203"/>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the chest-pain question's own calibration-score histogram — the same kind of chart shown earlier for disease severity. Right: coverage broken out by true chest-pain diagnosis — the rarest one (typical angina) is covered just 26% of the time.</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Chest-Pain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CHEST-PAIN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How long are the returned lists, by hospital?</a:t>
            </a:r>
          </a:p>
        </p:txBody>
      </p:sp>
      <p:pic>
        <p:nvPicPr>
          <p:cNvPr id="5" name="Picture 4" descr="c07_set_sizes.png"/>
          <p:cNvPicPr>
            <a:picLocks noChangeAspect="1"/>
          </p:cNvPicPr>
          <p:nvPr/>
        </p:nvPicPr>
        <p:blipFill>
          <a:blip r:embed="rId2"/>
          <a:stretch>
            <a:fillRect/>
          </a:stretch>
        </p:blipFill>
        <p:spPr>
          <a:xfrm>
            <a:off x="2438247" y="1508760"/>
            <a:ext cx="7315200" cy="3525596"/>
          </a:xfrm>
          <a:prstGeom prst="rect">
            <a:avLst/>
          </a:prstGeom>
        </p:spPr>
      </p:pic>
      <p:sp>
        <p:nvSpPr>
          <p:cNvPr id="6" name="TextBox 5"/>
          <p:cNvSpPr txBox="1"/>
          <p:nvPr/>
        </p:nvSpPr>
        <p:spPr>
          <a:xfrm>
            <a:off x="731520" y="5144084"/>
            <a:ext cx="10728655" cy="777240"/>
          </a:xfrm>
          <a:prstGeom prst="rect">
            <a:avLst/>
          </a:prstGeom>
          <a:noFill/>
        </p:spPr>
        <p:txBody>
          <a:bodyPr wrap="square">
            <a:spAutoFit/>
          </a:bodyPr>
          <a:lstStyle/>
          <a:p>
            <a:r>
              <a:rPr sz="1250" b="0" i="1">
                <a:solidFill>
                  <a:srgbClr val="606060"/>
                </a:solidFill>
                <a:latin typeface="Calibri"/>
              </a:rPr>
              <a:t>The chest-pain question's version of the list-length-by-hospital chart shown earlier for disease severity.</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Chest-Pain Task</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FURTHER TARGETS</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Pushing further: two more clinical questions</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650" b="1" i="0">
                <a:solidFill>
                  <a:srgbClr val="2A78D6"/>
                </a:solidFill>
                <a:latin typeface="Calibri"/>
              </a:rPr>
              <a:t>▪  </a:t>
            </a:r>
            <a:r>
              <a:rPr sz="1650" b="0" i="0">
                <a:solidFill>
                  <a:srgbClr val="1A1A1A"/>
                </a:solidFill>
                <a:latin typeface="Calibri"/>
              </a:rPr>
              <a:t>Two questions (disease severity, chest-pain type) already show this isn't a fluke of one particular label — but could it still be a fluke of those two specific labels?</a:t>
            </a:r>
          </a:p>
          <a:p>
            <a:pPr>
              <a:spcAft>
                <a:spcPts val="1200"/>
              </a:spcAft>
            </a:pPr>
            <a:r>
              <a:rPr sz="1650" b="1" i="0">
                <a:solidFill>
                  <a:srgbClr val="2A78D6"/>
                </a:solidFill>
                <a:latin typeface="Calibri"/>
              </a:rPr>
              <a:t>▪  </a:t>
            </a:r>
            <a:r>
              <a:rPr sz="1650" b="0" i="0">
                <a:solidFill>
                  <a:srgbClr val="1A1A1A"/>
                </a:solidFill>
                <a:latin typeface="Calibri"/>
              </a:rPr>
              <a:t>A companion script reruns the exact same federated-plus-conformal pipeline on two more columns from the same four hospitals: the resting-ECG result (three possible readings) and whether the patient has exercise-induced chest pain (yes/no).</a:t>
            </a:r>
          </a:p>
          <a:p>
            <a:pPr>
              <a:spcAft>
                <a:spcPts val="1200"/>
              </a:spcAft>
            </a:pPr>
            <a:r>
              <a:rPr sz="1650" b="1" i="0">
                <a:solidFill>
                  <a:srgbClr val="2A78D6"/>
                </a:solidFill>
                <a:latin typeface="Calibri"/>
              </a:rPr>
              <a:t>▪  </a:t>
            </a:r>
            <a:r>
              <a:rPr sz="1650" b="0" i="0">
                <a:solidFill>
                  <a:srgbClr val="1A1A1A"/>
                </a:solidFill>
                <a:latin typeface="Calibri"/>
              </a:rPr>
              <a:t>Both were picked because they're almost fully filled in across every hospital (missing for only 2 patients and 55 patients respectively out of 920) — unlike a few other columns that are missing for the large majority of patients at some hospitals and would leave a question barely answerable there.</a:t>
            </a:r>
          </a:p>
          <a:p>
            <a:pPr>
              <a:spcAft>
                <a:spcPts val="1200"/>
              </a:spcAft>
            </a:pPr>
            <a:r>
              <a:rPr sz="1650" b="1" i="0">
                <a:solidFill>
                  <a:srgbClr val="2A78D6"/>
                </a:solidFill>
                <a:latin typeface="Calibri"/>
              </a:rPr>
              <a:t>▪  </a:t>
            </a:r>
            <a:r>
              <a:rPr sz="1650" b="0" i="0">
                <a:solidFill>
                  <a:srgbClr val="1A1A1A"/>
                </a:solidFill>
                <a:latin typeface="Calibri"/>
              </a:rPr>
              <a:t>The yes/no question runs through a simpler two-outcome version of the model automatically — but every downstream check (scoring rule, coverage, list length) works exactly the same way regardless.</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Further Targets</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FURTHER TARGETS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worst-hospital promise, across four independent questions</a:t>
            </a:r>
          </a:p>
        </p:txBody>
      </p:sp>
      <p:graphicFrame>
        <p:nvGraphicFramePr>
          <p:cNvPr id="5" name="Table 4"/>
          <p:cNvGraphicFramePr>
            <a:graphicFrameLocks noGrp="1"/>
          </p:cNvGraphicFramePr>
          <p:nvPr/>
        </p:nvGraphicFramePr>
        <p:xfrm>
          <a:off x="640080" y="1508760"/>
          <a:ext cx="10911533" cy="4416552"/>
        </p:xfrm>
        <a:graphic>
          <a:graphicData uri="http://schemas.openxmlformats.org/drawingml/2006/table">
            <a:tbl>
              <a:tblPr firstRow="1" bandRow="1">
                <a:tableStyleId>{5C22544A-7EE6-4342-B048-85BDC9FD1C3A}</a:tableStyleId>
              </a:tblPr>
              <a:tblGrid>
                <a:gridCol w="3567232"/>
                <a:gridCol w="2098372"/>
                <a:gridCol w="2727883"/>
                <a:gridCol w="2518046"/>
              </a:tblGrid>
              <a:tr h="883310">
                <a:tc>
                  <a:txBody>
                    <a:bodyPr wrap="square"/>
                    <a:lstStyle/>
                    <a:p>
                      <a:r>
                        <a:rPr sz="1500" b="1" i="0">
                          <a:solidFill>
                            <a:srgbClr val="FFFFFF"/>
                          </a:solidFill>
                          <a:latin typeface="Calibri"/>
                        </a:rPr>
                        <a:t>Clinical question</a:t>
                      </a:r>
                    </a:p>
                  </a:txBody>
                  <a:tcPr anchor="ctr">
                    <a:solidFill>
                      <a:srgbClr val="2A78D6"/>
                    </a:solidFill>
                  </a:tcPr>
                </a:tc>
                <a:tc>
                  <a:txBody>
                    <a:bodyPr wrap="square"/>
                    <a:lstStyle/>
                    <a:p>
                      <a:r>
                        <a:rPr sz="1500" b="1" i="0">
                          <a:solidFill>
                            <a:srgbClr val="FFFFFF"/>
                          </a:solidFill>
                          <a:latin typeface="Calibri"/>
                        </a:rPr>
                        <a:t>Possible answers</a:t>
                      </a:r>
                    </a:p>
                  </a:txBody>
                  <a:tcPr anchor="ctr">
                    <a:solidFill>
                      <a:srgbClr val="2A78D6"/>
                    </a:solidFill>
                  </a:tcPr>
                </a:tc>
                <a:tc>
                  <a:txBody>
                    <a:bodyPr wrap="square"/>
                    <a:lstStyle/>
                    <a:p>
                      <a:r>
                        <a:rPr sz="1500" b="1" i="0">
                          <a:solidFill>
                            <a:srgbClr val="FFFFFF"/>
                          </a:solidFill>
                          <a:latin typeface="Calibri"/>
                        </a:rPr>
                        <a:t>Worst single hospital</a:t>
                      </a:r>
                    </a:p>
                  </a:txBody>
                  <a:tcPr anchor="ctr">
                    <a:solidFill>
                      <a:srgbClr val="2A78D6"/>
                    </a:solidFill>
                  </a:tcPr>
                </a:tc>
                <a:tc>
                  <a:txBody>
                    <a:bodyPr wrap="square"/>
                    <a:lstStyle/>
                    <a:p>
                      <a:r>
                        <a:rPr sz="1500" b="1" i="0">
                          <a:solidFill>
                            <a:srgbClr val="FFFFFF"/>
                          </a:solidFill>
                          <a:latin typeface="Calibri"/>
                        </a:rPr>
                        <a:t>Gap vs. 90% promise</a:t>
                      </a:r>
                    </a:p>
                  </a:txBody>
                  <a:tcPr anchor="ctr">
                    <a:solidFill>
                      <a:srgbClr val="2A78D6"/>
                    </a:solidFill>
                  </a:tcPr>
                </a:tc>
              </a:tr>
              <a:tr h="883310">
                <a:tc>
                  <a:txBody>
                    <a:bodyPr wrap="square"/>
                    <a:lstStyle/>
                    <a:p>
                      <a:r>
                        <a:rPr sz="1500" b="0" i="0">
                          <a:solidFill>
                            <a:srgbClr val="1A1A1A"/>
                          </a:solidFill>
                          <a:latin typeface="Calibri"/>
                        </a:rPr>
                        <a:t>Disease severity</a:t>
                      </a:r>
                    </a:p>
                  </a:txBody>
                  <a:tcPr anchor="ctr">
                    <a:solidFill>
                      <a:srgbClr val="FFFFFF"/>
                    </a:solidFill>
                  </a:tcPr>
                </a:tc>
                <a:tc>
                  <a:txBody>
                    <a:bodyPr wrap="square"/>
                    <a:lstStyle/>
                    <a:p>
                      <a:r>
                        <a:rPr sz="1500" b="0" i="0">
                          <a:solidFill>
                            <a:srgbClr val="1A1A1A"/>
                          </a:solidFill>
                          <a:latin typeface="Calibri"/>
                        </a:rPr>
                        <a:t>5</a:t>
                      </a:r>
                    </a:p>
                  </a:txBody>
                  <a:tcPr anchor="ctr">
                    <a:solidFill>
                      <a:srgbClr val="FFFFFF"/>
                    </a:solidFill>
                  </a:tcPr>
                </a:tc>
                <a:tc>
                  <a:txBody>
                    <a:bodyPr wrap="square"/>
                    <a:lstStyle/>
                    <a:p>
                      <a:r>
                        <a:rPr sz="1500" b="0" i="0">
                          <a:solidFill>
                            <a:srgbClr val="1A1A1A"/>
                          </a:solidFill>
                          <a:latin typeface="Calibri"/>
                        </a:rPr>
                        <a:t>70.7%</a:t>
                      </a:r>
                    </a:p>
                  </a:txBody>
                  <a:tcPr anchor="ctr">
                    <a:solidFill>
                      <a:srgbClr val="FFFFFF"/>
                    </a:solidFill>
                  </a:tcPr>
                </a:tc>
                <a:tc>
                  <a:txBody>
                    <a:bodyPr wrap="square"/>
                    <a:lstStyle/>
                    <a:p>
                      <a:r>
                        <a:rPr sz="1500" b="0" i="0">
                          <a:solidFill>
                            <a:srgbClr val="1A1A1A"/>
                          </a:solidFill>
                          <a:latin typeface="Calibri"/>
                        </a:rPr>
                        <a:t>−19.3 pp</a:t>
                      </a:r>
                    </a:p>
                  </a:txBody>
                  <a:tcPr anchor="ctr">
                    <a:solidFill>
                      <a:srgbClr val="FFFFFF"/>
                    </a:solidFill>
                  </a:tcPr>
                </a:tc>
              </a:tr>
              <a:tr h="883310">
                <a:tc>
                  <a:txBody>
                    <a:bodyPr wrap="square"/>
                    <a:lstStyle/>
                    <a:p>
                      <a:r>
                        <a:rPr sz="1500" b="0" i="0">
                          <a:solidFill>
                            <a:srgbClr val="1A1A1A"/>
                          </a:solidFill>
                          <a:latin typeface="Calibri"/>
                        </a:rPr>
                        <a:t>Resting-ECG result</a:t>
                      </a:r>
                    </a:p>
                  </a:txBody>
                  <a:tcPr anchor="ctr">
                    <a:solidFill>
                      <a:srgbClr val="F0F4FA"/>
                    </a:solidFill>
                  </a:tcPr>
                </a:tc>
                <a:tc>
                  <a:txBody>
                    <a:bodyPr wrap="square"/>
                    <a:lstStyle/>
                    <a:p>
                      <a:r>
                        <a:rPr sz="1500" b="0" i="0">
                          <a:solidFill>
                            <a:srgbClr val="1A1A1A"/>
                          </a:solidFill>
                          <a:latin typeface="Calibri"/>
                        </a:rPr>
                        <a:t>3</a:t>
                      </a:r>
                    </a:p>
                  </a:txBody>
                  <a:tcPr anchor="ctr">
                    <a:solidFill>
                      <a:srgbClr val="F0F4FA"/>
                    </a:solidFill>
                  </a:tcPr>
                </a:tc>
                <a:tc>
                  <a:txBody>
                    <a:bodyPr wrap="square"/>
                    <a:lstStyle/>
                    <a:p>
                      <a:r>
                        <a:rPr sz="1500" b="0" i="0">
                          <a:solidFill>
                            <a:srgbClr val="1A1A1A"/>
                          </a:solidFill>
                          <a:latin typeface="Calibri"/>
                        </a:rPr>
                        <a:t>74.5%</a:t>
                      </a:r>
                    </a:p>
                  </a:txBody>
                  <a:tcPr anchor="ctr">
                    <a:solidFill>
                      <a:srgbClr val="F0F4FA"/>
                    </a:solidFill>
                  </a:tcPr>
                </a:tc>
                <a:tc>
                  <a:txBody>
                    <a:bodyPr wrap="square"/>
                    <a:lstStyle/>
                    <a:p>
                      <a:r>
                        <a:rPr sz="1500" b="0" i="0">
                          <a:solidFill>
                            <a:srgbClr val="1A1A1A"/>
                          </a:solidFill>
                          <a:latin typeface="Calibri"/>
                        </a:rPr>
                        <a:t>−15.5 pp</a:t>
                      </a:r>
                    </a:p>
                  </a:txBody>
                  <a:tcPr anchor="ctr">
                    <a:solidFill>
                      <a:srgbClr val="F0F4FA"/>
                    </a:solidFill>
                  </a:tcPr>
                </a:tc>
              </a:tr>
              <a:tr h="883310">
                <a:tc>
                  <a:txBody>
                    <a:bodyPr wrap="square"/>
                    <a:lstStyle/>
                    <a:p>
                      <a:r>
                        <a:rPr sz="1500" b="0" i="0">
                          <a:solidFill>
                            <a:srgbClr val="1A1A1A"/>
                          </a:solidFill>
                          <a:latin typeface="Calibri"/>
                        </a:rPr>
                        <a:t>Exercise-induced chest pain</a:t>
                      </a:r>
                    </a:p>
                  </a:txBody>
                  <a:tcPr anchor="ctr">
                    <a:solidFill>
                      <a:srgbClr val="FFFFFF"/>
                    </a:solidFill>
                  </a:tcPr>
                </a:tc>
                <a:tc>
                  <a:txBody>
                    <a:bodyPr wrap="square"/>
                    <a:lstStyle/>
                    <a:p>
                      <a:r>
                        <a:rPr sz="1500" b="0" i="0">
                          <a:solidFill>
                            <a:srgbClr val="1A1A1A"/>
                          </a:solidFill>
                          <a:latin typeface="Calibri"/>
                        </a:rPr>
                        <a:t>2</a:t>
                      </a:r>
                    </a:p>
                  </a:txBody>
                  <a:tcPr anchor="ctr">
                    <a:solidFill>
                      <a:srgbClr val="FFFFFF"/>
                    </a:solidFill>
                  </a:tcPr>
                </a:tc>
                <a:tc>
                  <a:txBody>
                    <a:bodyPr wrap="square"/>
                    <a:lstStyle/>
                    <a:p>
                      <a:r>
                        <a:rPr sz="1500" b="0" i="0">
                          <a:solidFill>
                            <a:srgbClr val="1A1A1A"/>
                          </a:solidFill>
                          <a:latin typeface="Calibri"/>
                        </a:rPr>
                        <a:t>82.8%</a:t>
                      </a:r>
                    </a:p>
                  </a:txBody>
                  <a:tcPr anchor="ctr">
                    <a:solidFill>
                      <a:srgbClr val="FFFFFF"/>
                    </a:solidFill>
                  </a:tcPr>
                </a:tc>
                <a:tc>
                  <a:txBody>
                    <a:bodyPr wrap="square"/>
                    <a:lstStyle/>
                    <a:p>
                      <a:r>
                        <a:rPr sz="1500" b="0" i="0">
                          <a:solidFill>
                            <a:srgbClr val="1A1A1A"/>
                          </a:solidFill>
                          <a:latin typeface="Calibri"/>
                        </a:rPr>
                        <a:t>−7.2 pp</a:t>
                      </a:r>
                    </a:p>
                  </a:txBody>
                  <a:tcPr anchor="ctr">
                    <a:solidFill>
                      <a:srgbClr val="FFFFFF"/>
                    </a:solidFill>
                  </a:tcPr>
                </a:tc>
              </a:tr>
              <a:tr h="883312">
                <a:tc>
                  <a:txBody>
                    <a:bodyPr wrap="square"/>
                    <a:lstStyle/>
                    <a:p>
                      <a:r>
                        <a:rPr sz="1500" b="0" i="0">
                          <a:solidFill>
                            <a:srgbClr val="1A1A1A"/>
                          </a:solidFill>
                          <a:latin typeface="Calibri"/>
                        </a:rPr>
                        <a:t>Chest-pain type</a:t>
                      </a:r>
                    </a:p>
                  </a:txBody>
                  <a:tcPr anchor="ctr">
                    <a:solidFill>
                      <a:srgbClr val="F0F4FA"/>
                    </a:solidFill>
                  </a:tcPr>
                </a:tc>
                <a:tc>
                  <a:txBody>
                    <a:bodyPr wrap="square"/>
                    <a:lstStyle/>
                    <a:p>
                      <a:r>
                        <a:rPr sz="1500" b="0" i="0">
                          <a:solidFill>
                            <a:srgbClr val="1A1A1A"/>
                          </a:solidFill>
                          <a:latin typeface="Calibri"/>
                        </a:rPr>
                        <a:t>4</a:t>
                      </a:r>
                    </a:p>
                  </a:txBody>
                  <a:tcPr anchor="ctr">
                    <a:solidFill>
                      <a:srgbClr val="F0F4FA"/>
                    </a:solidFill>
                  </a:tcPr>
                </a:tc>
                <a:tc>
                  <a:txBody>
                    <a:bodyPr wrap="square"/>
                    <a:lstStyle/>
                    <a:p>
                      <a:r>
                        <a:rPr sz="1500" b="0" i="0">
                          <a:solidFill>
                            <a:srgbClr val="1A1A1A"/>
                          </a:solidFill>
                          <a:latin typeface="Calibri"/>
                        </a:rPr>
                        <a:t>89.0%</a:t>
                      </a:r>
                    </a:p>
                  </a:txBody>
                  <a:tcPr anchor="ctr">
                    <a:solidFill>
                      <a:srgbClr val="F0F4FA"/>
                    </a:solidFill>
                  </a:tcPr>
                </a:tc>
                <a:tc>
                  <a:txBody>
                    <a:bodyPr wrap="square"/>
                    <a:lstStyle/>
                    <a:p>
                      <a:r>
                        <a:rPr sz="1500" b="0" i="0">
                          <a:solidFill>
                            <a:srgbClr val="1A1A1A"/>
                          </a:solidFill>
                          <a:latin typeface="Calibri"/>
                        </a:rPr>
                        <a:t>−1.0 pp</a:t>
                      </a:r>
                    </a:p>
                  </a:txBody>
                  <a:tcPr anchor="ctr">
                    <a:solidFill>
                      <a:srgbClr val="F0F4FA"/>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Three of these four completely independent clinical questions show a real, double-digit-point promise failure at their hardest hospital. The size of each failure tracks how differently that specific measurement is distributed across hospitals — this isn't one generic side effect of combining these four hospitals, it's a real, question-by-question signal.</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Further Targets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RESTING-ECG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Third question: resting-ECG result</a:t>
            </a:r>
          </a:p>
        </p:txBody>
      </p:sp>
      <p:pic>
        <p:nvPicPr>
          <p:cNvPr id="5" name="Picture 4" descr="01_class_distribution.png"/>
          <p:cNvPicPr>
            <a:picLocks noChangeAspect="1"/>
          </p:cNvPicPr>
          <p:nvPr/>
        </p:nvPicPr>
        <p:blipFill>
          <a:blip r:embed="rId2"/>
          <a:stretch>
            <a:fillRect/>
          </a:stretch>
        </p:blipFill>
        <p:spPr>
          <a:xfrm>
            <a:off x="640080" y="1508760"/>
            <a:ext cx="5181447" cy="2598527"/>
          </a:xfrm>
          <a:prstGeom prst="rect">
            <a:avLst/>
          </a:prstGeom>
        </p:spPr>
      </p:pic>
      <p:pic>
        <p:nvPicPr>
          <p:cNvPr id="6" name="Picture 5" descr="02_fed_curves.png"/>
          <p:cNvPicPr>
            <a:picLocks noChangeAspect="1"/>
          </p:cNvPicPr>
          <p:nvPr/>
        </p:nvPicPr>
        <p:blipFill>
          <a:blip r:embed="rId3"/>
          <a:stretch>
            <a:fillRect/>
          </a:stretch>
        </p:blipFill>
        <p:spPr>
          <a:xfrm>
            <a:off x="6370167" y="1508760"/>
            <a:ext cx="5181447" cy="2810277"/>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how the resting-ECG reading is distributed by hospital — normal readings dominate at Hungary and Switzerland, while the V.A. leans toward one specific abnormality. Right: the training-settled-down check, same as before, for this question.</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Resting-ECG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RESTING-ECG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Resting-ECG: calibration scores and per-diagnosis coverage</a:t>
            </a:r>
          </a:p>
        </p:txBody>
      </p:sp>
      <p:pic>
        <p:nvPicPr>
          <p:cNvPr id="5" name="Picture 4" descr="03_calibration_scores.png"/>
          <p:cNvPicPr>
            <a:picLocks noChangeAspect="1"/>
          </p:cNvPicPr>
          <p:nvPr/>
        </p:nvPicPr>
        <p:blipFill>
          <a:blip r:embed="rId2"/>
          <a:stretch>
            <a:fillRect/>
          </a:stretch>
        </p:blipFill>
        <p:spPr>
          <a:xfrm>
            <a:off x="640080" y="1508760"/>
            <a:ext cx="5181447" cy="2678545"/>
          </a:xfrm>
          <a:prstGeom prst="rect">
            <a:avLst/>
          </a:prstGeom>
        </p:spPr>
      </p:pic>
      <p:pic>
        <p:nvPicPr>
          <p:cNvPr id="6" name="Picture 5" descr="04_class_conditional.png"/>
          <p:cNvPicPr>
            <a:picLocks noChangeAspect="1"/>
          </p:cNvPicPr>
          <p:nvPr/>
        </p:nvPicPr>
        <p:blipFill>
          <a:blip r:embed="rId3"/>
          <a:stretch>
            <a:fillRect/>
          </a:stretch>
        </p:blipFill>
        <p:spPr>
          <a:xfrm>
            <a:off x="6370167" y="1508760"/>
            <a:ext cx="5181447" cy="2610203"/>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the resting-ECG question's own calibration-score histogram. Right: coverage broken out by true resting-ECG reading.</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Resting-ECG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RESTING-ECG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Resting-ECG: every hospital pair, and the headline test</a:t>
            </a:r>
          </a:p>
        </p:txBody>
      </p:sp>
      <p:pic>
        <p:nvPicPr>
          <p:cNvPr id="5" name="Picture 4" descr="05_transfer_matrix.png"/>
          <p:cNvPicPr>
            <a:picLocks noChangeAspect="1"/>
          </p:cNvPicPr>
          <p:nvPr/>
        </p:nvPicPr>
        <p:blipFill>
          <a:blip r:embed="rId2"/>
          <a:stretch>
            <a:fillRect/>
          </a:stretch>
        </p:blipFill>
        <p:spPr>
          <a:xfrm>
            <a:off x="706506" y="1508760"/>
            <a:ext cx="5048595" cy="4206240"/>
          </a:xfrm>
          <a:prstGeom prst="rect">
            <a:avLst/>
          </a:prstGeom>
        </p:spPr>
      </p:pic>
      <p:pic>
        <p:nvPicPr>
          <p:cNvPr id="6" name="Picture 5" descr="06_coverage_by_site.png"/>
          <p:cNvPicPr>
            <a:picLocks noChangeAspect="1"/>
          </p:cNvPicPr>
          <p:nvPr/>
        </p:nvPicPr>
        <p:blipFill>
          <a:blip r:embed="rId3"/>
          <a:stretch>
            <a:fillRect/>
          </a:stretch>
        </p:blipFill>
        <p:spPr>
          <a:xfrm>
            <a:off x="6370167" y="1508760"/>
            <a:ext cx="5181447" cy="2799653"/>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every hospital-pair combination for resting ECG — the V.A. is the hardest hospital to deploy at no matter which hospital set the threshold, landing 74-88% against the 90% promise. Right: a Cleveland-only threshold, tested at all four hospitals.</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Resting-ECG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RESTING-ECG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How long are the returned lists, by hospital?</a:t>
            </a:r>
          </a:p>
        </p:txBody>
      </p:sp>
      <p:pic>
        <p:nvPicPr>
          <p:cNvPr id="5" name="Picture 4" descr="07_set_sizes.png"/>
          <p:cNvPicPr>
            <a:picLocks noChangeAspect="1"/>
          </p:cNvPicPr>
          <p:nvPr/>
        </p:nvPicPr>
        <p:blipFill>
          <a:blip r:embed="rId2"/>
          <a:stretch>
            <a:fillRect/>
          </a:stretch>
        </p:blipFill>
        <p:spPr>
          <a:xfrm>
            <a:off x="2438247" y="1508760"/>
            <a:ext cx="7315200" cy="3525596"/>
          </a:xfrm>
          <a:prstGeom prst="rect">
            <a:avLst/>
          </a:prstGeom>
        </p:spPr>
      </p:pic>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Resting-ECG Task</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EXERCISE-ANGINA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Fourth question: exercise-induced chest pain</a:t>
            </a:r>
          </a:p>
        </p:txBody>
      </p:sp>
      <p:pic>
        <p:nvPicPr>
          <p:cNvPr id="5" name="Picture 4" descr="01_class_distribution.png"/>
          <p:cNvPicPr>
            <a:picLocks noChangeAspect="1"/>
          </p:cNvPicPr>
          <p:nvPr/>
        </p:nvPicPr>
        <p:blipFill>
          <a:blip r:embed="rId2"/>
          <a:stretch>
            <a:fillRect/>
          </a:stretch>
        </p:blipFill>
        <p:spPr>
          <a:xfrm>
            <a:off x="640080" y="1508760"/>
            <a:ext cx="5181447" cy="2598527"/>
          </a:xfrm>
          <a:prstGeom prst="rect">
            <a:avLst/>
          </a:prstGeom>
        </p:spPr>
      </p:pic>
      <p:pic>
        <p:nvPicPr>
          <p:cNvPr id="6" name="Picture 5" descr="02_fed_curves.png"/>
          <p:cNvPicPr>
            <a:picLocks noChangeAspect="1"/>
          </p:cNvPicPr>
          <p:nvPr/>
        </p:nvPicPr>
        <p:blipFill>
          <a:blip r:embed="rId3"/>
          <a:stretch>
            <a:fillRect/>
          </a:stretch>
        </p:blipFill>
        <p:spPr>
          <a:xfrm>
            <a:off x="6370167" y="1508760"/>
            <a:ext cx="5181447" cy="2810277"/>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how common exercise-induced chest pain is by hospital — roughly doubling from Hungary (30%) to the V.A. (65%), a milder version of the same kind of hospital-to-hospital swing seen for disease severity. Right: the training-settled-down check for this question.</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Exercise-Angina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EXERCISE-ANGINA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Exercise angina: calibration scores and per-diagnosis coverage</a:t>
            </a:r>
          </a:p>
        </p:txBody>
      </p:sp>
      <p:pic>
        <p:nvPicPr>
          <p:cNvPr id="5" name="Picture 4" descr="03_calibration_scores.png"/>
          <p:cNvPicPr>
            <a:picLocks noChangeAspect="1"/>
          </p:cNvPicPr>
          <p:nvPr/>
        </p:nvPicPr>
        <p:blipFill>
          <a:blip r:embed="rId2"/>
          <a:stretch>
            <a:fillRect/>
          </a:stretch>
        </p:blipFill>
        <p:spPr>
          <a:xfrm>
            <a:off x="640080" y="1508760"/>
            <a:ext cx="5181447" cy="2683093"/>
          </a:xfrm>
          <a:prstGeom prst="rect">
            <a:avLst/>
          </a:prstGeom>
        </p:spPr>
      </p:pic>
      <p:pic>
        <p:nvPicPr>
          <p:cNvPr id="6" name="Picture 5" descr="04_class_conditional.png"/>
          <p:cNvPicPr>
            <a:picLocks noChangeAspect="1"/>
          </p:cNvPicPr>
          <p:nvPr/>
        </p:nvPicPr>
        <p:blipFill>
          <a:blip r:embed="rId3"/>
          <a:stretch>
            <a:fillRect/>
          </a:stretch>
        </p:blipFill>
        <p:spPr>
          <a:xfrm>
            <a:off x="6370167" y="1508760"/>
            <a:ext cx="5181447" cy="2610203"/>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the exercise-angina question's own calibration-score histogram. Right: coverage broken out by true yes/no answer.</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Exercise-Angina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EXERCISE-ANGINA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Exercise angina: every hospital pair, and the headline test</a:t>
            </a:r>
          </a:p>
        </p:txBody>
      </p:sp>
      <p:pic>
        <p:nvPicPr>
          <p:cNvPr id="5" name="Picture 4" descr="05_transfer_matrix.png"/>
          <p:cNvPicPr>
            <a:picLocks noChangeAspect="1"/>
          </p:cNvPicPr>
          <p:nvPr/>
        </p:nvPicPr>
        <p:blipFill>
          <a:blip r:embed="rId2"/>
          <a:stretch>
            <a:fillRect/>
          </a:stretch>
        </p:blipFill>
        <p:spPr>
          <a:xfrm>
            <a:off x="706506" y="1508760"/>
            <a:ext cx="5048595" cy="4206240"/>
          </a:xfrm>
          <a:prstGeom prst="rect">
            <a:avLst/>
          </a:prstGeom>
        </p:spPr>
      </p:pic>
      <p:pic>
        <p:nvPicPr>
          <p:cNvPr id="6" name="Picture 5" descr="06_coverage_by_site.png"/>
          <p:cNvPicPr>
            <a:picLocks noChangeAspect="1"/>
          </p:cNvPicPr>
          <p:nvPr/>
        </p:nvPicPr>
        <p:blipFill>
          <a:blip r:embed="rId3"/>
          <a:stretch>
            <a:fillRect/>
          </a:stretch>
        </p:blipFill>
        <p:spPr>
          <a:xfrm>
            <a:off x="6370167" y="1508760"/>
            <a:ext cx="5181447" cy="2799653"/>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every hospital-pair combination for exercise angina — the weakest single pairing (threshold set at Hungary, deployed at Switzerland) lands at 83%, a real gap but a smaller one than resting ECG or disease severity showed. Right: a Cleveland-only threshold, tested at all four hospitals.</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Exercise-Angina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EXERCISE-ANGINA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How long are the returned lists, by hospital?</a:t>
            </a:r>
          </a:p>
        </p:txBody>
      </p:sp>
      <p:pic>
        <p:nvPicPr>
          <p:cNvPr id="5" name="Picture 4" descr="07_set_sizes.png"/>
          <p:cNvPicPr>
            <a:picLocks noChangeAspect="1"/>
          </p:cNvPicPr>
          <p:nvPr/>
        </p:nvPicPr>
        <p:blipFill>
          <a:blip r:embed="rId2"/>
          <a:stretch>
            <a:fillRect/>
          </a:stretch>
        </p:blipFill>
        <p:spPr>
          <a:xfrm>
            <a:off x="2438247" y="1508760"/>
            <a:ext cx="7315200" cy="3520096"/>
          </a:xfrm>
          <a:prstGeom prst="rect">
            <a:avLst/>
          </a:prstGeom>
        </p:spPr>
      </p:pic>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Exercise-Angina Task</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Where this stands, and what's honestly still missing</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650" b="1" i="0">
                <a:solidFill>
                  <a:srgbClr val="2A78D6"/>
                </a:solidFill>
                <a:latin typeface="Calibri"/>
              </a:rPr>
              <a:t>▪  </a:t>
            </a:r>
            <a:r>
              <a:rPr sz="1650" b="0" i="0">
                <a:solidFill>
                  <a:srgbClr val="1A1A1A"/>
                </a:solidFill>
                <a:latin typeface="Calibri"/>
              </a:rPr>
              <a:t>For what it set out to do, yes — every claim on these slides is backed by a figure anyone can reproduce by running the notebooks, and ten automated tests confirm the underlying math is implemented correctly.</a:t>
            </a:r>
          </a:p>
          <a:p>
            <a:pPr>
              <a:spcAft>
                <a:spcPts val="1200"/>
              </a:spcAft>
            </a:pPr>
            <a:r>
              <a:rPr sz="1650" b="1" i="0">
                <a:solidFill>
                  <a:srgbClr val="2A78D6"/>
                </a:solidFill>
                <a:latin typeface="Calibri"/>
              </a:rPr>
              <a:t>▪  </a:t>
            </a:r>
            <a:r>
              <a:rPr sz="1650" b="0" i="0">
                <a:solidFill>
                  <a:srgbClr val="1A1A1A"/>
                </a:solidFill>
                <a:latin typeface="Calibri"/>
              </a:rPr>
              <a:t>It correctly tells apart real population differences from measurement gaps, and it shows the coverage promise breaking concretely, with real numbers, not just in theory.</a:t>
            </a:r>
          </a:p>
          <a:p>
            <a:pPr>
              <a:spcAft>
                <a:spcPts val="1200"/>
              </a:spcAft>
            </a:pPr>
            <a:r>
              <a:rPr sz="1650" b="1" i="0">
                <a:solidFill>
                  <a:srgbClr val="2A78D6"/>
                </a:solidFill>
                <a:latin typeface="Calibri"/>
              </a:rPr>
              <a:t>▪  </a:t>
            </a:r>
            <a:r>
              <a:rPr sz="1650" b="0" i="0">
                <a:solidFill>
                  <a:srgbClr val="1A1A1A"/>
                </a:solidFill>
                <a:latin typeface="Calibri"/>
              </a:rPr>
              <a:t>The finding holds up across two different clinical questions and two different scoring rules — it isn't a fluke of one particular choice.</a:t>
            </a:r>
          </a:p>
          <a:p>
            <a:pPr>
              <a:spcAft>
                <a:spcPts val="1200"/>
              </a:spcAft>
            </a:pPr>
            <a:r>
              <a:rPr sz="1650" b="1" i="0">
                <a:solidFill>
                  <a:srgbClr val="2A78D6"/>
                </a:solidFill>
                <a:latin typeface="Calibri"/>
              </a:rPr>
              <a:t>▪  </a:t>
            </a:r>
            <a:r>
              <a:rPr sz="1650" b="0" i="0">
                <a:solidFill>
                  <a:srgbClr val="1A1A1A"/>
                </a:solidFill>
                <a:latin typeface="Calibri"/>
              </a:rPr>
              <a:t>What's honestly still missing: reliability charts that go a layer deeper than coverage alone, coverage checks broken out by patient subgroup (not just by hospital), a flag for “was this value filled in or actually measured,” a first real attempt at fixing the problem rather than just detecting it, a genuinely new fifth hospital never touched during development, and mapping this dataset onto a real clinical data standard.</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REFERENCES</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450" b="1" i="0">
                <a:solidFill>
                  <a:srgbClr val="2A78D6"/>
                </a:solidFill>
                <a:latin typeface="Calibri"/>
              </a:rPr>
              <a:t>▪  </a:t>
            </a:r>
            <a:r>
              <a:rPr sz="1450" b="0" i="0">
                <a:solidFill>
                  <a:srgbClr val="1A1A1A"/>
                </a:solidFill>
                <a:latin typeface="Calibri"/>
              </a:rPr>
              <a:t>A. N. Angelopoulos &amp; S. Bates. “Conformal Prediction: A Gentle Introduction.” FTML 16(4), 2023. — the main source behind Section 8's math, in a genuinely readable form.</a:t>
            </a:r>
          </a:p>
          <a:p>
            <a:pPr>
              <a:spcAft>
                <a:spcPts val="1200"/>
              </a:spcAft>
            </a:pPr>
            <a:r>
              <a:rPr sz="1450" b="1" i="0">
                <a:solidFill>
                  <a:srgbClr val="2A78D6"/>
                </a:solidFill>
                <a:latin typeface="Calibri"/>
              </a:rPr>
              <a:t>▪  </a:t>
            </a:r>
            <a:r>
              <a:rPr sz="1450" b="0" i="0">
                <a:solidFill>
                  <a:srgbClr val="1A1A1A"/>
                </a:solidFill>
                <a:latin typeface="Calibri"/>
              </a:rPr>
              <a:t>Y. Romano, M. Sesia &amp; E. Candès. “Classification with Valid and Adaptive Coverage.” NeurIPS 2020. — introduces the APS scoring rule used throughout this project.</a:t>
            </a:r>
          </a:p>
          <a:p>
            <a:pPr>
              <a:spcAft>
                <a:spcPts val="1200"/>
              </a:spcAft>
            </a:pPr>
            <a:r>
              <a:rPr sz="1450" b="1" i="0">
                <a:solidFill>
                  <a:srgbClr val="2A78D6"/>
                </a:solidFill>
                <a:latin typeface="Calibri"/>
              </a:rPr>
              <a:t>▪  </a:t>
            </a:r>
            <a:r>
              <a:rPr sz="1450" b="0" i="0">
                <a:solidFill>
                  <a:srgbClr val="1A1A1A"/>
                </a:solidFill>
                <a:latin typeface="Calibri"/>
              </a:rPr>
              <a:t>H. B. McMahan et al. “Communication-Efficient Learning of Deep Networks from Decentralized Data.” AISTATS 2017. — introduces FedAvg, the training method built from scratch in notebook 03.</a:t>
            </a:r>
          </a:p>
          <a:p>
            <a:pPr>
              <a:spcAft>
                <a:spcPts val="1200"/>
              </a:spcAft>
            </a:pPr>
            <a:r>
              <a:rPr sz="1450" b="1" i="0">
                <a:solidFill>
                  <a:srgbClr val="2A78D6"/>
                </a:solidFill>
                <a:latin typeface="Calibri"/>
              </a:rPr>
              <a:t>▪  </a:t>
            </a:r>
            <a:r>
              <a:rPr sz="1450" b="0" i="0">
                <a:solidFill>
                  <a:srgbClr val="1A1A1A"/>
                </a:solidFill>
                <a:latin typeface="Calibri"/>
              </a:rPr>
              <a:t>J. O. du Terrail et al. “FLamby: Datasets and Benchmarks for Cross-Silo Federated Learning.” 2022. — uses this same four-hospital population as a recognized benchmark.</a:t>
            </a:r>
          </a:p>
          <a:p>
            <a:pPr>
              <a:spcAft>
                <a:spcPts val="1200"/>
              </a:spcAft>
            </a:pPr>
            <a:r>
              <a:rPr sz="1450" b="1" i="0">
                <a:solidFill>
                  <a:srgbClr val="2A78D6"/>
                </a:solidFill>
                <a:latin typeface="Calibri"/>
              </a:rPr>
              <a:t>▪  </a:t>
            </a:r>
            <a:r>
              <a:rPr sz="1450" b="0" i="0">
                <a:solidFill>
                  <a:srgbClr val="1A1A1A"/>
                </a:solidFill>
                <a:latin typeface="Calibri"/>
              </a:rPr>
              <a:t>R. Detrano et al. “International Application of a New Probability Algorithm for the Diagnosis of Coronary Artery Disease.” Am. J. Cardiology, 1989. — the original clinical study behind this dataset.</a:t>
            </a:r>
          </a:p>
          <a:p>
            <a:pPr>
              <a:spcAft>
                <a:spcPts val="1200"/>
              </a:spcAft>
            </a:pPr>
            <a:r>
              <a:rPr sz="1450" b="1" i="0">
                <a:solidFill>
                  <a:srgbClr val="2A78D6"/>
                </a:solidFill>
                <a:latin typeface="Calibri"/>
              </a:rPr>
              <a:t>▪  </a:t>
            </a:r>
            <a:r>
              <a:rPr sz="1450" b="0" i="0">
                <a:solidFill>
                  <a:srgbClr val="1A1A1A"/>
                </a:solidFill>
                <a:latin typeface="Calibri"/>
              </a:rPr>
              <a:t>UCI Machine Learning Repository. “Heart Disease” dataset (ID 45). archive.ics.uci.edu/dataset/45/heart+disease.</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References</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097280" y="2011680"/>
            <a:ext cx="9997135" cy="1097280"/>
          </a:xfrm>
          <a:prstGeom prst="rect">
            <a:avLst/>
          </a:prstGeom>
          <a:noFill/>
        </p:spPr>
        <p:txBody>
          <a:bodyPr wrap="square">
            <a:spAutoFit/>
          </a:bodyPr>
          <a:lstStyle/>
          <a:p>
            <a:pPr algn="ctr"/>
            <a:r>
              <a:rPr sz="4400" b="1" i="0">
                <a:solidFill>
                  <a:srgbClr val="FFFFFF"/>
                </a:solidFill>
                <a:latin typeface="Calibri"/>
              </a:rPr>
              <a:t>Thank you</a:t>
            </a:r>
          </a:p>
        </p:txBody>
      </p:sp>
      <p:sp>
        <p:nvSpPr>
          <p:cNvPr id="3" name="TextBox 2"/>
          <p:cNvSpPr txBox="1"/>
          <p:nvPr/>
        </p:nvSpPr>
        <p:spPr>
          <a:xfrm>
            <a:off x="1097280" y="3108960"/>
            <a:ext cx="9997135" cy="1463040"/>
          </a:xfrm>
          <a:prstGeom prst="rect">
            <a:avLst/>
          </a:prstGeom>
          <a:noFill/>
        </p:spPr>
        <p:txBody>
          <a:bodyPr wrap="square">
            <a:spAutoFit/>
          </a:bodyPr>
          <a:lstStyle/>
          <a:p>
            <a:pPr algn="ctr"/>
            <a:r>
              <a:rPr sz="1500" b="0" i="0">
                <a:solidFill>
                  <a:srgbClr val="D8E4F3"/>
                </a:solidFill>
                <a:latin typeface="Calibri"/>
              </a:rPr>
              <a:t>Questions &amp; discussion</a:t>
            </a:r>
          </a:p>
          <a:p>
            <a:pPr algn="ctr"/>
            <a:r>
              <a:rPr sz="1500" b="0" i="0">
                <a:solidFill>
                  <a:srgbClr val="D8E4F3"/>
                </a:solidFill>
                <a:latin typeface="Calibri"/>
              </a:rPr>
              <a:t>fedconformal-clinical toolkit — Arnab Mukherjee</a:t>
            </a:r>
          </a:p>
          <a:p>
            <a:pPr algn="ctr"/>
            <a:r>
              <a:rPr sz="1500" b="0" i="0">
                <a:solidFill>
                  <a:srgbClr val="D8E4F3"/>
                </a:solidFill>
                <a:latin typeface="Calibri"/>
              </a:rPr>
              <a:t>Oklahoma State University — Center for Health Science, Tulsa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